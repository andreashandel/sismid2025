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71"/>
  </p:notesMasterIdLst>
  <p:handoutMasterIdLst>
    <p:handoutMasterId r:id="rId72"/>
  </p:handoutMasterIdLst>
  <p:sldIdLst>
    <p:sldId id="256" r:id="rId2"/>
    <p:sldId id="453" r:id="rId3"/>
    <p:sldId id="461" r:id="rId4"/>
    <p:sldId id="428" r:id="rId5"/>
    <p:sldId id="435" r:id="rId6"/>
    <p:sldId id="441" r:id="rId7"/>
    <p:sldId id="442" r:id="rId8"/>
    <p:sldId id="413" r:id="rId9"/>
    <p:sldId id="405" r:id="rId10"/>
    <p:sldId id="432" r:id="rId11"/>
    <p:sldId id="440" r:id="rId12"/>
    <p:sldId id="470" r:id="rId13"/>
    <p:sldId id="352" r:id="rId14"/>
    <p:sldId id="454" r:id="rId15"/>
    <p:sldId id="285" r:id="rId16"/>
    <p:sldId id="257" r:id="rId17"/>
    <p:sldId id="286" r:id="rId18"/>
    <p:sldId id="324" r:id="rId19"/>
    <p:sldId id="291" r:id="rId20"/>
    <p:sldId id="325" r:id="rId21"/>
    <p:sldId id="320" r:id="rId22"/>
    <p:sldId id="260" r:id="rId23"/>
    <p:sldId id="279" r:id="rId24"/>
    <p:sldId id="264" r:id="rId25"/>
    <p:sldId id="258" r:id="rId26"/>
    <p:sldId id="259" r:id="rId27"/>
    <p:sldId id="261" r:id="rId28"/>
    <p:sldId id="278" r:id="rId29"/>
    <p:sldId id="277" r:id="rId30"/>
    <p:sldId id="282" r:id="rId31"/>
    <p:sldId id="289" r:id="rId32"/>
    <p:sldId id="280" r:id="rId33"/>
    <p:sldId id="283" r:id="rId34"/>
    <p:sldId id="268" r:id="rId35"/>
    <p:sldId id="290" r:id="rId36"/>
    <p:sldId id="321" r:id="rId37"/>
    <p:sldId id="329" r:id="rId38"/>
    <p:sldId id="328" r:id="rId39"/>
    <p:sldId id="293" r:id="rId40"/>
    <p:sldId id="294" r:id="rId41"/>
    <p:sldId id="295" r:id="rId42"/>
    <p:sldId id="296" r:id="rId43"/>
    <p:sldId id="297" r:id="rId44"/>
    <p:sldId id="322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23" r:id="rId64"/>
    <p:sldId id="316" r:id="rId65"/>
    <p:sldId id="317" r:id="rId66"/>
    <p:sldId id="318" r:id="rId67"/>
    <p:sldId id="327" r:id="rId68"/>
    <p:sldId id="326" r:id="rId69"/>
    <p:sldId id="319" r:id="rId7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2" autoAdjust="0"/>
    <p:restoredTop sz="94660"/>
  </p:normalViewPr>
  <p:slideViewPr>
    <p:cSldViewPr>
      <p:cViewPr varScale="1">
        <p:scale>
          <a:sx n="150" d="100"/>
          <a:sy n="150" d="100"/>
        </p:scale>
        <p:origin x="463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56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Paul" userId="19aa047e-baa3-4b10-95a7-cc6a4a1ac18f" providerId="ADAL" clId="{6468653A-2CD4-4702-AD7C-B8A5690E7D36}"/>
    <pc:docChg chg="undo custSel addSld delSld modSld">
      <pc:chgData name="Thomas, Paul" userId="19aa047e-baa3-4b10-95a7-cc6a4a1ac18f" providerId="ADAL" clId="{6468653A-2CD4-4702-AD7C-B8A5690E7D36}" dt="2023-07-10T15:41:39.365" v="52" actId="47"/>
      <pc:docMkLst>
        <pc:docMk/>
      </pc:docMkLst>
      <pc:sldChg chg="modSp mod">
        <pc:chgData name="Thomas, Paul" userId="19aa047e-baa3-4b10-95a7-cc6a4a1ac18f" providerId="ADAL" clId="{6468653A-2CD4-4702-AD7C-B8A5690E7D36}" dt="2023-07-10T15:32:53.513" v="29" actId="20577"/>
        <pc:sldMkLst>
          <pc:docMk/>
          <pc:sldMk cId="0" sldId="256"/>
        </pc:sldMkLst>
        <pc:spChg chg="mod">
          <ac:chgData name="Thomas, Paul" userId="19aa047e-baa3-4b10-95a7-cc6a4a1ac18f" providerId="ADAL" clId="{6468653A-2CD4-4702-AD7C-B8A5690E7D36}" dt="2023-07-10T15:32:44.874" v="27" actId="20577"/>
          <ac:spMkLst>
            <pc:docMk/>
            <pc:sldMk cId="0" sldId="256"/>
            <ac:spMk id="2050" creationId="{C4706ABD-69D4-481B-97E5-D295700A33C2}"/>
          </ac:spMkLst>
        </pc:spChg>
        <pc:spChg chg="mod">
          <ac:chgData name="Thomas, Paul" userId="19aa047e-baa3-4b10-95a7-cc6a4a1ac18f" providerId="ADAL" clId="{6468653A-2CD4-4702-AD7C-B8A5690E7D36}" dt="2023-07-10T15:32:53.513" v="29" actId="20577"/>
          <ac:spMkLst>
            <pc:docMk/>
            <pc:sldMk cId="0" sldId="256"/>
            <ac:spMk id="2051" creationId="{B8D7B6FB-4002-4A6B-B643-6C6DE0B32B9B}"/>
          </ac:spMkLst>
        </pc:spChg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4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6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7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8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39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40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4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42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4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44"/>
        </pc:sldMkLst>
      </pc:sldChg>
      <pc:sldChg chg="modSp add del mod">
        <pc:chgData name="Thomas, Paul" userId="19aa047e-baa3-4b10-95a7-cc6a4a1ac18f" providerId="ADAL" clId="{6468653A-2CD4-4702-AD7C-B8A5690E7D36}" dt="2023-07-10T15:41:31.005" v="50" actId="1076"/>
        <pc:sldMkLst>
          <pc:docMk/>
          <pc:sldMk cId="167690458" sldId="352"/>
        </pc:sldMkLst>
        <pc:spChg chg="mod">
          <ac:chgData name="Thomas, Paul" userId="19aa047e-baa3-4b10-95a7-cc6a4a1ac18f" providerId="ADAL" clId="{6468653A-2CD4-4702-AD7C-B8A5690E7D36}" dt="2023-07-10T15:41:27.295" v="49" actId="14100"/>
          <ac:spMkLst>
            <pc:docMk/>
            <pc:sldMk cId="167690458" sldId="352"/>
            <ac:spMk id="2" creationId="{00000000-0000-0000-0000-000000000000}"/>
          </ac:spMkLst>
        </pc:spChg>
        <pc:spChg chg="mod">
          <ac:chgData name="Thomas, Paul" userId="19aa047e-baa3-4b10-95a7-cc6a4a1ac18f" providerId="ADAL" clId="{6468653A-2CD4-4702-AD7C-B8A5690E7D36}" dt="2023-07-10T15:40:49.386" v="44" actId="27636"/>
          <ac:spMkLst>
            <pc:docMk/>
            <pc:sldMk cId="167690458" sldId="352"/>
            <ac:spMk id="3" creationId="{00000000-0000-0000-0000-000000000000}"/>
          </ac:spMkLst>
        </pc:spChg>
        <pc:spChg chg="mod">
          <ac:chgData name="Thomas, Paul" userId="19aa047e-baa3-4b10-95a7-cc6a4a1ac18f" providerId="ADAL" clId="{6468653A-2CD4-4702-AD7C-B8A5690E7D36}" dt="2023-07-10T15:41:31.005" v="50" actId="1076"/>
          <ac:spMkLst>
            <pc:docMk/>
            <pc:sldMk cId="167690458" sldId="352"/>
            <ac:spMk id="6" creationId="{090AE348-6405-42E9-A641-D9968D98A8FA}"/>
          </ac:spMkLst>
        </pc:spChg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167690458" sldId="352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5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54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5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57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6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7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69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0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2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4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7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8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79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0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2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4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6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7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8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89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90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0" sldId="391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3677758258" sldId="393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565933468" sldId="394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3763812650" sldId="395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1621010462" sldId="396"/>
        </pc:sldMkLst>
      </pc:sldChg>
      <pc:sldChg chg="del">
        <pc:chgData name="Thomas, Paul" userId="19aa047e-baa3-4b10-95a7-cc6a4a1ac18f" providerId="ADAL" clId="{6468653A-2CD4-4702-AD7C-B8A5690E7D36}" dt="2023-07-10T15:32:34.776" v="0" actId="47"/>
        <pc:sldMkLst>
          <pc:docMk/>
          <pc:sldMk cId="2789043783" sldId="397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2623263794" sldId="405"/>
        </pc:sldMkLst>
      </pc:sldChg>
      <pc:sldChg chg="modSp add del mod">
        <pc:chgData name="Thomas, Paul" userId="19aa047e-baa3-4b10-95a7-cc6a4a1ac18f" providerId="ADAL" clId="{6468653A-2CD4-4702-AD7C-B8A5690E7D36}" dt="2023-07-10T15:41:39.365" v="52" actId="47"/>
        <pc:sldMkLst>
          <pc:docMk/>
          <pc:sldMk cId="566123965" sldId="409"/>
        </pc:sldMkLst>
        <pc:spChg chg="mod">
          <ac:chgData name="Thomas, Paul" userId="19aa047e-baa3-4b10-95a7-cc6a4a1ac18f" providerId="ADAL" clId="{6468653A-2CD4-4702-AD7C-B8A5690E7D36}" dt="2023-07-10T15:40:49.414" v="45" actId="27636"/>
          <ac:spMkLst>
            <pc:docMk/>
            <pc:sldMk cId="566123965" sldId="409"/>
            <ac:spMk id="4" creationId="{00000000-0000-0000-0000-000000000000}"/>
          </ac:spMkLst>
        </pc:spChg>
      </pc:sldChg>
      <pc:sldChg chg="modSp add del mod">
        <pc:chgData name="Thomas, Paul" userId="19aa047e-baa3-4b10-95a7-cc6a4a1ac18f" providerId="ADAL" clId="{6468653A-2CD4-4702-AD7C-B8A5690E7D36}" dt="2023-07-10T15:40:49.312" v="42" actId="27636"/>
        <pc:sldMkLst>
          <pc:docMk/>
          <pc:sldMk cId="2835441825" sldId="413"/>
        </pc:sldMkLst>
        <pc:spChg chg="mod">
          <ac:chgData name="Thomas, Paul" userId="19aa047e-baa3-4b10-95a7-cc6a4a1ac18f" providerId="ADAL" clId="{6468653A-2CD4-4702-AD7C-B8A5690E7D36}" dt="2023-07-10T15:40:49.312" v="42" actId="27636"/>
          <ac:spMkLst>
            <pc:docMk/>
            <pc:sldMk cId="2835441825" sldId="413"/>
            <ac:spMk id="3" creationId="{00000000-0000-0000-0000-000000000000}"/>
          </ac:spMkLst>
        </pc:spChg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472792676" sldId="428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2408775140" sldId="432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1920641084" sldId="435"/>
        </pc:sldMkLst>
      </pc:sldChg>
      <pc:sldChg chg="modSp add del mod">
        <pc:chgData name="Thomas, Paul" userId="19aa047e-baa3-4b10-95a7-cc6a4a1ac18f" providerId="ADAL" clId="{6468653A-2CD4-4702-AD7C-B8A5690E7D36}" dt="2023-07-10T15:40:49.348" v="43" actId="27636"/>
        <pc:sldMkLst>
          <pc:docMk/>
          <pc:sldMk cId="1220076950" sldId="440"/>
        </pc:sldMkLst>
        <pc:spChg chg="mod">
          <ac:chgData name="Thomas, Paul" userId="19aa047e-baa3-4b10-95a7-cc6a4a1ac18f" providerId="ADAL" clId="{6468653A-2CD4-4702-AD7C-B8A5690E7D36}" dt="2023-07-10T15:40:49.348" v="43" actId="27636"/>
          <ac:spMkLst>
            <pc:docMk/>
            <pc:sldMk cId="1220076950" sldId="440"/>
            <ac:spMk id="3" creationId="{00000000-0000-0000-0000-000000000000}"/>
          </ac:spMkLst>
        </pc:spChg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632237803" sldId="441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648106168" sldId="442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1478719827" sldId="453"/>
        </pc:sldMkLst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3334698222" sldId="454"/>
        </pc:sldMkLst>
      </pc:sldChg>
      <pc:sldChg chg="add del">
        <pc:chgData name="Thomas, Paul" userId="19aa047e-baa3-4b10-95a7-cc6a4a1ac18f" providerId="ADAL" clId="{6468653A-2CD4-4702-AD7C-B8A5690E7D36}" dt="2023-07-10T15:40:55.551" v="46" actId="47"/>
        <pc:sldMkLst>
          <pc:docMk/>
          <pc:sldMk cId="1175528097" sldId="459"/>
        </pc:sldMkLst>
      </pc:sldChg>
      <pc:sldChg chg="modSp add del mod">
        <pc:chgData name="Thomas, Paul" userId="19aa047e-baa3-4b10-95a7-cc6a4a1ac18f" providerId="ADAL" clId="{6468653A-2CD4-4702-AD7C-B8A5690E7D36}" dt="2023-07-10T15:41:04.533" v="47" actId="1076"/>
        <pc:sldMkLst>
          <pc:docMk/>
          <pc:sldMk cId="284370442" sldId="461"/>
        </pc:sldMkLst>
        <pc:spChg chg="mod">
          <ac:chgData name="Thomas, Paul" userId="19aa047e-baa3-4b10-95a7-cc6a4a1ac18f" providerId="ADAL" clId="{6468653A-2CD4-4702-AD7C-B8A5690E7D36}" dt="2023-07-10T15:41:04.533" v="47" actId="1076"/>
          <ac:spMkLst>
            <pc:docMk/>
            <pc:sldMk cId="284370442" sldId="461"/>
            <ac:spMk id="2" creationId="{602E9FB4-D1B5-434F-ABAE-B143FF68379D}"/>
          </ac:spMkLst>
        </pc:spChg>
      </pc:sldChg>
      <pc:sldChg chg="add del">
        <pc:chgData name="Thomas, Paul" userId="19aa047e-baa3-4b10-95a7-cc6a4a1ac18f" providerId="ADAL" clId="{6468653A-2CD4-4702-AD7C-B8A5690E7D36}" dt="2023-07-10T15:40:48.983" v="39"/>
        <pc:sldMkLst>
          <pc:docMk/>
          <pc:sldMk cId="1769969960" sldId="470"/>
        </pc:sldMkLst>
      </pc:sldChg>
      <pc:sldChg chg="add del">
        <pc:chgData name="Thomas, Paul" userId="19aa047e-baa3-4b10-95a7-cc6a4a1ac18f" providerId="ADAL" clId="{6468653A-2CD4-4702-AD7C-B8A5690E7D36}" dt="2023-07-10T15:41:34.862" v="51" actId="47"/>
        <pc:sldMkLst>
          <pc:docMk/>
          <pc:sldMk cId="3748891281" sldId="473"/>
        </pc:sldMkLst>
      </pc:sldChg>
      <pc:sldChg chg="modSp add del mod">
        <pc:chgData name="Thomas, Paul" userId="19aa047e-baa3-4b10-95a7-cc6a4a1ac18f" providerId="ADAL" clId="{6468653A-2CD4-4702-AD7C-B8A5690E7D36}" dt="2023-07-10T15:41:06.228" v="48" actId="47"/>
        <pc:sldMkLst>
          <pc:docMk/>
          <pc:sldMk cId="3509502083" sldId="476"/>
        </pc:sldMkLst>
        <pc:spChg chg="mod">
          <ac:chgData name="Thomas, Paul" userId="19aa047e-baa3-4b10-95a7-cc6a4a1ac18f" providerId="ADAL" clId="{6468653A-2CD4-4702-AD7C-B8A5690E7D36}" dt="2023-07-10T15:40:49.234" v="41" actId="27636"/>
          <ac:spMkLst>
            <pc:docMk/>
            <pc:sldMk cId="3509502083" sldId="476"/>
            <ac:spMk id="5" creationId="{8D1E2E5A-BA23-4C41-81B4-423729404686}"/>
          </ac:spMkLst>
        </pc:spChg>
        <pc:spChg chg="mod">
          <ac:chgData name="Thomas, Paul" userId="19aa047e-baa3-4b10-95a7-cc6a4a1ac18f" providerId="ADAL" clId="{6468653A-2CD4-4702-AD7C-B8A5690E7D36}" dt="2023-07-10T15:40:49.233" v="40" actId="27636"/>
          <ac:spMkLst>
            <pc:docMk/>
            <pc:sldMk cId="3509502083" sldId="476"/>
            <ac:spMk id="6" creationId="{1F8DC896-8225-4884-B2BC-79084116F3E6}"/>
          </ac:spMkLst>
        </pc:spChg>
      </pc:sldChg>
      <pc:sldMasterChg chg="delSldLayout">
        <pc:chgData name="Thomas, Paul" userId="19aa047e-baa3-4b10-95a7-cc6a4a1ac18f" providerId="ADAL" clId="{6468653A-2CD4-4702-AD7C-B8A5690E7D36}" dt="2023-07-10T15:32:34.776" v="0" actId="47"/>
        <pc:sldMasterMkLst>
          <pc:docMk/>
          <pc:sldMasterMk cId="0" sldId="2147483804"/>
        </pc:sldMasterMkLst>
        <pc:sldLayoutChg chg="del">
          <pc:chgData name="Thomas, Paul" userId="19aa047e-baa3-4b10-95a7-cc6a4a1ac18f" providerId="ADAL" clId="{6468653A-2CD4-4702-AD7C-B8A5690E7D36}" dt="2023-07-10T15:32:34.776" v="0" actId="47"/>
          <pc:sldLayoutMkLst>
            <pc:docMk/>
            <pc:sldMasterMk cId="0" sldId="2147483804"/>
            <pc:sldLayoutMk cId="1212228323" sldId="2147484187"/>
          </pc:sldLayoutMkLst>
        </pc:sldLayoutChg>
      </pc:sldMasterChg>
    </pc:docChg>
  </pc:docChgLst>
  <pc:docChgLst>
    <pc:chgData name="Thomas, Paul" userId="19aa047e-baa3-4b10-95a7-cc6a4a1ac18f" providerId="ADAL" clId="{329A6D1B-0B88-4246-B4E9-00D2BD9FFECD}"/>
    <pc:docChg chg="custSel modSld">
      <pc:chgData name="Thomas, Paul" userId="19aa047e-baa3-4b10-95a7-cc6a4a1ac18f" providerId="ADAL" clId="{329A6D1B-0B88-4246-B4E9-00D2BD9FFECD}" dt="2024-07-13T22:55:33.773" v="1" actId="27636"/>
      <pc:docMkLst>
        <pc:docMk/>
      </pc:docMkLst>
      <pc:sldChg chg="modSp mod">
        <pc:chgData name="Thomas, Paul" userId="19aa047e-baa3-4b10-95a7-cc6a4a1ac18f" providerId="ADAL" clId="{329A6D1B-0B88-4246-B4E9-00D2BD9FFECD}" dt="2024-07-13T22:55:33.773" v="1" actId="27636"/>
        <pc:sldMkLst>
          <pc:docMk/>
          <pc:sldMk cId="1220076950" sldId="440"/>
        </pc:sldMkLst>
        <pc:spChg chg="mod">
          <ac:chgData name="Thomas, Paul" userId="19aa047e-baa3-4b10-95a7-cc6a4a1ac18f" providerId="ADAL" clId="{329A6D1B-0B88-4246-B4E9-00D2BD9FFECD}" dt="2024-07-13T22:55:33.773" v="1" actId="27636"/>
          <ac:spMkLst>
            <pc:docMk/>
            <pc:sldMk cId="1220076950" sldId="44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1750D6-EE90-4F4B-BC6F-9EC1FB918B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A0120-F85C-47A0-9391-E6572F1E02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C4D2DA90-F53E-43D9-B1D1-2319B00F5815}" type="datetimeFigureOut">
              <a:rPr lang="en-US"/>
              <a:pPr>
                <a:defRPr/>
              </a:pPr>
              <a:t>7/13/2024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33EB551-1D54-4330-A130-814899951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27F69D-AAF2-4719-9AEB-FA7A633C8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88F61-B679-4F25-A93A-384380B4AA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31560-F855-45DB-89C4-5E04FD1B9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1C4327D3-E160-45CD-B3CC-ABC66A8E5A8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jm.org/doi/full/10.1056/NEJMoa1401561#ref11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nejm.org/doi/full/10.1056/NEJMoa1401561#ref12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28C0EE38-23E7-8E5F-4ACB-9230DA425A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4D65B6E6-A90A-2E13-C3C8-29F1FBFA11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ABT-450 is an inhibitor of the HCV nonstructural 3/4A (NS3/4A) protease, which is administered with ritonavir (ABT-450/r). Ritonavir is a pharmacoenhancer that inhibits ABT-450 metabolism. Administration of ritonavir with ABT-450 increases peak and trough drug exposures, allowing for once-daily dosing.</a:t>
            </a:r>
            <a:r>
              <a:rPr lang="en-US" altLang="en-US">
                <a:hlinkClick r:id="rId3"/>
              </a:rPr>
              <a:t>11</a:t>
            </a:r>
            <a:r>
              <a:rPr lang="en-US" altLang="en-US"/>
              <a:t> Ombitasvir (also known as ABT-267) is an HCV NS5A inhibitor; dasabuvir (also known as ABT-333) is a nonnucleoside HCV NS5B RNA polymerase inhibitor.</a:t>
            </a:r>
            <a:r>
              <a:rPr lang="en-US" altLang="en-US">
                <a:hlinkClick r:id="rId4"/>
              </a:rPr>
              <a:t>12,13</a:t>
            </a: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232F3009-205C-2534-2CC7-AD481E470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F93DC0-B051-46DB-B563-EB69BA5973AE}" type="slidenum">
              <a:rPr lang="en-US" altLang="en-US" sz="13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38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73B6D4-BFDA-44EB-A31B-AC382F3A49F5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16D3B-1684-4810-A9E0-DD54D4B560CF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50C17-712D-430B-981D-3EE36B05083B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4FECF-D257-4878-B9F3-EA19E6A394B9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9A4558C-A8E9-42CB-9933-595523F30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119B2A0-6D2A-4613-B1E8-92BDFFCF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5E961B2-F388-4355-B309-7841293EE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A27FBB7-0310-4A98-BF1C-BFAA2850E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9346D92-35CD-46D9-8A94-7996FEC64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71AAAAE-4471-46AE-B8F2-6F320E92F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BB6CB-AECE-4213-AD3A-22AF2CD53A50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CB18ED-3D3D-4594-A043-910555AE0147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AD8AF5-015D-46D9-ABFF-820D165C7E42}"/>
              </a:ext>
            </a:extLst>
          </p:cNvPr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F9DA2D-0F0C-43E4-B2DE-DA70EC396AFE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B5DA90F-8B72-4798-9D63-B0E7B846ED7C}"/>
              </a:ext>
            </a:extLst>
          </p:cNvPr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937C4B-D221-4A78-9521-00AF8D213A06}"/>
              </a:ext>
            </a:extLst>
          </p:cNvPr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>
            <a:extLst>
              <a:ext uri="{FF2B5EF4-FFF2-40B4-BE49-F238E27FC236}">
                <a16:creationId xmlns:a16="http://schemas.microsoft.com/office/drawing/2014/main" id="{A7304854-FADB-4FF7-B25F-DA6AA163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Footer Placeholder 16">
            <a:extLst>
              <a:ext uri="{FF2B5EF4-FFF2-40B4-BE49-F238E27FC236}">
                <a16:creationId xmlns:a16="http://schemas.microsoft.com/office/drawing/2014/main" id="{DCF7FC6F-51FF-43E0-BDD4-48B67D76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>
            <a:extLst>
              <a:ext uri="{FF2B5EF4-FFF2-40B4-BE49-F238E27FC236}">
                <a16:creationId xmlns:a16="http://schemas.microsoft.com/office/drawing/2014/main" id="{612483EF-0481-4348-9C07-F791CAD8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541686EF-4438-4855-A61B-42E866A078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19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7D3C078-D542-4C0B-84F2-FDF913A2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B1A5E64E-67CC-40CE-863A-7B0ADF7978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650BEE5-2C6E-4203-87AC-4EA0AAD87DF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3CEEF515-B8C1-4371-B261-ABBC1486D3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85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3DB106-66DF-4CDF-A668-7CC8B26B7912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0EE9A-3C35-4361-ACFD-67AEF58722B9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2A6531-A835-4F17-9668-E1B56DF8D4B0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3BC56B-9E93-4299-A320-6FADA51E2945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6087238-479B-46BF-B703-3EACAAD18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A8A9EF3-1CD3-44CC-9528-63A13518C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C49C32A-F373-4AD8-B570-9354F3F1F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0323B4C-7FD5-47B4-9C6F-D4A0FA8E8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CD6D1A4-E5E9-4029-AC9E-9F05DDC96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DCE1B8-C5BD-4947-95CC-3D1B795BC7DF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AF77DC-2C96-4C1E-9FC7-4153F4FDC910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7E33D5-FDB0-422D-9C06-5E471FB455A8}"/>
              </a:ext>
            </a:extLst>
          </p:cNvPr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E97D5F-A5AD-436D-B4B9-E00BC96EE756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ADA248-7B27-40AD-AA09-75A01544950D}"/>
              </a:ext>
            </a:extLst>
          </p:cNvPr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D5F8F8-3E59-4B9C-BB1A-8448F80758C1}"/>
              </a:ext>
            </a:extLst>
          </p:cNvPr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05CDF92C-7603-4484-99B2-5534B5AE2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85B2F7D-072B-4F6F-9CC7-E328D578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06CAB9D-3B88-4946-9F47-873ED077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056E648-99D7-491A-83CE-3E79CA49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EBB0E018-EBA2-4111-A6E3-8F8C4659E4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89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4882B1D8-5687-4608-BCEC-681D085F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A7BC8BD-12FC-4B3F-B2A3-35DFE3F0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44A54B47-B4F7-4531-AA68-38FBE30C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EFA1A-7225-42BC-8945-FD0F775D9A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680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EC097B80-AB53-4CED-BF80-81B8451E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7A75E12-0448-4748-B9B5-BABEC47A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7681C254-992F-40D8-B2B5-63177EBC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4184F-3A0F-4138-8C09-9D1A937B6E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134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B80A39B2-1B3A-4330-9213-A7F3549C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B475ABA-2437-4AEA-B61C-BB06A08DF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78EC336-2DBA-406A-99CA-B567EA90184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8231ABE-C5C9-4938-B113-6AA18F09F7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7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20B27A36-52F4-4929-B647-619E9CDA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3E820-8F77-41A8-A08D-FD521A27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66F4DD3-C8CF-4BC6-8A26-194BB488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288DE-9BEB-49D4-94A2-A2F80E5D8C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289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D8B4795-46CD-402C-89B4-BADC48DBD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1A39A9D-1562-44B6-A00D-F9E094E08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6E12C30B-F03D-4316-9DB1-C898171A2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>
            <a:extLst>
              <a:ext uri="{FF2B5EF4-FFF2-40B4-BE49-F238E27FC236}">
                <a16:creationId xmlns:a16="http://schemas.microsoft.com/office/drawing/2014/main" id="{CAA33EDE-5342-4041-92B9-27F4B746D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B34A7-59F0-466D-9B92-5DDB56A67879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Straight Connector 19">
            <a:extLst>
              <a:ext uri="{FF2B5EF4-FFF2-40B4-BE49-F238E27FC236}">
                <a16:creationId xmlns:a16="http://schemas.microsoft.com/office/drawing/2014/main" id="{FD7F4109-7BC5-4727-8938-8C5E94347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688709-6178-4019-9FAE-748E64D6E7A3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>
            <a:extLst>
              <a:ext uri="{FF2B5EF4-FFF2-40B4-BE49-F238E27FC236}">
                <a16:creationId xmlns:a16="http://schemas.microsoft.com/office/drawing/2014/main" id="{CEE0F130-2182-4FC9-B4AA-9BD4FA235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1">
            <a:extLst>
              <a:ext uri="{FF2B5EF4-FFF2-40B4-BE49-F238E27FC236}">
                <a16:creationId xmlns:a16="http://schemas.microsoft.com/office/drawing/2014/main" id="{5F53ED76-C9CD-4DE6-A563-F22A35552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60D409-C024-4325-A3A4-D4292923019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2">
            <a:extLst>
              <a:ext uri="{FF2B5EF4-FFF2-40B4-BE49-F238E27FC236}">
                <a16:creationId xmlns:a16="http://schemas.microsoft.com/office/drawing/2014/main" id="{D9BD671C-D092-4E29-9B78-2066FF10F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42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21D9AD1-81EE-46ED-9D80-4800FFBD7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2DAB58-B7B9-40E2-823B-E43A07B24E74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Straight Connector 16">
            <a:extLst>
              <a:ext uri="{FF2B5EF4-FFF2-40B4-BE49-F238E27FC236}">
                <a16:creationId xmlns:a16="http://schemas.microsoft.com/office/drawing/2014/main" id="{7CD17525-C3B7-42B0-8EFA-10D65928D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7CE0D1-4272-4E0D-A9CB-A01DF5067672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traight Connector 18">
            <a:extLst>
              <a:ext uri="{FF2B5EF4-FFF2-40B4-BE49-F238E27FC236}">
                <a16:creationId xmlns:a16="http://schemas.microsoft.com/office/drawing/2014/main" id="{91F63CC6-412E-41B6-BC4A-A0B3A4D80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D8C9533-1A10-4F09-9B08-04D613A96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1" name="Straight Connector 20">
            <a:extLst>
              <a:ext uri="{FF2B5EF4-FFF2-40B4-BE49-F238E27FC236}">
                <a16:creationId xmlns:a16="http://schemas.microsoft.com/office/drawing/2014/main" id="{82B1FA55-0C34-450E-A4F7-8DFB99CDA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>
            <a:extLst>
              <a:ext uri="{FF2B5EF4-FFF2-40B4-BE49-F238E27FC236}">
                <a16:creationId xmlns:a16="http://schemas.microsoft.com/office/drawing/2014/main" id="{3B01B81F-7205-4596-9C75-1F4E7C35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17">
            <a:extLst>
              <a:ext uri="{FF2B5EF4-FFF2-40B4-BE49-F238E27FC236}">
                <a16:creationId xmlns:a16="http://schemas.microsoft.com/office/drawing/2014/main" id="{D6F1AD46-933E-4666-A14D-41494459DB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DEFF39-C785-4788-93F4-2A32F5C20E0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0">
            <a:extLst>
              <a:ext uri="{FF2B5EF4-FFF2-40B4-BE49-F238E27FC236}">
                <a16:creationId xmlns:a16="http://schemas.microsoft.com/office/drawing/2014/main" id="{F375C2A5-54CF-4EAE-9A0C-26CF00E5C5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0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B91B631-8AAF-4AB5-89B5-FCE617BA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7AF1B6C-D033-4776-88E0-52FE98BC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797F0179-792B-4F86-AE02-E9F4A87C1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C39A7-B855-4E11-B4EA-B1C84CDE5F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83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88703FE-6529-4B3B-80BD-3B0F53BD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3ECF912-31E8-45F4-B892-D397F13D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FFCC867-0F09-4A7C-9B1F-0E9BE9F2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CA4E0-4891-49CE-9C87-EE4716D790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386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44629FA9-FFA9-401F-A502-E939C3383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BC559F8D-1DFF-4CED-A2E4-C9C78718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>
            <a:extLst>
              <a:ext uri="{FF2B5EF4-FFF2-40B4-BE49-F238E27FC236}">
                <a16:creationId xmlns:a16="http://schemas.microsoft.com/office/drawing/2014/main" id="{32F18DBF-F0B9-4D4E-91AD-3230543B39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3715637-C3B6-4B41-B509-81F33EAE4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CA0F03-FC3D-4527-A4C6-843F47602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D0FEAB5-9295-459A-A962-3302F2099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2" name="Straight Connector 8">
            <a:extLst>
              <a:ext uri="{FF2B5EF4-FFF2-40B4-BE49-F238E27FC236}">
                <a16:creationId xmlns:a16="http://schemas.microsoft.com/office/drawing/2014/main" id="{04D167CD-B8AB-4D7D-914C-EBB234155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1460C1-5F8F-470D-8446-8928BF640106}"/>
              </a:ext>
            </a:extLst>
          </p:cNvPr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4" name="Straight Connector 10">
            <a:extLst>
              <a:ext uri="{FF2B5EF4-FFF2-40B4-BE49-F238E27FC236}">
                <a16:creationId xmlns:a16="http://schemas.microsoft.com/office/drawing/2014/main" id="{54B3F0E9-C247-4BBA-9869-23213FB57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084501-C6CF-4EDA-B123-CFBB92362C65}"/>
              </a:ext>
            </a:extLst>
          </p:cNvPr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EDF59C7-8630-4A51-947D-CDC00D83F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fld id="{DA55CD7F-D532-41AD-AAED-8201D76483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82" r:id="rId4"/>
    <p:sldLayoutId id="2147484183" r:id="rId5"/>
    <p:sldLayoutId id="2147484191" r:id="rId6"/>
    <p:sldLayoutId id="2147484184" r:id="rId7"/>
    <p:sldLayoutId id="2147484192" r:id="rId8"/>
    <p:sldLayoutId id="2147484193" r:id="rId9"/>
    <p:sldLayoutId id="2147484185" r:id="rId10"/>
    <p:sldLayoutId id="214748418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orbel" pitchFamily="34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82A0B9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C8D7E5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EBC0B1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da.gov/media/144245/download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4706ABD-69D4-481B-97E5-D295700A33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/>
          <a:lstStyle/>
          <a:p>
            <a:pPr>
              <a:spcAft>
                <a:spcPts val="0"/>
              </a:spcAft>
              <a:defRPr/>
            </a:pPr>
            <a:r>
              <a:rPr lang="en-US" dirty="0"/>
              <a:t>Drug and Vaccine Treatments</a:t>
            </a:r>
            <a:br>
              <a:rPr lang="en-US" dirty="0"/>
            </a:br>
            <a:endParaRPr 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8D7B6FB-4002-4A6B-B643-6C6DE0B32B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29200"/>
            <a:ext cx="6172200" cy="1371600"/>
          </a:xfrm>
        </p:spPr>
        <p:txBody>
          <a:bodyPr>
            <a:normAutofit fontScale="700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/>
              <a:t>Unit 7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Paul Thomas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Paul.Thomas@stjude.org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Department of Immunology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/>
              <a:buNone/>
              <a:defRPr/>
            </a:pPr>
            <a:r>
              <a:rPr lang="en-US" sz="2800" dirty="0"/>
              <a:t>St. Jude Children’s Research Hospital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258E-4F47-4BF3-B610-00DB51AF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58DBB5-81FB-48A8-B70A-C08E5268F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48" y="945335"/>
            <a:ext cx="9028652" cy="5179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16E483-1D9E-481E-9281-441ACD1F9109}"/>
              </a:ext>
            </a:extLst>
          </p:cNvPr>
          <p:cNvSpPr txBox="1"/>
          <p:nvPr/>
        </p:nvSpPr>
        <p:spPr>
          <a:xfrm>
            <a:off x="2887910" y="5986765"/>
            <a:ext cx="3506088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" dirty="0"/>
              <a:t>From https://theconversation.com/covid-19-vaccine-update-pfizer-may-be-the-frontrunner-but-canada-has-hedged-its-bets-149962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52D53-BCD9-463A-866B-C0DEF3B352C8}"/>
              </a:ext>
            </a:extLst>
          </p:cNvPr>
          <p:cNvSpPr txBox="1"/>
          <p:nvPr/>
        </p:nvSpPr>
        <p:spPr>
          <a:xfrm>
            <a:off x="5859455" y="164051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JNJ</a:t>
            </a:r>
          </a:p>
          <a:p>
            <a:pPr algn="r"/>
            <a:r>
              <a:rPr lang="en-US" b="1" dirty="0"/>
              <a:t>AstraZeneca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AEDCD-B396-4576-A2C7-1D35A6BC6134}"/>
              </a:ext>
            </a:extLst>
          </p:cNvPr>
          <p:cNvSpPr txBox="1"/>
          <p:nvPr/>
        </p:nvSpPr>
        <p:spPr>
          <a:xfrm>
            <a:off x="7038071" y="3571267"/>
            <a:ext cx="1937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Pfizer/</a:t>
            </a:r>
            <a:r>
              <a:rPr lang="en-US" b="1" dirty="0" err="1"/>
              <a:t>BioNTech</a:t>
            </a:r>
            <a:endParaRPr lang="en-US" b="1" dirty="0"/>
          </a:p>
          <a:p>
            <a:pPr algn="r"/>
            <a:r>
              <a:rPr lang="en-US" b="1" dirty="0" err="1"/>
              <a:t>Moderna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61D2F-1BFB-4F9D-AEC3-172ABAB18D8B}"/>
              </a:ext>
            </a:extLst>
          </p:cNvPr>
          <p:cNvSpPr txBox="1"/>
          <p:nvPr/>
        </p:nvSpPr>
        <p:spPr>
          <a:xfrm>
            <a:off x="888762" y="3917515"/>
            <a:ext cx="103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/>
              <a:t>NovaVax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871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9FB4-D1B5-434F-ABAE-B143FF68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98" y="304800"/>
            <a:ext cx="7886700" cy="994172"/>
          </a:xfrm>
        </p:spPr>
        <p:txBody>
          <a:bodyPr/>
          <a:lstStyle/>
          <a:p>
            <a:r>
              <a:rPr lang="en-US" b="1" dirty="0"/>
              <a:t>Comparison: annual “flu shot” QIV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63A12-E223-476C-AFD2-E9551F1126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annual flu shot is generated by inactivating a whole, attenuated virus, fragmenting it with detergent, and reforming virosomes missing the viral RNA and most viral proteins</a:t>
            </a:r>
          </a:p>
          <a:p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ADJUVANT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0EE20E-63F9-4639-8CAF-B022D04E8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937" y="1808608"/>
            <a:ext cx="3810245" cy="389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15292" y="829544"/>
            <a:ext cx="707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from Phase I/II trials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84909" y="1100790"/>
          <a:ext cx="8659093" cy="496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2821">
                  <a:extLst>
                    <a:ext uri="{9D8B030D-6E8A-4147-A177-3AD203B41FA5}">
                      <a16:colId xmlns:a16="http://schemas.microsoft.com/office/drawing/2014/main" val="2467279613"/>
                    </a:ext>
                  </a:extLst>
                </a:gridCol>
                <a:gridCol w="1532966">
                  <a:extLst>
                    <a:ext uri="{9D8B030D-6E8A-4147-A177-3AD203B41FA5}">
                      <a16:colId xmlns:a16="http://schemas.microsoft.com/office/drawing/2014/main" val="1931740193"/>
                    </a:ext>
                  </a:extLst>
                </a:gridCol>
                <a:gridCol w="930173">
                  <a:extLst>
                    <a:ext uri="{9D8B030D-6E8A-4147-A177-3AD203B41FA5}">
                      <a16:colId xmlns:a16="http://schemas.microsoft.com/office/drawing/2014/main" val="2049782132"/>
                    </a:ext>
                  </a:extLst>
                </a:gridCol>
                <a:gridCol w="1099924">
                  <a:extLst>
                    <a:ext uri="{9D8B030D-6E8A-4147-A177-3AD203B41FA5}">
                      <a16:colId xmlns:a16="http://schemas.microsoft.com/office/drawing/2014/main" val="4251991063"/>
                    </a:ext>
                  </a:extLst>
                </a:gridCol>
                <a:gridCol w="1371875">
                  <a:extLst>
                    <a:ext uri="{9D8B030D-6E8A-4147-A177-3AD203B41FA5}">
                      <a16:colId xmlns:a16="http://schemas.microsoft.com/office/drawing/2014/main" val="2297384154"/>
                    </a:ext>
                  </a:extLst>
                </a:gridCol>
                <a:gridCol w="999459">
                  <a:extLst>
                    <a:ext uri="{9D8B030D-6E8A-4147-A177-3AD203B41FA5}">
                      <a16:colId xmlns:a16="http://schemas.microsoft.com/office/drawing/2014/main" val="906140379"/>
                    </a:ext>
                  </a:extLst>
                </a:gridCol>
                <a:gridCol w="1371875">
                  <a:extLst>
                    <a:ext uri="{9D8B030D-6E8A-4147-A177-3AD203B41FA5}">
                      <a16:colId xmlns:a16="http://schemas.microsoft.com/office/drawing/2014/main" val="165296785"/>
                    </a:ext>
                  </a:extLst>
                </a:gridCol>
              </a:tblGrid>
              <a:tr h="2648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Company (reference)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Vaccine (type)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Dose range (route)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Neut. titre after prime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Neut. titre after boost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T cell response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Trial registration number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2621844233"/>
                  </a:ext>
                </a:extLst>
              </a:tr>
              <a:tr h="2648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Sinovac</a:t>
                      </a:r>
                      <a:r>
                        <a:rPr lang="en-GB" sz="800" baseline="30000">
                          <a:effectLst/>
                        </a:rPr>
                        <a:t>35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CoronaVac (inactivated SARS-CoV-2 + aluminium hydroxide)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3–6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2x 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1:30–1:60 range</a:t>
                      </a:r>
                      <a:r>
                        <a:rPr lang="en-GB" sz="800" baseline="30000">
                          <a:effectLst/>
                        </a:rPr>
                        <a:t>a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NCT04352608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2313939814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Sinopharm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Inactivated whole virus COVID-19 vaccine (inactivated SARS-CoV-2 + aluminium hydroxide)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2.5, 5 or 10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3x (0/28/56 or 0/28) 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 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5ug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 2x (0/14 or 0/21)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Not reported in detail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1:316 (2.5 ug, 0/28/58)</a:t>
                      </a:r>
                      <a:r>
                        <a:rPr lang="en-GB" sz="800" baseline="30000">
                          <a:effectLst/>
                        </a:rPr>
                        <a:t>c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1:206 (5 ug, 0/28/58)</a:t>
                      </a:r>
                      <a:r>
                        <a:rPr lang="en-GB" sz="800" baseline="30000">
                          <a:effectLst/>
                        </a:rPr>
                        <a:t>c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1:297 (10 ug, 0/28/58)</a:t>
                      </a:r>
                      <a:r>
                        <a:rPr lang="en-GB" sz="800" baseline="30000">
                          <a:effectLst/>
                        </a:rPr>
                        <a:t>c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 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1:121 (5ug, 0/14)</a:t>
                      </a:r>
                      <a:r>
                        <a:rPr lang="en-GB" sz="800" baseline="30000">
                          <a:effectLst/>
                        </a:rPr>
                        <a:t>c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1:247 (5 ug, 0/21)</a:t>
                      </a:r>
                      <a:r>
                        <a:rPr lang="en-GB" sz="800" baseline="30000">
                          <a:effectLst/>
                        </a:rPr>
                        <a:t>c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ChiCTR2000031809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419910454"/>
                  </a:ext>
                </a:extLst>
              </a:tr>
              <a:tr h="2648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CanSino</a:t>
                      </a:r>
                      <a:r>
                        <a:rPr lang="en-GB" sz="800" baseline="30000">
                          <a:effectLst/>
                        </a:rPr>
                        <a:t>46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Ad5 nCoV (non-replicating AdV5 expressing spike protein)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5 x</a:t>
                      </a:r>
                      <a:r>
                        <a:rPr lang="en-GB" sz="800" baseline="0" dirty="0">
                          <a:effectLst/>
                        </a:rPr>
                        <a:t> </a:t>
                      </a:r>
                      <a:r>
                        <a:rPr lang="en-GB" sz="800" dirty="0">
                          <a:effectLst/>
                        </a:rPr>
                        <a:t>10</a:t>
                      </a:r>
                      <a:r>
                        <a:rPr lang="en-GB" sz="800" baseline="30000" dirty="0">
                          <a:effectLst/>
                        </a:rPr>
                        <a:t>10</a:t>
                      </a:r>
                      <a:r>
                        <a:rPr lang="en-GB" sz="800" dirty="0">
                          <a:effectLst/>
                        </a:rPr>
                        <a:t>, 10</a:t>
                      </a:r>
                      <a:r>
                        <a:rPr lang="en-GB" sz="800" baseline="30000" dirty="0">
                          <a:effectLst/>
                        </a:rPr>
                        <a:t>11</a:t>
                      </a:r>
                      <a:r>
                        <a:rPr lang="en-GB" sz="800" dirty="0">
                          <a:effectLst/>
                        </a:rPr>
                        <a:t> VP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1:18.3–1:19.5 range</a:t>
                      </a:r>
                      <a:r>
                        <a:rPr lang="en-GB" sz="800" baseline="30000">
                          <a:effectLst/>
                        </a:rPr>
                        <a:t>b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— 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Yes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NCT04341389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227697393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AstraZeneca</a:t>
                      </a:r>
                      <a:r>
                        <a:rPr lang="en-GB" sz="800" baseline="30000">
                          <a:effectLst/>
                        </a:rPr>
                        <a:t>47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ChAdOx1nCOV-19 (non-replicating chimpanzee AdV expressing spike protein)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5 x 10</a:t>
                      </a:r>
                      <a:r>
                        <a:rPr lang="en-GB" sz="800" baseline="30000" dirty="0">
                          <a:effectLst/>
                        </a:rPr>
                        <a:t>10</a:t>
                      </a:r>
                      <a:r>
                        <a:rPr lang="en-GB" sz="800" dirty="0">
                          <a:effectLst/>
                        </a:rPr>
                        <a:t> VP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1 x or 2´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Median 1:218</a:t>
                      </a:r>
                      <a:r>
                        <a:rPr lang="en-GB" sz="800" baseline="30000" dirty="0">
                          <a:effectLst/>
                        </a:rPr>
                        <a:t>c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Median 1:51</a:t>
                      </a:r>
                      <a:r>
                        <a:rPr lang="en-GB" sz="800" baseline="30000" dirty="0">
                          <a:effectLst/>
                        </a:rPr>
                        <a:t>d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Median 1:4–1:16</a:t>
                      </a:r>
                      <a:r>
                        <a:rPr lang="en-GB" sz="800" baseline="30000" dirty="0">
                          <a:effectLst/>
                        </a:rPr>
                        <a:t>e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Median 1:136</a:t>
                      </a:r>
                      <a:r>
                        <a:rPr lang="en-GB" sz="800" baseline="30000">
                          <a:effectLst/>
                        </a:rPr>
                        <a:t>d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Median 1:29 </a:t>
                      </a:r>
                      <a:r>
                        <a:rPr lang="en-GB" sz="800" baseline="30000">
                          <a:effectLst/>
                        </a:rPr>
                        <a:t>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Yes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NCT04324606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884003777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Moderna</a:t>
                      </a:r>
                      <a:r>
                        <a:rPr lang="en-GB" sz="800" baseline="30000">
                          <a:effectLst/>
                        </a:rPr>
                        <a:t>59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mRNA-1273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(mRNA)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2x 25, </a:t>
                      </a:r>
                      <a:r>
                        <a:rPr lang="en-GB" sz="1100" b="1" dirty="0">
                          <a:effectLst/>
                        </a:rPr>
                        <a:t>100</a:t>
                      </a:r>
                      <a:r>
                        <a:rPr lang="en-GB" sz="800" dirty="0">
                          <a:effectLst/>
                        </a:rPr>
                        <a:t>, 250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Low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1:112.3 (25 μg)</a:t>
                      </a:r>
                      <a:r>
                        <a:rPr lang="en-GB" sz="800" baseline="30000">
                          <a:effectLst/>
                        </a:rPr>
                        <a:t>f</a:t>
                      </a:r>
                      <a:r>
                        <a:rPr lang="en-GB" sz="800">
                          <a:effectLst/>
                        </a:rPr>
                        <a:t> 1:343.8 (100 μg)</a:t>
                      </a:r>
                      <a:r>
                        <a:rPr lang="en-GB" sz="800" baseline="30000">
                          <a:effectLst/>
                        </a:rPr>
                        <a:t>f</a:t>
                      </a:r>
                      <a:r>
                        <a:rPr lang="en-GB" sz="800">
                          <a:effectLst/>
                        </a:rPr>
                        <a:t> 1:332.2 (250 μg)</a:t>
                      </a:r>
                      <a:r>
                        <a:rPr lang="en-GB" sz="800" baseline="30000">
                          <a:effectLst/>
                        </a:rPr>
                        <a:t>f</a:t>
                      </a:r>
                      <a:r>
                        <a:rPr lang="en-GB" sz="800">
                          <a:effectLst/>
                        </a:rPr>
                        <a:t> 1:339.7 (25 μg)</a:t>
                      </a:r>
                      <a:r>
                        <a:rPr lang="en-GB" sz="800" baseline="30000">
                          <a:effectLst/>
                        </a:rPr>
                        <a:t>g</a:t>
                      </a:r>
                      <a:r>
                        <a:rPr lang="en-GB" sz="800">
                          <a:effectLst/>
                        </a:rPr>
                        <a:t> 1:654.3 (100 μg)</a:t>
                      </a:r>
                      <a:r>
                        <a:rPr lang="en-GB" sz="800" baseline="30000">
                          <a:effectLst/>
                        </a:rPr>
                        <a:t>g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Good CD4</a:t>
                      </a:r>
                      <a:r>
                        <a:rPr lang="en-GB" sz="800" baseline="30000">
                          <a:effectLst/>
                        </a:rPr>
                        <a:t>+</a:t>
                      </a:r>
                      <a:r>
                        <a:rPr lang="en-GB" sz="800">
                          <a:effectLst/>
                        </a:rPr>
                        <a:t> and low CD8</a:t>
                      </a:r>
                      <a:r>
                        <a:rPr lang="en-GB" sz="800" baseline="30000">
                          <a:effectLst/>
                        </a:rPr>
                        <a:t>+</a:t>
                      </a:r>
                      <a:r>
                        <a:rPr lang="en-GB" sz="800">
                          <a:effectLst/>
                        </a:rPr>
                        <a:t> response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NCT04283461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2810501586"/>
                  </a:ext>
                </a:extLst>
              </a:tr>
              <a:tr h="2648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Pfizer</a:t>
                      </a:r>
                      <a:r>
                        <a:rPr lang="en-GB" sz="800" baseline="30000">
                          <a:effectLst/>
                        </a:rPr>
                        <a:t>60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BNT162b1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(mRNA)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2x 10, 30, 100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Low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1:180 (10 μg)</a:t>
                      </a:r>
                      <a:r>
                        <a:rPr lang="en-GB" sz="800" baseline="30000">
                          <a:effectLst/>
                        </a:rPr>
                        <a:t>h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1:437 (30 μg)</a:t>
                      </a:r>
                      <a:r>
                        <a:rPr lang="en-GB" sz="800" baseline="30000">
                          <a:effectLst/>
                        </a:rPr>
                        <a:t>h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NCT04368728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3291631714"/>
                  </a:ext>
                </a:extLst>
              </a:tr>
              <a:tr h="18002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Pfizer</a:t>
                      </a:r>
                      <a:r>
                        <a:rPr lang="en-GB" sz="800" baseline="30000">
                          <a:effectLst/>
                        </a:rPr>
                        <a:t>84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BNT162b1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(mRNA) and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b="1" dirty="0">
                          <a:effectLst/>
                        </a:rPr>
                        <a:t>BNT162b2</a:t>
                      </a:r>
                      <a:endParaRPr lang="en-US" sz="1100" b="1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(mRNA)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2x 10, 20, </a:t>
                      </a:r>
                      <a:r>
                        <a:rPr lang="en-GB" sz="1100" b="1" dirty="0">
                          <a:effectLst/>
                        </a:rPr>
                        <a:t>30</a:t>
                      </a:r>
                      <a:r>
                        <a:rPr lang="en-GB" sz="800" dirty="0">
                          <a:effectLst/>
                        </a:rPr>
                        <a:t>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 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Low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 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Day 28</a:t>
                      </a:r>
                      <a:r>
                        <a:rPr lang="en-GB" sz="800" baseline="30000">
                          <a:effectLst/>
                        </a:rPr>
                        <a:t>h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BNT126b1 (18–55 years):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1:168 (10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1:267 (30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BNT126b1 (65–85 years):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1:37 (10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1:179 (20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1:101 (30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BNT126b2 (18–55 years):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1:157 (10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1:363 (20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1:361 (30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BNT126b2 (65–85 years):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1:84 (20 μg)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1:147 (30 μg)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ND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NCT04368728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310413984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Novavax</a:t>
                      </a:r>
                      <a:r>
                        <a:rPr lang="en-GB" sz="800" baseline="30000">
                          <a:effectLst/>
                        </a:rPr>
                        <a:t>90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NVX CoV2373 (Matrix-M)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Spike protein ‘rosettes’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2</a:t>
                      </a:r>
                      <a:r>
                        <a:rPr lang="en-GB" sz="800" baseline="0" dirty="0">
                          <a:effectLst/>
                        </a:rPr>
                        <a:t> x</a:t>
                      </a:r>
                      <a:r>
                        <a:rPr lang="en-GB" sz="800" dirty="0">
                          <a:effectLst/>
                        </a:rPr>
                        <a:t> 2.5–25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 ± Matrix-M)</a:t>
                      </a:r>
                      <a:endParaRPr lang="en-US" sz="8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1x 25 </a:t>
                      </a:r>
                      <a:r>
                        <a:rPr lang="en-GB" sz="800" dirty="0" err="1">
                          <a:effectLst/>
                        </a:rPr>
                        <a:t>μg</a:t>
                      </a:r>
                      <a:r>
                        <a:rPr lang="en-GB" sz="800" dirty="0">
                          <a:effectLst/>
                        </a:rPr>
                        <a:t> (</a:t>
                      </a:r>
                      <a:r>
                        <a:rPr lang="en-GB" sz="800" dirty="0" err="1">
                          <a:effectLst/>
                        </a:rPr>
                        <a:t>i.m</a:t>
                      </a:r>
                      <a:r>
                        <a:rPr lang="en-GB" sz="800" dirty="0">
                          <a:effectLst/>
                        </a:rPr>
                        <a:t>. + Matrix-M)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1:128 (25 μg + Matrix-M)</a:t>
                      </a:r>
                      <a:r>
                        <a:rPr lang="en-GB" sz="800" baseline="30000">
                          <a:effectLst/>
                        </a:rPr>
                        <a:t>i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1:3,906 (5 μg + Matrix-M)</a:t>
                      </a:r>
                      <a:r>
                        <a:rPr lang="en-GB" sz="800" baseline="30000">
                          <a:effectLst/>
                        </a:rPr>
                        <a:t>i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1:3,305 (25 μg + Matrix-M)</a:t>
                      </a:r>
                      <a:r>
                        <a:rPr lang="en-GB" sz="800" baseline="30000">
                          <a:effectLst/>
                        </a:rPr>
                        <a:t>i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1:41 (25 μg unadjuvanted)</a:t>
                      </a:r>
                      <a:r>
                        <a:rPr lang="en-GB" sz="800" baseline="30000">
                          <a:effectLst/>
                        </a:rPr>
                        <a:t>i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CD4</a:t>
                      </a:r>
                      <a:r>
                        <a:rPr lang="en-GB" sz="800" baseline="30000">
                          <a:effectLst/>
                        </a:rPr>
                        <a:t>+</a:t>
                      </a:r>
                      <a:endParaRPr lang="en-US" sz="800" b="1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NCT04368988</a:t>
                      </a:r>
                      <a:endParaRPr lang="en-US" sz="8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693" marR="32693" marT="0" marB="0"/>
                </a:tc>
                <a:extLst>
                  <a:ext uri="{0D108BD9-81ED-4DB2-BD59-A6C34878D82A}">
                    <a16:rowId xmlns:a16="http://schemas.microsoft.com/office/drawing/2014/main" val="1359140603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42158"/>
            <a:ext cx="467756" cy="4021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3" y="1906730"/>
            <a:ext cx="467756" cy="4021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3" y="2335962"/>
            <a:ext cx="401130" cy="2706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3" y="2692717"/>
            <a:ext cx="401130" cy="2706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6" y="3114777"/>
            <a:ext cx="365028" cy="3461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4" y="3635572"/>
            <a:ext cx="365028" cy="3461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5" y="5443104"/>
            <a:ext cx="434145" cy="45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9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Vaccines in Phase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573" y="2138293"/>
            <a:ext cx="3886200" cy="3263504"/>
          </a:xfrm>
        </p:spPr>
        <p:txBody>
          <a:bodyPr/>
          <a:lstStyle/>
          <a:p>
            <a:r>
              <a:rPr lang="en-US" sz="2700" b="1" dirty="0" err="1"/>
              <a:t>Moderna</a:t>
            </a:r>
            <a:r>
              <a:rPr lang="en-US" sz="2700" b="1" dirty="0"/>
              <a:t> (94)%</a:t>
            </a:r>
          </a:p>
          <a:p>
            <a:endParaRPr lang="en-US" b="1" dirty="0"/>
          </a:p>
          <a:p>
            <a:r>
              <a:rPr lang="en-US" sz="2700" b="1" dirty="0"/>
              <a:t>Pfizer (95%)</a:t>
            </a:r>
          </a:p>
          <a:p>
            <a:endParaRPr lang="en-US" b="1" dirty="0"/>
          </a:p>
          <a:p>
            <a:r>
              <a:rPr lang="en-US" b="1" dirty="0"/>
              <a:t>AstraZeneca (62-90%)</a:t>
            </a:r>
          </a:p>
          <a:p>
            <a:endParaRPr lang="en-US" b="1" dirty="0"/>
          </a:p>
          <a:p>
            <a:r>
              <a:rPr lang="en-US" b="1" dirty="0"/>
              <a:t>Janssen (72%)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 err="1"/>
              <a:t>Novavax</a:t>
            </a:r>
            <a:r>
              <a:rPr lang="en-US" b="1" dirty="0"/>
              <a:t> (89-96%)</a:t>
            </a:r>
          </a:p>
          <a:p>
            <a:endParaRPr lang="en-US" b="1" dirty="0"/>
          </a:p>
          <a:p>
            <a:r>
              <a:rPr lang="en-US" b="1" dirty="0" err="1">
                <a:solidFill>
                  <a:srgbClr val="FF0000"/>
                </a:solidFill>
              </a:rPr>
              <a:t>Gamaleya</a:t>
            </a:r>
            <a:r>
              <a:rPr lang="en-US" b="1" dirty="0">
                <a:solidFill>
                  <a:srgbClr val="FF0000"/>
                </a:solidFill>
              </a:rPr>
              <a:t> (91.6%)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err="1">
                <a:solidFill>
                  <a:srgbClr val="FF0000"/>
                </a:solidFill>
              </a:rPr>
              <a:t>Sinovac</a:t>
            </a:r>
            <a:r>
              <a:rPr lang="en-US" b="1" dirty="0">
                <a:solidFill>
                  <a:srgbClr val="FF0000"/>
                </a:solidFill>
              </a:rPr>
              <a:t>/</a:t>
            </a:r>
            <a:r>
              <a:rPr lang="en-US" b="1" dirty="0" err="1">
                <a:solidFill>
                  <a:srgbClr val="FF0000"/>
                </a:solidFill>
              </a:rPr>
              <a:t>Sinopharm</a:t>
            </a:r>
            <a:r>
              <a:rPr lang="en-US" b="1" dirty="0">
                <a:solidFill>
                  <a:srgbClr val="FF0000"/>
                </a:solidFill>
              </a:rPr>
              <a:t> (3x)          (50-90%)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err="1">
                <a:solidFill>
                  <a:srgbClr val="FF0000"/>
                </a:solidFill>
              </a:rPr>
              <a:t>Cansino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72" y="2029993"/>
            <a:ext cx="713576" cy="7016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72" y="2785507"/>
            <a:ext cx="738837" cy="7264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054" y="3565857"/>
            <a:ext cx="760055" cy="66830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418" y="4301922"/>
            <a:ext cx="760055" cy="6683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449" y="4511721"/>
            <a:ext cx="760055" cy="66830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007" y="2857596"/>
            <a:ext cx="760055" cy="668302"/>
          </a:xfrm>
          <a:prstGeom prst="rect">
            <a:avLst/>
          </a:prstGeom>
        </p:spPr>
      </p:pic>
      <p:sp>
        <p:nvSpPr>
          <p:cNvPr id="12" name="Freeform 11"/>
          <p:cNvSpPr>
            <a:spLocks noChangeAspect="1"/>
          </p:cNvSpPr>
          <p:nvPr/>
        </p:nvSpPr>
        <p:spPr>
          <a:xfrm>
            <a:off x="7838450" y="2018846"/>
            <a:ext cx="569768" cy="694442"/>
          </a:xfrm>
          <a:custGeom>
            <a:avLst/>
            <a:gdLst>
              <a:gd name="connsiteX0" fmla="*/ 2531444 w 5380522"/>
              <a:gd name="connsiteY0" fmla="*/ 5197642 h 5476775"/>
              <a:gd name="connsiteX1" fmla="*/ 3060834 w 5380522"/>
              <a:gd name="connsiteY1" fmla="*/ 5111015 h 5476775"/>
              <a:gd name="connsiteX2" fmla="*/ 3099335 w 5380522"/>
              <a:gd name="connsiteY2" fmla="*/ 5178392 h 5476775"/>
              <a:gd name="connsiteX3" fmla="*/ 3022333 w 5380522"/>
              <a:gd name="connsiteY3" fmla="*/ 5293895 h 5476775"/>
              <a:gd name="connsiteX4" fmla="*/ 3022333 w 5380522"/>
              <a:gd name="connsiteY4" fmla="*/ 5419024 h 5476775"/>
              <a:gd name="connsiteX5" fmla="*/ 3224463 w 5380522"/>
              <a:gd name="connsiteY5" fmla="*/ 5476775 h 5476775"/>
              <a:gd name="connsiteX6" fmla="*/ 3407343 w 5380522"/>
              <a:gd name="connsiteY6" fmla="*/ 5457525 h 5476775"/>
              <a:gd name="connsiteX7" fmla="*/ 3388093 w 5380522"/>
              <a:gd name="connsiteY7" fmla="*/ 5111015 h 5476775"/>
              <a:gd name="connsiteX8" fmla="*/ 3513221 w 5380522"/>
              <a:gd name="connsiteY8" fmla="*/ 4610501 h 5476775"/>
              <a:gd name="connsiteX9" fmla="*/ 3705726 w 5380522"/>
              <a:gd name="connsiteY9" fmla="*/ 4071487 h 5476775"/>
              <a:gd name="connsiteX10" fmla="*/ 3888606 w 5380522"/>
              <a:gd name="connsiteY10" fmla="*/ 3975234 h 5476775"/>
              <a:gd name="connsiteX11" fmla="*/ 4138863 w 5380522"/>
              <a:gd name="connsiteY11" fmla="*/ 3927108 h 5476775"/>
              <a:gd name="connsiteX12" fmla="*/ 4196615 w 5380522"/>
              <a:gd name="connsiteY12" fmla="*/ 3580598 h 5476775"/>
              <a:gd name="connsiteX13" fmla="*/ 4244741 w 5380522"/>
              <a:gd name="connsiteY13" fmla="*/ 3301466 h 5476775"/>
              <a:gd name="connsiteX14" fmla="*/ 4360244 w 5380522"/>
              <a:gd name="connsiteY14" fmla="*/ 3012708 h 5476775"/>
              <a:gd name="connsiteX15" fmla="*/ 4225491 w 5380522"/>
              <a:gd name="connsiteY15" fmla="*/ 2935706 h 5476775"/>
              <a:gd name="connsiteX16" fmla="*/ 4273617 w 5380522"/>
              <a:gd name="connsiteY16" fmla="*/ 2512194 h 5476775"/>
              <a:gd name="connsiteX17" fmla="*/ 4649002 w 5380522"/>
              <a:gd name="connsiteY17" fmla="*/ 2367815 h 5476775"/>
              <a:gd name="connsiteX18" fmla="*/ 4754880 w 5380522"/>
              <a:gd name="connsiteY18" fmla="*/ 2117558 h 5476775"/>
              <a:gd name="connsiteX19" fmla="*/ 4880008 w 5380522"/>
              <a:gd name="connsiteY19" fmla="*/ 1934678 h 5476775"/>
              <a:gd name="connsiteX20" fmla="*/ 5091764 w 5380522"/>
              <a:gd name="connsiteY20" fmla="*/ 1925053 h 5476775"/>
              <a:gd name="connsiteX21" fmla="*/ 5236143 w 5380522"/>
              <a:gd name="connsiteY21" fmla="*/ 2030931 h 5476775"/>
              <a:gd name="connsiteX22" fmla="*/ 5380522 w 5380522"/>
              <a:gd name="connsiteY22" fmla="*/ 1722922 h 5476775"/>
              <a:gd name="connsiteX23" fmla="*/ 5207267 w 5380522"/>
              <a:gd name="connsiteY23" fmla="*/ 1617045 h 5476775"/>
              <a:gd name="connsiteX24" fmla="*/ 5139891 w 5380522"/>
              <a:gd name="connsiteY24" fmla="*/ 1289786 h 5476775"/>
              <a:gd name="connsiteX25" fmla="*/ 5139891 w 5380522"/>
              <a:gd name="connsiteY25" fmla="*/ 1087655 h 5476775"/>
              <a:gd name="connsiteX26" fmla="*/ 4985886 w 5380522"/>
              <a:gd name="connsiteY26" fmla="*/ 673769 h 5476775"/>
              <a:gd name="connsiteX27" fmla="*/ 4687503 w 5380522"/>
              <a:gd name="connsiteY27" fmla="*/ 664144 h 5476775"/>
              <a:gd name="connsiteX28" fmla="*/ 4437246 w 5380522"/>
              <a:gd name="connsiteY28" fmla="*/ 664144 h 5476775"/>
              <a:gd name="connsiteX29" fmla="*/ 4263992 w 5380522"/>
              <a:gd name="connsiteY29" fmla="*/ 577516 h 5476775"/>
              <a:gd name="connsiteX30" fmla="*/ 4109987 w 5380522"/>
              <a:gd name="connsiteY30" fmla="*/ 192506 h 5476775"/>
              <a:gd name="connsiteX31" fmla="*/ 3715352 w 5380522"/>
              <a:gd name="connsiteY31" fmla="*/ 115504 h 5476775"/>
              <a:gd name="connsiteX32" fmla="*/ 3619099 w 5380522"/>
              <a:gd name="connsiteY32" fmla="*/ 86628 h 5476775"/>
              <a:gd name="connsiteX33" fmla="*/ 3388093 w 5380522"/>
              <a:gd name="connsiteY33" fmla="*/ 19251 h 5476775"/>
              <a:gd name="connsiteX34" fmla="*/ 3051208 w 5380522"/>
              <a:gd name="connsiteY34" fmla="*/ 57752 h 5476775"/>
              <a:gd name="connsiteX35" fmla="*/ 2897204 w 5380522"/>
              <a:gd name="connsiteY35" fmla="*/ 57752 h 5476775"/>
              <a:gd name="connsiteX36" fmla="*/ 2772076 w 5380522"/>
              <a:gd name="connsiteY36" fmla="*/ 96253 h 5476775"/>
              <a:gd name="connsiteX37" fmla="*/ 2541069 w 5380522"/>
              <a:gd name="connsiteY37" fmla="*/ 144379 h 5476775"/>
              <a:gd name="connsiteX38" fmla="*/ 2377440 w 5380522"/>
              <a:gd name="connsiteY38" fmla="*/ 86628 h 5476775"/>
              <a:gd name="connsiteX39" fmla="*/ 2213811 w 5380522"/>
              <a:gd name="connsiteY39" fmla="*/ 202131 h 5476775"/>
              <a:gd name="connsiteX40" fmla="*/ 1876926 w 5380522"/>
              <a:gd name="connsiteY40" fmla="*/ 0 h 5476775"/>
              <a:gd name="connsiteX41" fmla="*/ 1443789 w 5380522"/>
              <a:gd name="connsiteY41" fmla="*/ 125129 h 5476775"/>
              <a:gd name="connsiteX42" fmla="*/ 1251284 w 5380522"/>
              <a:gd name="connsiteY42" fmla="*/ 510139 h 5476775"/>
              <a:gd name="connsiteX43" fmla="*/ 991402 w 5380522"/>
              <a:gd name="connsiteY43" fmla="*/ 606392 h 5476775"/>
              <a:gd name="connsiteX44" fmla="*/ 567891 w 5380522"/>
              <a:gd name="connsiteY44" fmla="*/ 673769 h 5476775"/>
              <a:gd name="connsiteX45" fmla="*/ 336884 w 5380522"/>
              <a:gd name="connsiteY45" fmla="*/ 847024 h 5476775"/>
              <a:gd name="connsiteX46" fmla="*/ 67377 w 5380522"/>
              <a:gd name="connsiteY46" fmla="*/ 1251285 h 5476775"/>
              <a:gd name="connsiteX47" fmla="*/ 9625 w 5380522"/>
              <a:gd name="connsiteY47" fmla="*/ 1568918 h 5476775"/>
              <a:gd name="connsiteX48" fmla="*/ 0 w 5380522"/>
              <a:gd name="connsiteY48" fmla="*/ 1809550 h 5476775"/>
              <a:gd name="connsiteX49" fmla="*/ 269507 w 5380522"/>
              <a:gd name="connsiteY49" fmla="*/ 2098308 h 5476775"/>
              <a:gd name="connsiteX50" fmla="*/ 606392 w 5380522"/>
              <a:gd name="connsiteY50" fmla="*/ 2271562 h 5476775"/>
              <a:gd name="connsiteX51" fmla="*/ 731520 w 5380522"/>
              <a:gd name="connsiteY51" fmla="*/ 2637322 h 5476775"/>
              <a:gd name="connsiteX52" fmla="*/ 991402 w 5380522"/>
              <a:gd name="connsiteY52" fmla="*/ 2820202 h 5476775"/>
              <a:gd name="connsiteX53" fmla="*/ 1164657 w 5380522"/>
              <a:gd name="connsiteY53" fmla="*/ 2926080 h 5476775"/>
              <a:gd name="connsiteX54" fmla="*/ 1280160 w 5380522"/>
              <a:gd name="connsiteY54" fmla="*/ 3128211 h 5476775"/>
              <a:gd name="connsiteX55" fmla="*/ 1270535 w 5380522"/>
              <a:gd name="connsiteY55" fmla="*/ 3503596 h 5476775"/>
              <a:gd name="connsiteX56" fmla="*/ 1164657 w 5380522"/>
              <a:gd name="connsiteY56" fmla="*/ 3955984 h 5476775"/>
              <a:gd name="connsiteX57" fmla="*/ 1299411 w 5380522"/>
              <a:gd name="connsiteY57" fmla="*/ 4937760 h 5476775"/>
              <a:gd name="connsiteX58" fmla="*/ 1501541 w 5380522"/>
              <a:gd name="connsiteY58" fmla="*/ 5438274 h 5476775"/>
              <a:gd name="connsiteX59" fmla="*/ 1953928 w 5380522"/>
              <a:gd name="connsiteY59" fmla="*/ 5419024 h 5476775"/>
              <a:gd name="connsiteX60" fmla="*/ 2059806 w 5380522"/>
              <a:gd name="connsiteY60" fmla="*/ 5168767 h 5476775"/>
              <a:gd name="connsiteX61" fmla="*/ 2271562 w 5380522"/>
              <a:gd name="connsiteY61" fmla="*/ 5101390 h 5476775"/>
              <a:gd name="connsiteX62" fmla="*/ 2464067 w 5380522"/>
              <a:gd name="connsiteY62" fmla="*/ 5111015 h 5476775"/>
              <a:gd name="connsiteX63" fmla="*/ 2531444 w 5380522"/>
              <a:gd name="connsiteY63" fmla="*/ 5197642 h 54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380522" h="5476775">
                <a:moveTo>
                  <a:pt x="2531444" y="5197642"/>
                </a:moveTo>
                <a:lnTo>
                  <a:pt x="3060834" y="5111015"/>
                </a:lnTo>
                <a:lnTo>
                  <a:pt x="3099335" y="5178392"/>
                </a:lnTo>
                <a:lnTo>
                  <a:pt x="3022333" y="5293895"/>
                </a:lnTo>
                <a:lnTo>
                  <a:pt x="3022333" y="5419024"/>
                </a:lnTo>
                <a:lnTo>
                  <a:pt x="3224463" y="5476775"/>
                </a:lnTo>
                <a:lnTo>
                  <a:pt x="3407343" y="5457525"/>
                </a:lnTo>
                <a:lnTo>
                  <a:pt x="3388093" y="5111015"/>
                </a:lnTo>
                <a:lnTo>
                  <a:pt x="3513221" y="4610501"/>
                </a:lnTo>
                <a:lnTo>
                  <a:pt x="3705726" y="4071487"/>
                </a:lnTo>
                <a:lnTo>
                  <a:pt x="3888606" y="3975234"/>
                </a:lnTo>
                <a:lnTo>
                  <a:pt x="4138863" y="3927108"/>
                </a:lnTo>
                <a:lnTo>
                  <a:pt x="4196615" y="3580598"/>
                </a:lnTo>
                <a:lnTo>
                  <a:pt x="4244741" y="3301466"/>
                </a:lnTo>
                <a:lnTo>
                  <a:pt x="4360244" y="3012708"/>
                </a:lnTo>
                <a:lnTo>
                  <a:pt x="4225491" y="2935706"/>
                </a:lnTo>
                <a:lnTo>
                  <a:pt x="4273617" y="2512194"/>
                </a:lnTo>
                <a:lnTo>
                  <a:pt x="4649002" y="2367815"/>
                </a:lnTo>
                <a:lnTo>
                  <a:pt x="4754880" y="2117558"/>
                </a:lnTo>
                <a:lnTo>
                  <a:pt x="4880008" y="1934678"/>
                </a:lnTo>
                <a:lnTo>
                  <a:pt x="5091764" y="1925053"/>
                </a:lnTo>
                <a:lnTo>
                  <a:pt x="5236143" y="2030931"/>
                </a:lnTo>
                <a:lnTo>
                  <a:pt x="5380522" y="1722922"/>
                </a:lnTo>
                <a:lnTo>
                  <a:pt x="5207267" y="1617045"/>
                </a:lnTo>
                <a:lnTo>
                  <a:pt x="5139891" y="1289786"/>
                </a:lnTo>
                <a:lnTo>
                  <a:pt x="5139891" y="1087655"/>
                </a:lnTo>
                <a:lnTo>
                  <a:pt x="4985886" y="673769"/>
                </a:lnTo>
                <a:lnTo>
                  <a:pt x="4687503" y="664144"/>
                </a:lnTo>
                <a:lnTo>
                  <a:pt x="4437246" y="664144"/>
                </a:lnTo>
                <a:lnTo>
                  <a:pt x="4263992" y="577516"/>
                </a:lnTo>
                <a:lnTo>
                  <a:pt x="4109987" y="192506"/>
                </a:lnTo>
                <a:lnTo>
                  <a:pt x="3715352" y="115504"/>
                </a:lnTo>
                <a:lnTo>
                  <a:pt x="3619099" y="86628"/>
                </a:lnTo>
                <a:lnTo>
                  <a:pt x="3388093" y="19251"/>
                </a:lnTo>
                <a:lnTo>
                  <a:pt x="3051208" y="57752"/>
                </a:lnTo>
                <a:lnTo>
                  <a:pt x="2897204" y="57752"/>
                </a:lnTo>
                <a:lnTo>
                  <a:pt x="2772076" y="96253"/>
                </a:lnTo>
                <a:lnTo>
                  <a:pt x="2541069" y="144379"/>
                </a:lnTo>
                <a:lnTo>
                  <a:pt x="2377440" y="86628"/>
                </a:lnTo>
                <a:lnTo>
                  <a:pt x="2213811" y="202131"/>
                </a:lnTo>
                <a:lnTo>
                  <a:pt x="1876926" y="0"/>
                </a:lnTo>
                <a:lnTo>
                  <a:pt x="1443789" y="125129"/>
                </a:lnTo>
                <a:lnTo>
                  <a:pt x="1251284" y="510139"/>
                </a:lnTo>
                <a:lnTo>
                  <a:pt x="991402" y="606392"/>
                </a:lnTo>
                <a:lnTo>
                  <a:pt x="567891" y="673769"/>
                </a:lnTo>
                <a:lnTo>
                  <a:pt x="336884" y="847024"/>
                </a:lnTo>
                <a:lnTo>
                  <a:pt x="67377" y="1251285"/>
                </a:lnTo>
                <a:lnTo>
                  <a:pt x="9625" y="1568918"/>
                </a:lnTo>
                <a:lnTo>
                  <a:pt x="0" y="1809550"/>
                </a:lnTo>
                <a:lnTo>
                  <a:pt x="269507" y="2098308"/>
                </a:lnTo>
                <a:lnTo>
                  <a:pt x="606392" y="2271562"/>
                </a:lnTo>
                <a:lnTo>
                  <a:pt x="731520" y="2637322"/>
                </a:lnTo>
                <a:lnTo>
                  <a:pt x="991402" y="2820202"/>
                </a:lnTo>
                <a:lnTo>
                  <a:pt x="1164657" y="2926080"/>
                </a:lnTo>
                <a:lnTo>
                  <a:pt x="1280160" y="3128211"/>
                </a:lnTo>
                <a:lnTo>
                  <a:pt x="1270535" y="3503596"/>
                </a:lnTo>
                <a:lnTo>
                  <a:pt x="1164657" y="3955984"/>
                </a:lnTo>
                <a:lnTo>
                  <a:pt x="1299411" y="4937760"/>
                </a:lnTo>
                <a:lnTo>
                  <a:pt x="1501541" y="5438274"/>
                </a:lnTo>
                <a:lnTo>
                  <a:pt x="1953928" y="5419024"/>
                </a:lnTo>
                <a:lnTo>
                  <a:pt x="2059806" y="5168767"/>
                </a:lnTo>
                <a:lnTo>
                  <a:pt x="2271562" y="5101390"/>
                </a:lnTo>
                <a:lnTo>
                  <a:pt x="2464067" y="5111015"/>
                </a:lnTo>
                <a:lnTo>
                  <a:pt x="2531444" y="519764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697" y="3541207"/>
            <a:ext cx="729365" cy="70133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577" y="2064102"/>
            <a:ext cx="562949" cy="5629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759" y="2813206"/>
            <a:ext cx="562949" cy="5629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61779" y="3629538"/>
            <a:ext cx="782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</a:rPr>
              <a:t>IR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52205" y="2883268"/>
            <a:ext cx="782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</a:rPr>
              <a:t>IR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33347" y="3626419"/>
            <a:ext cx="782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</a:rPr>
              <a:t>IR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75022" y="2080119"/>
            <a:ext cx="7827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FFC000"/>
                </a:solidFill>
              </a:rPr>
              <a:t>IR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74126" y="5348262"/>
            <a:ext cx="8127764" cy="565667"/>
          </a:xfrm>
          <a:prstGeom prst="rect">
            <a:avLst/>
          </a:prstGeom>
          <a:solidFill>
            <a:srgbClr val="FFC000"/>
          </a:solidFill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latin typeface="+mn-lt"/>
              </a:rPr>
              <a:t>For most of these vaccines two injections are required.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AA874C-DDA2-45D6-9072-ACC4A316D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354" y="4413836"/>
            <a:ext cx="562949" cy="5629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81194C-4D86-4AB8-880A-034EBF686D26}"/>
              </a:ext>
            </a:extLst>
          </p:cNvPr>
          <p:cNvSpPr txBox="1"/>
          <p:nvPr/>
        </p:nvSpPr>
        <p:spPr>
          <a:xfrm>
            <a:off x="1" y="5766251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2064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73" y="690988"/>
            <a:ext cx="7886700" cy="994172"/>
          </a:xfrm>
        </p:spPr>
        <p:txBody>
          <a:bodyPr/>
          <a:lstStyle/>
          <a:p>
            <a:r>
              <a:rPr lang="en-US" b="1" dirty="0">
                <a:latin typeface="+mn-lt"/>
              </a:rPr>
              <a:t>How does a Phase III study work?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4" y="1905730"/>
            <a:ext cx="557274" cy="974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50" y="4765149"/>
            <a:ext cx="557274" cy="9747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03" y="3959263"/>
            <a:ext cx="557274" cy="9747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77" y="2412545"/>
            <a:ext cx="557274" cy="9747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93" y="1832665"/>
            <a:ext cx="557274" cy="9747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767" y="2393087"/>
            <a:ext cx="557274" cy="9747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52" y="4028710"/>
            <a:ext cx="557274" cy="9747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26" y="4783656"/>
            <a:ext cx="557274" cy="97471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127373" y="1224420"/>
            <a:ext cx="2394558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Vaccine group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27373" y="5336143"/>
            <a:ext cx="303251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Placebo control group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4193754" y="2880445"/>
            <a:ext cx="4530436" cy="230949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Conducted by independent medical centers (usually geographically distributed)</a:t>
            </a:r>
          </a:p>
          <a:p>
            <a:endParaRPr lang="en-US" sz="2400" b="1" dirty="0">
              <a:latin typeface="+mn-lt"/>
            </a:endParaRPr>
          </a:p>
          <a:p>
            <a:r>
              <a:rPr lang="en-US" sz="2400" b="1" dirty="0">
                <a:latin typeface="+mn-lt"/>
              </a:rPr>
              <a:t>An independent committee watches the data</a:t>
            </a:r>
          </a:p>
          <a:p>
            <a:endParaRPr lang="en-US" sz="2400" b="1" dirty="0">
              <a:latin typeface="+mn-lt"/>
            </a:endParaRPr>
          </a:p>
          <a:p>
            <a:r>
              <a:rPr lang="en-US" sz="2400" b="1" dirty="0">
                <a:latin typeface="+mn-lt"/>
              </a:rPr>
              <a:t>Analysis </a:t>
            </a:r>
            <a:r>
              <a:rPr lang="en-US" sz="2400" b="1" dirty="0" err="1">
                <a:latin typeface="+mn-lt"/>
              </a:rPr>
              <a:t>timepoints</a:t>
            </a:r>
            <a:r>
              <a:rPr lang="en-US" sz="2400" b="1" dirty="0">
                <a:latin typeface="+mn-lt"/>
              </a:rPr>
              <a:t> and success are pre-defined</a:t>
            </a:r>
          </a:p>
          <a:p>
            <a:endParaRPr lang="en-US" sz="2400" b="1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66E62-F833-40D1-A3FA-DE3BA02B67EC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3223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4" y="1905730"/>
            <a:ext cx="557274" cy="9747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50" y="4765149"/>
            <a:ext cx="557274" cy="9747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03" y="3959263"/>
            <a:ext cx="557274" cy="9747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77" y="2412545"/>
            <a:ext cx="557274" cy="9747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93" y="1832665"/>
            <a:ext cx="557274" cy="9747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767" y="2393087"/>
            <a:ext cx="557274" cy="9747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652" y="4028710"/>
            <a:ext cx="557274" cy="9747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26" y="4783656"/>
            <a:ext cx="557274" cy="974715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>
          <a:xfrm>
            <a:off x="3437681" y="3387260"/>
            <a:ext cx="2057400" cy="8295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4083707" y="2890174"/>
            <a:ext cx="1524227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Time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09" y="4782133"/>
            <a:ext cx="557274" cy="974715"/>
          </a:xfrm>
          <a:prstGeom prst="rect">
            <a:avLst/>
          </a:prstGeom>
          <a:solidFill>
            <a:srgbClr val="FF0000"/>
          </a:solidFill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62" y="3976247"/>
            <a:ext cx="557274" cy="97471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112" y="4045694"/>
            <a:ext cx="557274" cy="9747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386" y="4800640"/>
            <a:ext cx="557274" cy="9747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720" y="1642864"/>
            <a:ext cx="557274" cy="9747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963" y="2149679"/>
            <a:ext cx="557274" cy="97471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079" y="1569799"/>
            <a:ext cx="557274" cy="9747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353" y="2130221"/>
            <a:ext cx="557274" cy="97471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802966" y="4782133"/>
            <a:ext cx="836326" cy="993222"/>
          </a:xfrm>
          <a:prstGeom prst="ellipse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616823" y="4653851"/>
            <a:ext cx="1524227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FF0000"/>
                </a:solidFill>
                <a:latin typeface="+mn-lt"/>
              </a:rPr>
              <a:t>COVID-19!!!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27373" y="690988"/>
            <a:ext cx="7886700" cy="994172"/>
          </a:xfrm>
        </p:spPr>
        <p:txBody>
          <a:bodyPr/>
          <a:lstStyle/>
          <a:p>
            <a:r>
              <a:rPr lang="en-US" b="1" dirty="0">
                <a:latin typeface="+mn-lt"/>
              </a:rPr>
              <a:t>How does a Phase III study work?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27373" y="1224420"/>
            <a:ext cx="2394558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Vaccine group</a:t>
            </a: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127373" y="5336143"/>
            <a:ext cx="303251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Placebo control group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587398-18A9-42B9-BD27-E67849BF2263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48106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What do the Pfizer results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69"/>
            <a:ext cx="7886700" cy="35283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43,538 individuals are in the study</a:t>
            </a:r>
          </a:p>
          <a:p>
            <a:r>
              <a:rPr lang="en-US" b="1" dirty="0"/>
              <a:t>170 COVID-19 cases were recorded</a:t>
            </a:r>
          </a:p>
          <a:p>
            <a:pPr lvl="1"/>
            <a:r>
              <a:rPr lang="en-US" b="1" dirty="0"/>
              <a:t>162 in the placebo group (9 severe)</a:t>
            </a:r>
          </a:p>
          <a:p>
            <a:pPr lvl="1"/>
            <a:r>
              <a:rPr lang="en-US" b="1" dirty="0"/>
              <a:t>8 in the vaccine group (1 severe)</a:t>
            </a:r>
          </a:p>
          <a:p>
            <a:r>
              <a:rPr lang="en-US" b="1" dirty="0"/>
              <a:t>95% efficacy against symptomatic disease (one symptom plus PCR+, they start measuring this 7 days post dose 2)</a:t>
            </a:r>
          </a:p>
          <a:p>
            <a:r>
              <a:rPr lang="en-US" b="1" dirty="0"/>
              <a:t>94% efficacy in the 65-85 year old group</a:t>
            </a:r>
          </a:p>
          <a:p>
            <a:r>
              <a:rPr lang="en-US" b="1" dirty="0"/>
              <a:t>No significant safety concerns</a:t>
            </a:r>
          </a:p>
          <a:p>
            <a:endParaRPr lang="en-US" b="1" dirty="0"/>
          </a:p>
          <a:p>
            <a:r>
              <a:rPr lang="en-US" b="1" dirty="0"/>
              <a:t>The vaccine received different degrees of approval in Bahrain, the UK, Mexico, Canada, Saudi Arabia, the EU, the US etc.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2250" b="1" u="sng" dirty="0" err="1"/>
              <a:t>Moderna</a:t>
            </a:r>
            <a:r>
              <a:rPr lang="en-US" sz="2250" b="1" u="sng" dirty="0"/>
              <a:t> data look almost identical</a:t>
            </a:r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683" y="1219502"/>
            <a:ext cx="1202710" cy="1182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1C23-03EB-4D97-8244-C156D9046072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3544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85" y="1307986"/>
            <a:ext cx="5349830" cy="42420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7763" y="5638880"/>
            <a:ext cx="58951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https://www.fda.gov/media/144245/download</a:t>
            </a:r>
            <a:r>
              <a:rPr lang="en-US" dirty="0"/>
              <a:t> accessed 8Dec20</a:t>
            </a:r>
          </a:p>
        </p:txBody>
      </p:sp>
      <p:sp>
        <p:nvSpPr>
          <p:cNvPr id="4" name="Down Arrow 3"/>
          <p:cNvSpPr/>
          <p:nvPr/>
        </p:nvSpPr>
        <p:spPr>
          <a:xfrm>
            <a:off x="2348345" y="3448050"/>
            <a:ext cx="297873" cy="49356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3159824" y="3201267"/>
            <a:ext cx="297873" cy="49356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6D273-ED77-4A0B-A028-396F351A1326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23263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71488" y="1061002"/>
            <a:ext cx="7482753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b="1" dirty="0">
                <a:latin typeface="+mn-lt"/>
              </a:rPr>
              <a:t>RNA vaccines are a relatively new development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325" y="2173628"/>
            <a:ext cx="6688916" cy="3249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039CC2-6483-46B6-9614-EEC3C3FC4BE7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877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What do the J&amp;J results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255" y="2069927"/>
            <a:ext cx="7886700" cy="35283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One dose!</a:t>
            </a:r>
          </a:p>
          <a:p>
            <a:r>
              <a:rPr lang="en-US" b="1" dirty="0"/>
              <a:t>43,783 individuals are in the study</a:t>
            </a:r>
          </a:p>
          <a:p>
            <a:r>
              <a:rPr lang="en-US" b="1" dirty="0"/>
              <a:t>USA, South Africa and Latin America</a:t>
            </a:r>
          </a:p>
          <a:p>
            <a:r>
              <a:rPr lang="en-US" b="1" dirty="0"/>
              <a:t>US efficacy 72% against moderate to severe COVID-19 (2 symptoms plus PCR+ was counted as moderate)</a:t>
            </a:r>
          </a:p>
          <a:p>
            <a:r>
              <a:rPr lang="en-US" b="1" dirty="0"/>
              <a:t>85% efficacy across all studies against severe disease</a:t>
            </a:r>
          </a:p>
          <a:p>
            <a:r>
              <a:rPr lang="en-US" b="1" dirty="0"/>
              <a:t>100% protection against hospitalization and death</a:t>
            </a:r>
          </a:p>
          <a:p>
            <a:r>
              <a:rPr lang="en-US" b="1" dirty="0"/>
              <a:t>No significant safety concerns</a:t>
            </a:r>
          </a:p>
          <a:p>
            <a:r>
              <a:rPr lang="en-US" b="1" dirty="0"/>
              <a:t>Some indication of reduction of asymptomatic infections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857" y="1090477"/>
            <a:ext cx="1372049" cy="1206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3AA07E-4CD0-4364-B4BC-605CB17F8D8C}"/>
              </a:ext>
            </a:extLst>
          </p:cNvPr>
          <p:cNvSpPr txBox="1"/>
          <p:nvPr/>
        </p:nvSpPr>
        <p:spPr>
          <a:xfrm>
            <a:off x="7180990" y="5769917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20076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Are vectored vaccines a relatively new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945357"/>
            <a:ext cx="7886700" cy="2809475"/>
          </a:xfrm>
        </p:spPr>
        <p:txBody>
          <a:bodyPr>
            <a:normAutofit/>
          </a:bodyPr>
          <a:lstStyle/>
          <a:p>
            <a:r>
              <a:rPr lang="en-US" b="1" dirty="0"/>
              <a:t>Ad26-based Ebola vaccine licensed in the EU</a:t>
            </a:r>
          </a:p>
          <a:p>
            <a:r>
              <a:rPr lang="en-US" b="1" dirty="0"/>
              <a:t>Ad4 and Ad7 vaccines in use in the US military since 1971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69969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19126" y="1386919"/>
            <a:ext cx="3819474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>
                <a:latin typeface="+mn-lt"/>
              </a:rPr>
              <a:t>Reactogenicity</a:t>
            </a:r>
            <a:endParaRPr lang="en-US" sz="3000" b="1" dirty="0">
              <a:latin typeface="+mn-lt"/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19125" y="2097232"/>
            <a:ext cx="3493893" cy="322118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/>
              <a:t>Injection site pain</a:t>
            </a:r>
          </a:p>
          <a:p>
            <a:r>
              <a:rPr lang="en-US" sz="2100" b="1" dirty="0"/>
              <a:t>Headache</a:t>
            </a:r>
          </a:p>
          <a:p>
            <a:r>
              <a:rPr lang="en-US" sz="2100" b="1" dirty="0"/>
              <a:t>Fatigue </a:t>
            </a:r>
          </a:p>
          <a:p>
            <a:r>
              <a:rPr lang="en-US" sz="2100" b="1" dirty="0"/>
              <a:t>Elevated temperature</a:t>
            </a:r>
          </a:p>
          <a:p>
            <a:r>
              <a:rPr lang="en-US" sz="2100" b="1" dirty="0"/>
              <a:t>Myalgia</a:t>
            </a:r>
          </a:p>
          <a:p>
            <a:r>
              <a:rPr lang="en-US" sz="2100" b="1" dirty="0"/>
              <a:t>Mild flu-like symptoms</a:t>
            </a:r>
          </a:p>
          <a:p>
            <a:pPr lvl="1"/>
            <a:endParaRPr lang="en-US" sz="1800" b="1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sz="2100" b="1" dirty="0">
                <a:sym typeface="Wingdings" panose="05000000000000000000" pitchFamily="2" charset="2"/>
              </a:rPr>
              <a:t>unpleasant, but not dangerous</a:t>
            </a:r>
          </a:p>
          <a:p>
            <a:pPr marL="0" indent="0">
              <a:buNone/>
            </a:pPr>
            <a:endParaRPr lang="en-US" sz="21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100" b="1" dirty="0" err="1">
                <a:sym typeface="Wingdings" panose="05000000000000000000" pitchFamily="2" charset="2"/>
              </a:rPr>
              <a:t>AdV</a:t>
            </a:r>
            <a:r>
              <a:rPr lang="en-US" sz="2100" b="1" dirty="0">
                <a:sym typeface="Wingdings" panose="05000000000000000000" pitchFamily="2" charset="2"/>
              </a:rPr>
              <a:t>=mRNA&gt;recombinant protein&gt;inactivated vaccine</a:t>
            </a:r>
          </a:p>
          <a:p>
            <a:pPr marL="0" indent="0">
              <a:buNone/>
            </a:pPr>
            <a:endParaRPr lang="en-US" sz="21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100" b="1" dirty="0">
                <a:sym typeface="Wingdings" panose="05000000000000000000" pitchFamily="2" charset="2"/>
              </a:rPr>
              <a:t>Strength of adjuvant!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endParaRPr lang="en-US" sz="2100" b="1" dirty="0">
              <a:sym typeface="Wingdings" panose="05000000000000000000" pitchFamily="2" charset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164" y="905741"/>
            <a:ext cx="4930108" cy="4884149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933338" y="5566375"/>
            <a:ext cx="3590171" cy="994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350" b="1" dirty="0" err="1">
                <a:latin typeface="+mn-lt"/>
              </a:rPr>
              <a:t>Moderna</a:t>
            </a:r>
            <a:r>
              <a:rPr lang="en-US" sz="1350" b="1" dirty="0">
                <a:latin typeface="+mn-lt"/>
              </a:rPr>
              <a:t>/VRC mRNA 1273 via LNPs</a:t>
            </a:r>
            <a:endParaRPr lang="en-US" sz="1050" b="1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AE348-6405-42E9-A641-D9968D98A8FA}"/>
              </a:ext>
            </a:extLst>
          </p:cNvPr>
          <p:cNvSpPr txBox="1"/>
          <p:nvPr/>
        </p:nvSpPr>
        <p:spPr>
          <a:xfrm>
            <a:off x="219125" y="6172200"/>
            <a:ext cx="22541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Special thanks to Florian </a:t>
            </a:r>
            <a:r>
              <a:rPr lang="en-US" sz="1050" dirty="0" err="1"/>
              <a:t>Krammer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7690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597D-DA8B-48A8-9554-F705CF0B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016057"/>
            <a:ext cx="7791204" cy="36328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Vaccines work in older individuals and boost memory in infected individuals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455770-A663-4BD9-BAE9-D2085F27EF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32258" y="1723473"/>
            <a:ext cx="4713404" cy="194776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FF708-131C-4CD3-AF94-9A74CFBDA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8338" y="4459605"/>
            <a:ext cx="3281516" cy="1349845"/>
          </a:xfrm>
        </p:spPr>
        <p:txBody>
          <a:bodyPr>
            <a:normAutofit/>
          </a:bodyPr>
          <a:lstStyle/>
          <a:p>
            <a:pPr algn="ctr"/>
            <a:r>
              <a:rPr lang="en-US" sz="1500" dirty="0"/>
              <a:t>Post-infection, a single dose of the Pfizer/</a:t>
            </a:r>
            <a:r>
              <a:rPr lang="en-US" sz="1500" dirty="0" err="1"/>
              <a:t>BioNTech</a:t>
            </a:r>
            <a:r>
              <a:rPr lang="en-US" sz="1500" dirty="0"/>
              <a:t> vaccine was equivalent to two doses of the vaccine in naïve individuals</a:t>
            </a:r>
          </a:p>
          <a:p>
            <a:pPr algn="ctr"/>
            <a:r>
              <a:rPr lang="en-US" sz="1500" dirty="0"/>
              <a:t>Still a significant boost!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0381CE-C831-4DDE-8652-CDC14E584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206" y="3869311"/>
            <a:ext cx="3569327" cy="508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677DE-BF01-4CBC-AF4A-6222CD683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042" y="3566211"/>
            <a:ext cx="2733316" cy="845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A40F5-A5C2-4794-81F5-2773B9213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6" y="1880215"/>
            <a:ext cx="4373912" cy="1640594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24B31E8-278B-4946-AABA-00E01DC45995}"/>
              </a:ext>
            </a:extLst>
          </p:cNvPr>
          <p:cNvSpPr txBox="1">
            <a:spLocks/>
          </p:cNvSpPr>
          <p:nvPr/>
        </p:nvSpPr>
        <p:spPr>
          <a:xfrm>
            <a:off x="761755" y="4459605"/>
            <a:ext cx="3281516" cy="134984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/>
              <a:t>Vaccines work faster in younger individuals and with lower doses</a:t>
            </a:r>
          </a:p>
          <a:p>
            <a:pPr algn="ctr"/>
            <a:r>
              <a:rPr lang="en-US" sz="1500" dirty="0"/>
              <a:t>With recommended dose, older individuals still generate high levels of protective immunity</a:t>
            </a:r>
          </a:p>
          <a:p>
            <a:pPr algn="ctr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3469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7F50-2F71-D13A-DB47-DB85F935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Hepatitis C virus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3A939511-A3A0-2798-BB39-83FB3A41979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en-US"/>
              <a:t>Enveloped, positive strand RNA virus, </a:t>
            </a:r>
            <a:r>
              <a:rPr lang="en-US" altLang="en-US" i="1"/>
              <a:t>Flaviviridae</a:t>
            </a:r>
            <a:endParaRPr lang="en-US" altLang="en-US"/>
          </a:p>
          <a:p>
            <a:pPr eaLnBrk="1" hangingPunct="1"/>
            <a:r>
              <a:rPr lang="en-US" altLang="en-US"/>
              <a:t>Isolated in 1989, treatments first emerged in early 1990s</a:t>
            </a:r>
          </a:p>
          <a:p>
            <a:pPr eaLnBrk="1" hangingPunct="1"/>
            <a:r>
              <a:rPr lang="en-US" altLang="en-US"/>
              <a:t>~120 million-200 million infections worldwide, number one indication for liver transplant in the U.S.</a:t>
            </a:r>
          </a:p>
          <a:p>
            <a:pPr eaLnBrk="1" hangingPunct="1"/>
            <a:r>
              <a:rPr lang="en-US" altLang="en-US"/>
              <a:t>10</a:t>
            </a:r>
            <a:r>
              <a:rPr lang="en-US" altLang="en-US" baseline="30000"/>
              <a:t>12</a:t>
            </a:r>
            <a:r>
              <a:rPr lang="en-US" altLang="en-US"/>
              <a:t> viral particles produced/day, ½ life 3 hours in circulation</a:t>
            </a:r>
          </a:p>
          <a:p>
            <a:pPr eaLnBrk="1" hangingPunct="1"/>
            <a:r>
              <a:rPr lang="en-US" altLang="en-US"/>
              <a:t>Six major genotypes, 3 dominate in the U.S. (1, 2, 3)</a:t>
            </a:r>
          </a:p>
          <a:p>
            <a:pPr lvl="1" eaLnBrk="1" hangingPunct="1"/>
            <a:r>
              <a:rPr lang="en-US" altLang="en-US"/>
              <a:t>30-50% genetic variation among genotypes</a:t>
            </a:r>
          </a:p>
          <a:p>
            <a:pPr lvl="1" eaLnBrk="1" hangingPunct="1"/>
            <a:r>
              <a:rPr lang="en-US" altLang="en-US"/>
              <a:t>1-5% variation among viruses within a single patient</a:t>
            </a:r>
          </a:p>
          <a:p>
            <a:pPr eaLnBrk="1" hangingPunct="1"/>
            <a:r>
              <a:rPr lang="en-US" altLang="en-US"/>
              <a:t>Replicates via negative-stranded RNA in membranous web in cytoplasm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CA75-5A5D-4954-14F7-C6F30D2C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858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HCV Structure</a:t>
            </a:r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F3DAA7AC-4355-EEF7-90AD-A5CB2BC86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4"/>
          <a:stretch>
            <a:fillRect/>
          </a:stretch>
        </p:blipFill>
        <p:spPr bwMode="auto">
          <a:xfrm>
            <a:off x="1828800" y="428625"/>
            <a:ext cx="5562600" cy="637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2677-27D6-79E2-50A1-5EB7B193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HCV life cycle</a:t>
            </a:r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D6D89FEF-65D6-FFC8-D97C-25025C6E9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26"/>
          <a:stretch>
            <a:fillRect/>
          </a:stretch>
        </p:blipFill>
        <p:spPr bwMode="auto">
          <a:xfrm>
            <a:off x="0" y="1524000"/>
            <a:ext cx="90598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D853-6B4F-649C-A8E5-9FF12F14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810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Receptors for Viral entry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C56D4776-A8AC-CDA0-825B-5203E9E0C3B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774700"/>
            <a:ext cx="7620000" cy="5016500"/>
          </a:xfrm>
          <a:noFill/>
        </p:spPr>
      </p:pic>
      <p:sp>
        <p:nvSpPr>
          <p:cNvPr id="13316" name="TextBox 4">
            <a:extLst>
              <a:ext uri="{FF2B5EF4-FFF2-40B4-BE49-F238E27FC236}">
                <a16:creationId xmlns:a16="http://schemas.microsoft.com/office/drawing/2014/main" id="{9AA71CE6-A319-A3C2-AD50-3065C9E00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19800"/>
            <a:ext cx="76231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HCV receptors for cell entry</a:t>
            </a:r>
            <a:r>
              <a:rPr lang="en-US" altLang="en-US" sz="1800">
                <a:latin typeface="Arial" panose="020B0604020202020204" pitchFamily="34" charset="0"/>
              </a:rPr>
              <a:t>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Ashfaq </a:t>
            </a:r>
            <a:r>
              <a:rPr lang="en-US" altLang="en-US" sz="1800" i="1">
                <a:latin typeface="Arial" panose="020B0604020202020204" pitchFamily="34" charset="0"/>
              </a:rPr>
              <a:t>et al.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 i="1">
                <a:latin typeface="Arial" panose="020B0604020202020204" pitchFamily="34" charset="0"/>
              </a:rPr>
              <a:t>Virology Journal</a:t>
            </a:r>
            <a:r>
              <a:rPr lang="en-US" altLang="en-US" sz="1800">
                <a:latin typeface="Arial" panose="020B0604020202020204" pitchFamily="34" charset="0"/>
              </a:rPr>
              <a:t> 2011 </a:t>
            </a:r>
            <a:r>
              <a:rPr lang="en-US" altLang="en-US" sz="1800" b="1">
                <a:latin typeface="Arial" panose="020B0604020202020204" pitchFamily="34" charset="0"/>
              </a:rPr>
              <a:t>8</a:t>
            </a:r>
            <a:r>
              <a:rPr lang="en-US" altLang="en-US" sz="1800">
                <a:latin typeface="Arial" panose="020B0604020202020204" pitchFamily="34" charset="0"/>
              </a:rPr>
              <a:t>:161   doi:10.1186/1743-422X-8-161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8A03E-1137-1F9B-0066-0A173AF4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096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HCV Life Cycle 2</a:t>
            </a:r>
          </a:p>
        </p:txBody>
      </p:sp>
      <p:sp>
        <p:nvSpPr>
          <p:cNvPr id="14339" name="Content Placeholder 4">
            <a:extLst>
              <a:ext uri="{FF2B5EF4-FFF2-40B4-BE49-F238E27FC236}">
                <a16:creationId xmlns:a16="http://schemas.microsoft.com/office/drawing/2014/main" id="{E9B38E64-AA91-CE10-78DD-DC4647ADBD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457200"/>
            <a:ext cx="7391400" cy="914400"/>
          </a:xfrm>
        </p:spPr>
        <p:txBody>
          <a:bodyPr/>
          <a:lstStyle/>
          <a:p>
            <a:r>
              <a:rPr lang="en-US" altLang="en-US"/>
              <a:t>HCV-associated disease results from viral persistence leading to long term inflammation and cell turnover</a:t>
            </a:r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FCBE3104-E9F0-D8D1-AF02-A5F2ADF9C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1344613"/>
            <a:ext cx="9120188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276CC-7645-A3AB-DEF4-9A06ED18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858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Mouse model of HCV replication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F3F332B-9B5C-F856-E3CA-164FDA08E4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3581400" cy="4873625"/>
          </a:xfrm>
        </p:spPr>
        <p:txBody>
          <a:bodyPr/>
          <a:lstStyle/>
          <a:p>
            <a:r>
              <a:rPr lang="en-US" altLang="en-US" sz="2800"/>
              <a:t>Previous models relied  human liver transplant into immunodeficient mice—limited usefulness</a:t>
            </a:r>
          </a:p>
          <a:p>
            <a:r>
              <a:rPr lang="en-US" altLang="en-US" sz="2800"/>
              <a:t>Transgenic approach using four known entry factors—Occludin, CD81, SCARB and claudin 1</a:t>
            </a:r>
          </a:p>
        </p:txBody>
      </p:sp>
      <p:pic>
        <p:nvPicPr>
          <p:cNvPr id="15364" name="Picture 2" descr="Genetic requirements for HCV entry in vivo.">
            <a:extLst>
              <a:ext uri="{FF2B5EF4-FFF2-40B4-BE49-F238E27FC236}">
                <a16:creationId xmlns:a16="http://schemas.microsoft.com/office/drawing/2014/main" id="{5A2EF078-6653-775A-0F90-CE198E6B4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921" b="51085"/>
          <a:stretch>
            <a:fillRect/>
          </a:stretch>
        </p:blipFill>
        <p:spPr bwMode="auto">
          <a:xfrm>
            <a:off x="4114800" y="346075"/>
            <a:ext cx="45720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Box 4">
            <a:extLst>
              <a:ext uri="{FF2B5EF4-FFF2-40B4-BE49-F238E27FC236}">
                <a16:creationId xmlns:a16="http://schemas.microsoft.com/office/drawing/2014/main" id="{A27897E9-446E-8F74-CE7F-39764D360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6211888"/>
            <a:ext cx="7083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 genetically humanized mouse model for hepatitis C virus infection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Nature 474, 208–211 (09 June 2011)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14EA-96DD-C78A-B8A4-F9E83976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Arms of the immune response are useful against HCV?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F9555-72DE-3BAE-D71F-9B4B1D19DB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Innate immunity</a:t>
            </a:r>
          </a:p>
          <a:p>
            <a:pPr lvl="1">
              <a:defRPr/>
            </a:pPr>
            <a:r>
              <a:rPr lang="en-US" dirty="0"/>
              <a:t>Antiviral effectors such as IFN that act on host cells, regulating key components of cell biology to limit viral growth and spread</a:t>
            </a:r>
          </a:p>
          <a:p>
            <a:pPr>
              <a:defRPr/>
            </a:pPr>
            <a:r>
              <a:rPr lang="en-US" dirty="0"/>
              <a:t>Antibody-mediated clearance</a:t>
            </a:r>
          </a:p>
          <a:p>
            <a:pPr lvl="1">
              <a:defRPr/>
            </a:pPr>
            <a:r>
              <a:rPr lang="en-US" dirty="0"/>
              <a:t>In principle, antibodies should be able to remove virus as it spreads from cell to cell</a:t>
            </a:r>
          </a:p>
          <a:p>
            <a:pPr lvl="1">
              <a:defRPr/>
            </a:pPr>
            <a:r>
              <a:rPr lang="en-US" dirty="0"/>
              <a:t>In practice, the correlation of antibody with HCV clearance and outcome is controversial or lacking</a:t>
            </a:r>
          </a:p>
          <a:p>
            <a:pPr lvl="1">
              <a:defRPr/>
            </a:pPr>
            <a:r>
              <a:rPr lang="en-US" dirty="0"/>
              <a:t>Patients with high levels of </a:t>
            </a:r>
            <a:r>
              <a:rPr lang="en-US" i="1" dirty="0"/>
              <a:t>neutralizing</a:t>
            </a:r>
            <a:r>
              <a:rPr lang="en-US" dirty="0"/>
              <a:t> antibodies nevertheless maintain chronic infection, indicating that neutralizing antibodies are not </a:t>
            </a:r>
            <a:r>
              <a:rPr lang="en-US" i="1" dirty="0"/>
              <a:t>sterilizing</a:t>
            </a:r>
            <a:endParaRPr lang="en-US" dirty="0"/>
          </a:p>
          <a:p>
            <a:pPr>
              <a:defRPr/>
            </a:pPr>
            <a:r>
              <a:rPr lang="en-US" dirty="0"/>
              <a:t>Cell-mediated clearance</a:t>
            </a:r>
          </a:p>
          <a:p>
            <a:pPr lvl="1">
              <a:defRPr/>
            </a:pPr>
            <a:r>
              <a:rPr lang="en-US" dirty="0"/>
              <a:t>Infected cells can be killed before releasing progeny </a:t>
            </a:r>
            <a:r>
              <a:rPr lang="en-US" dirty="0" err="1"/>
              <a:t>virions</a:t>
            </a:r>
            <a:endParaRPr lang="en-US" dirty="0"/>
          </a:p>
          <a:p>
            <a:pPr lvl="1">
              <a:defRPr/>
            </a:pPr>
            <a:r>
              <a:rPr lang="en-US" dirty="0"/>
              <a:t>Thought to be the primary means of long term control in HCV infection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B714-E6B9-18C6-22C0-890F4462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858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Induction of innate Immunity in 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0074-1E24-EE87-71F9-A951D7BB53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3581400" cy="48736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/>
              <a:t>IFN-induced genes interfere with viral replication directly:</a:t>
            </a:r>
          </a:p>
          <a:p>
            <a:pPr lvl="1" eaLnBrk="1" hangingPunct="1">
              <a:defRPr/>
            </a:pPr>
            <a:r>
              <a:rPr lang="en-US" dirty="0"/>
              <a:t>Reducing protein synthesis by inhibiting initiation factors (PKR, ISG56)</a:t>
            </a:r>
          </a:p>
          <a:p>
            <a:pPr lvl="1" eaLnBrk="1" hangingPunct="1">
              <a:defRPr/>
            </a:pPr>
            <a:r>
              <a:rPr lang="en-US" dirty="0"/>
              <a:t>Targeting of viral RNA (OAS, </a:t>
            </a:r>
            <a:r>
              <a:rPr lang="en-US" dirty="0" err="1"/>
              <a:t>RNAseL</a:t>
            </a:r>
            <a:r>
              <a:rPr lang="en-US" dirty="0"/>
              <a:t>)</a:t>
            </a:r>
          </a:p>
          <a:p>
            <a:pPr eaLnBrk="1" hangingPunct="1">
              <a:defRPr/>
            </a:pPr>
            <a:r>
              <a:rPr lang="en-US" dirty="0"/>
              <a:t>Innate responses can enhance or initiate adaptive </a:t>
            </a:r>
            <a:r>
              <a:rPr lang="en-US" dirty="0" err="1"/>
              <a:t>resposnes</a:t>
            </a:r>
            <a:endParaRPr lang="en-US" dirty="0"/>
          </a:p>
          <a:p>
            <a:pPr lvl="1" eaLnBrk="1" hangingPunct="1">
              <a:defRPr/>
            </a:pPr>
            <a:r>
              <a:rPr lang="en-US" dirty="0"/>
              <a:t>MHC I expression</a:t>
            </a:r>
          </a:p>
          <a:p>
            <a:pPr lvl="1" eaLnBrk="1" hangingPunct="1">
              <a:defRPr/>
            </a:pPr>
            <a:r>
              <a:rPr lang="en-US" dirty="0"/>
              <a:t>Chemokine secretion and recruitment of responder cells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DDC63100-A86D-3B6F-3EDA-8EF37678B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00"/>
          <a:stretch>
            <a:fillRect/>
          </a:stretch>
        </p:blipFill>
        <p:spPr bwMode="auto">
          <a:xfrm>
            <a:off x="3429000" y="762000"/>
            <a:ext cx="5646738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128B-764D-BF00-AE75-C4A38C98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858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Innate Recognition of HCV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2E13FBAB-BF26-B778-2727-783F7A07AD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381000"/>
            <a:ext cx="3201988" cy="4267200"/>
          </a:xfrm>
        </p:spPr>
        <p:txBody>
          <a:bodyPr/>
          <a:lstStyle/>
          <a:p>
            <a:pPr eaLnBrk="1" hangingPunct="1"/>
            <a:r>
              <a:rPr lang="en-US" altLang="en-US"/>
              <a:t>The generation of dsRNA structures in HCV replication leads to recognition by multiple innate pathways</a:t>
            </a:r>
          </a:p>
          <a:p>
            <a:pPr eaLnBrk="1" hangingPunct="1"/>
            <a:r>
              <a:rPr lang="en-US" altLang="en-US"/>
              <a:t>HCV subverts these pathways by sequestering or cleaving key components of innate recognition</a:t>
            </a:r>
          </a:p>
          <a:p>
            <a:pPr eaLnBrk="1" hangingPunct="1"/>
            <a:r>
              <a:rPr lang="en-US" altLang="en-US"/>
              <a:t>The effects are both qualitative and quantitative on the ensuing innate response</a:t>
            </a:r>
          </a:p>
        </p:txBody>
      </p:sp>
      <p:pic>
        <p:nvPicPr>
          <p:cNvPr id="18436" name="Picture 6" descr="http://www.liebertonline.com/na101/home/literatum/publisher/mal/journals/content/jir/2009/jir.2009.29.issue-9/jir.2009.0063/production/images/medium/figure2.gif">
            <a:extLst>
              <a:ext uri="{FF2B5EF4-FFF2-40B4-BE49-F238E27FC236}">
                <a16:creationId xmlns:a16="http://schemas.microsoft.com/office/drawing/2014/main" id="{9C44A9BA-6F0E-4B02-1864-667B8761B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50" y="457200"/>
            <a:ext cx="5949950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Box 5">
            <a:extLst>
              <a:ext uri="{FF2B5EF4-FFF2-40B4-BE49-F238E27FC236}">
                <a16:creationId xmlns:a16="http://schemas.microsoft.com/office/drawing/2014/main" id="{307427F7-98A8-9063-2025-18504D0C3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502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Arial" panose="020B0604020202020204" pitchFamily="34" charset="0"/>
              </a:rPr>
              <a:t>Stacy M. Horner, Michael Gale. Journal of Interferon &amp; Cytokine Research. September 2009, 29(9): 489-498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FBEF-78C9-E478-FA52-B19891B7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Innate activation of adaptive responses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8D9AE3-788E-8A4F-6A6E-D268A119C5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1371600"/>
            <a:ext cx="2971800" cy="48736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/>
              <a:t>The innate response results in the recruitment and “biasing” of key innate and adaptive cell types, including NK cells, NKT cells, antigen-presenting cells (</a:t>
            </a:r>
            <a:r>
              <a:rPr lang="en-US" dirty="0" err="1"/>
              <a:t>monocytes</a:t>
            </a:r>
            <a:r>
              <a:rPr lang="en-US" dirty="0"/>
              <a:t>/macrophages) and ultimately CD4 T cells that will orchestrate the adaptive response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D43CC067-FCAC-B4C8-3F89-56A998943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14425"/>
            <a:ext cx="61722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B939-D434-35B7-0C57-560D7344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304800"/>
            <a:ext cx="8001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Successful HCV Control (Sustained </a:t>
            </a:r>
            <a:r>
              <a:rPr lang="en-US" dirty="0" err="1"/>
              <a:t>Virological</a:t>
            </a:r>
            <a:r>
              <a:rPr lang="en-US" dirty="0"/>
              <a:t> Response) is mediated by Robust Adaptive Immunity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BB0D-AA58-4CE6-9B83-DB20CEF275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295400"/>
            <a:ext cx="3124200" cy="487362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/>
              <a:t>Broad-based immunological repertoires (targeting multiple epitopes with diverse populations) control acute and prevent the development of chronic infections—particularly CD4 and CD8 cells (the role of antibody is controversial)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F947CE79-D108-D688-4C8A-2E2FAFABE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3" y="984250"/>
            <a:ext cx="6097587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EC0F-A89E-1019-C2EC-6C360421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304800"/>
            <a:ext cx="7467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Chronic HCV infections result from poor T cell control, epitope escape and Limited Repertoires</a:t>
            </a:r>
          </a:p>
        </p:txBody>
      </p:sp>
      <p:sp>
        <p:nvSpPr>
          <p:cNvPr id="21507" name="Content Placeholder 4">
            <a:extLst>
              <a:ext uri="{FF2B5EF4-FFF2-40B4-BE49-F238E27FC236}">
                <a16:creationId xmlns:a16="http://schemas.microsoft.com/office/drawing/2014/main" id="{127B84F2-797B-D3B1-2AED-1E23EB151D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371600"/>
            <a:ext cx="3276600" cy="4572000"/>
          </a:xfrm>
        </p:spPr>
        <p:txBody>
          <a:bodyPr/>
          <a:lstStyle/>
          <a:p>
            <a:pPr eaLnBrk="1" hangingPunct="1"/>
            <a:r>
              <a:rPr lang="en-US" altLang="en-US"/>
              <a:t>Limited TCR diversity, restricted epitope targets and dysfunctional T cell regulation result in weak T cell responses that are unable to avoid immunological escape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01DA4F39-D34F-4C70-0885-8D730EC33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066800"/>
            <a:ext cx="6019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486A-41AF-59CF-7D16-088D988B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Chronic infections and </a:t>
            </a:r>
            <a:r>
              <a:rPr lang="en-US" dirty="0" err="1"/>
              <a:t>Immunosuppression</a:t>
            </a:r>
            <a:endParaRPr lang="en-US" dirty="0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79333DC-3C70-6679-5D05-1B690FED8E5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5260975"/>
            <a:ext cx="7467600" cy="1901825"/>
          </a:xfrm>
        </p:spPr>
        <p:txBody>
          <a:bodyPr/>
          <a:lstStyle/>
          <a:p>
            <a:pPr eaLnBrk="1" hangingPunct="1"/>
            <a:r>
              <a:rPr lang="en-US" altLang="en-US"/>
              <a:t>Th2 biasing or immune senescence result in the downregulation of aggressive immunological control by CTL, providing the opportunity for viral escape and establishment of chronic infection</a:t>
            </a: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F337DD75-B56E-4613-6218-FDD357E7B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7239000" cy="443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6B5C-D83F-65E2-9E9B-63783155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Sustaining an effective cellular Response is more important than Peak response numbers</a:t>
            </a: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B17D25E0-0B82-4A44-E944-EC4D235CA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56007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DAF3-5EA3-A69C-5A49-B0AAEB69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Control of Acute infection correlates with Interferon-Induced Genes</a:t>
            </a: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DF9F7BEA-DD89-55C0-E6FD-F89480EC9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752600"/>
            <a:ext cx="6088063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F07F-16B7-61B1-D538-952A2290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Treatment: Type I Interferon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08F9BC1-94DE-35FF-6BF1-1826C7C8C3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609600"/>
            <a:ext cx="3200400" cy="5715000"/>
          </a:xfrm>
        </p:spPr>
        <p:txBody>
          <a:bodyPr/>
          <a:lstStyle/>
          <a:p>
            <a:pPr eaLnBrk="1" hangingPunct="1"/>
            <a:r>
              <a:rPr lang="en-US" altLang="en-US" sz="1700"/>
              <a:t>First therapy introduced for HCV</a:t>
            </a:r>
          </a:p>
          <a:p>
            <a:pPr eaLnBrk="1" hangingPunct="1"/>
            <a:r>
              <a:rPr lang="en-US" altLang="en-US" sz="1700"/>
              <a:t>Full mechanism of action unclear—presumably enhances the “normal” interferon response pathways</a:t>
            </a:r>
          </a:p>
          <a:p>
            <a:pPr eaLnBrk="1" hangingPunct="1"/>
            <a:r>
              <a:rPr lang="en-US" altLang="en-US" sz="1700"/>
              <a:t>Genotype of virus, low baseline levels of HCV RNA and stage of infection are the strongest correlates of efficacy</a:t>
            </a:r>
          </a:p>
          <a:p>
            <a:pPr eaLnBrk="1" hangingPunct="1"/>
            <a:r>
              <a:rPr lang="en-US" altLang="en-US" sz="1700"/>
              <a:t>Suggestions that immunomodulation may play a role and that high dose-inteferon may overcome some of the “regulatory” negative feedback loops active in the infected host</a:t>
            </a:r>
          </a:p>
          <a:p>
            <a:pPr eaLnBrk="1" hangingPunct="1"/>
            <a:r>
              <a:rPr lang="en-US" altLang="en-US" sz="1700"/>
              <a:t>Overall, the specific mechanism has not been clearly demonstrated biologically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5DE39307-B266-4F5E-2A5F-2296AACFA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88" y="1600200"/>
            <a:ext cx="5726112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6DEE-E9EC-F74D-43B9-5EBD344A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Combination Therapy is significantly more effective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BF4DCF3B-D44D-C000-7EBF-85A08FCF8F7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3657600" cy="4873625"/>
          </a:xfrm>
        </p:spPr>
        <p:txBody>
          <a:bodyPr/>
          <a:lstStyle/>
          <a:p>
            <a:pPr eaLnBrk="1" hangingPunct="1"/>
            <a:r>
              <a:rPr lang="en-US" altLang="en-US"/>
              <a:t>Inteferon alone only yields a 20-25% response rate following a 12-18 month course</a:t>
            </a:r>
          </a:p>
          <a:p>
            <a:pPr eaLnBrk="1" hangingPunct="1"/>
            <a:r>
              <a:rPr lang="en-US" altLang="en-US"/>
              <a:t>Combination therapy with the “broad based” antiviral ribavirin results in 40% of individuals with SVR (30% genotype 1, 65% genotype 2 or 3)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B12A0F9A-CB34-AB18-81B6-D25DAD8AD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524000"/>
            <a:ext cx="50561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C791-45A7-3FF1-522B-5E9184E0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How does </a:t>
            </a:r>
            <a:r>
              <a:rPr lang="en-US" dirty="0" err="1"/>
              <a:t>ribavirin</a:t>
            </a:r>
            <a:r>
              <a:rPr lang="en-US" dirty="0"/>
              <a:t> work against HCV?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BFD9-439B-0B09-5046-4B8C6758BF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 err="1"/>
              <a:t>Ribavirin</a:t>
            </a:r>
            <a:r>
              <a:rPr lang="en-US" dirty="0"/>
              <a:t> was initially designed as a nucleoside analog and developed as an anti-influenza drug, but failed to receive FDA approval or show significant efficacy in humans</a:t>
            </a:r>
          </a:p>
          <a:p>
            <a:pPr eaLnBrk="1" hangingPunct="1">
              <a:defRPr/>
            </a:pPr>
            <a:r>
              <a:rPr lang="en-US" dirty="0"/>
              <a:t>It has been used to treat </a:t>
            </a:r>
            <a:r>
              <a:rPr lang="en-US" dirty="0" err="1"/>
              <a:t>hemorraghic</a:t>
            </a:r>
            <a:r>
              <a:rPr lang="en-US" dirty="0"/>
              <a:t> fevers, RSV and is again under consideration as combination therapy for influenza</a:t>
            </a:r>
          </a:p>
          <a:p>
            <a:pPr eaLnBrk="1" hangingPunct="1">
              <a:defRPr/>
            </a:pPr>
            <a:r>
              <a:rPr lang="en-US" dirty="0"/>
              <a:t>Proposed Mechanisms: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1) </a:t>
            </a:r>
            <a:r>
              <a:rPr lang="en-US" dirty="0" err="1"/>
              <a:t>Immunomodulatory</a:t>
            </a:r>
            <a:r>
              <a:rPr lang="en-US" dirty="0"/>
              <a:t> properties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2) Inhibition of the </a:t>
            </a:r>
            <a:r>
              <a:rPr lang="en-US" dirty="0" err="1"/>
              <a:t>inosine</a:t>
            </a:r>
            <a:r>
              <a:rPr lang="en-US" dirty="0"/>
              <a:t> </a:t>
            </a:r>
            <a:r>
              <a:rPr lang="en-US" dirty="0" err="1"/>
              <a:t>monophosphate</a:t>
            </a:r>
            <a:r>
              <a:rPr lang="en-US" dirty="0"/>
              <a:t> </a:t>
            </a:r>
            <a:r>
              <a:rPr lang="en-US" dirty="0" err="1"/>
              <a:t>dehydrogenase</a:t>
            </a:r>
            <a:r>
              <a:rPr lang="en-US" dirty="0"/>
              <a:t> (IMPDH)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3) Direct inhibition of the HCV-encoded NS5B RNA polymerase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4) Induction of lethal mutagenesis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5) Modulation of interferon-stimulated gene (ISG) expression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5" descr="http://www.nature.com/nature/journal/v436/n7053/images/nature04082-f3.2.jpg.pagespeed.ce.YVmTiafRBB.jpg">
            <a:extLst>
              <a:ext uri="{FF2B5EF4-FFF2-40B4-BE49-F238E27FC236}">
                <a16:creationId xmlns:a16="http://schemas.microsoft.com/office/drawing/2014/main" id="{2A1769F7-5DD1-BF95-D1F1-17806E5D2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3"/>
          <a:stretch>
            <a:fillRect/>
          </a:stretch>
        </p:blipFill>
        <p:spPr bwMode="auto">
          <a:xfrm>
            <a:off x="990600" y="838200"/>
            <a:ext cx="80645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3A7A-5867-85D2-0B35-18573D34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48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Possible Mechanisms for </a:t>
            </a:r>
            <a:r>
              <a:rPr lang="en-US" dirty="0" err="1"/>
              <a:t>Ribavirin</a:t>
            </a:r>
            <a:r>
              <a:rPr lang="en-US" dirty="0"/>
              <a:t> mode of action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88C1-F506-3CDB-61E6-B8FD7504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What data would help resolve </a:t>
            </a:r>
            <a:r>
              <a:rPr lang="en-US" dirty="0" err="1"/>
              <a:t>ribavirin’s</a:t>
            </a:r>
            <a:r>
              <a:rPr lang="en-US" dirty="0"/>
              <a:t> mechanism?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749ED-1509-6B8F-C259-456F885C80F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228600" y="1600200"/>
            <a:ext cx="3886200" cy="52578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defRPr/>
            </a:pPr>
            <a:r>
              <a:rPr lang="en-US" dirty="0"/>
              <a:t>Interferon reduces viral production--given the proposed mechanisms, how should </a:t>
            </a:r>
            <a:r>
              <a:rPr lang="en-US" dirty="0" err="1"/>
              <a:t>ribavirin</a:t>
            </a:r>
            <a:r>
              <a:rPr lang="en-US" dirty="0"/>
              <a:t> work? 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1) </a:t>
            </a:r>
            <a:r>
              <a:rPr lang="en-US" dirty="0" err="1"/>
              <a:t>Immunomodulatory</a:t>
            </a:r>
            <a:r>
              <a:rPr lang="en-US" dirty="0"/>
              <a:t> properties—</a:t>
            </a:r>
            <a:r>
              <a:rPr lang="en-US" b="1" dirty="0"/>
              <a:t>Should act independently of interferon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2) Inhibition of the </a:t>
            </a:r>
            <a:r>
              <a:rPr lang="en-US" dirty="0" err="1"/>
              <a:t>inosine</a:t>
            </a:r>
            <a:r>
              <a:rPr lang="en-US" dirty="0"/>
              <a:t> </a:t>
            </a:r>
            <a:r>
              <a:rPr lang="en-US" dirty="0" err="1"/>
              <a:t>monophosphate</a:t>
            </a:r>
            <a:r>
              <a:rPr lang="en-US" dirty="0"/>
              <a:t> </a:t>
            </a:r>
            <a:r>
              <a:rPr lang="en-US" dirty="0" err="1"/>
              <a:t>dehydrogenase</a:t>
            </a:r>
            <a:r>
              <a:rPr lang="en-US" dirty="0"/>
              <a:t> (IMPDH)</a:t>
            </a:r>
            <a:r>
              <a:rPr lang="en-US" b="1" dirty="0"/>
              <a:t>—Should reduce viral production, be </a:t>
            </a:r>
            <a:r>
              <a:rPr lang="en-US" b="1" dirty="0" err="1"/>
              <a:t>guanosine</a:t>
            </a:r>
            <a:r>
              <a:rPr lang="en-US" b="1" dirty="0"/>
              <a:t> dependent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3) Direct inhibition of the HCV-encoded NS5B RNA polymerase—</a:t>
            </a:r>
            <a:r>
              <a:rPr lang="en-US" b="1" dirty="0"/>
              <a:t>Should reduce viral production, put pressure on polymerase to mutate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4) Induction of lethal mutagenesis—</a:t>
            </a:r>
            <a:r>
              <a:rPr lang="en-US" b="1" dirty="0"/>
              <a:t>Viral production maintained, infected cell number maintained (clearance by decay), new cells infected at a lower rate</a:t>
            </a:r>
          </a:p>
          <a:p>
            <a:pPr lvl="1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5) Modulation of interferon-stimulated gene (ISG) expression—</a:t>
            </a:r>
            <a:r>
              <a:rPr lang="en-US" b="1" dirty="0"/>
              <a:t>Direct antiviral effects like interferon, should shift ISG expression from negative feedback pathways and be synergistic with poor interferon responders.</a:t>
            </a:r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2CDC785D-4407-43A6-D9AB-639D227F7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25" y="1371600"/>
            <a:ext cx="51847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2">
            <a:extLst>
              <a:ext uri="{FF2B5EF4-FFF2-40B4-BE49-F238E27FC236}">
                <a16:creationId xmlns:a16="http://schemas.microsoft.com/office/drawing/2014/main" id="{BFE519EE-92FB-62C0-A458-71E2B6102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672013"/>
            <a:ext cx="4219575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78ED-C98E-1D62-F240-7E4E0F67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Determining an </a:t>
            </a:r>
            <a:r>
              <a:rPr lang="en-US" dirty="0" err="1"/>
              <a:t>antivral</a:t>
            </a:r>
            <a:r>
              <a:rPr lang="en-US" dirty="0"/>
              <a:t> treatment’s mode of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87F2-0262-E3E9-89AB-977D593EC2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/>
              <a:t>Biological </a:t>
            </a:r>
            <a:r>
              <a:rPr lang="en-US" i="1" dirty="0"/>
              <a:t>in vitro</a:t>
            </a:r>
            <a:r>
              <a:rPr lang="en-US" dirty="0"/>
              <a:t> experiments with HCV have been difficult to perform as a result of the limited nature of developed culture systems</a:t>
            </a:r>
          </a:p>
          <a:p>
            <a:pPr eaLnBrk="1" hangingPunct="1">
              <a:defRPr/>
            </a:pPr>
            <a:r>
              <a:rPr lang="en-US" dirty="0"/>
              <a:t>Alternative drugs that perform a single “</a:t>
            </a:r>
            <a:r>
              <a:rPr lang="en-US" dirty="0" err="1"/>
              <a:t>ribarvirin</a:t>
            </a:r>
            <a:r>
              <a:rPr lang="en-US" dirty="0"/>
              <a:t> function” do not recapitulate </a:t>
            </a:r>
            <a:r>
              <a:rPr lang="en-US" dirty="0" err="1"/>
              <a:t>ribarvirin</a:t>
            </a:r>
            <a:r>
              <a:rPr lang="en-US" dirty="0"/>
              <a:t> efficacy, suggesting that multiple pathways may be acting together</a:t>
            </a:r>
          </a:p>
          <a:p>
            <a:pPr eaLnBrk="1" hangingPunct="1">
              <a:defRPr/>
            </a:pPr>
            <a:r>
              <a:rPr lang="en-US" dirty="0"/>
              <a:t>Biological mechanisms can often seem plausible, but can be difficult to prove conclusively that they play an important role (particularly when the drug is “reverse engineered” to the pathogen)</a:t>
            </a:r>
          </a:p>
          <a:p>
            <a:pPr eaLnBrk="1" hangingPunct="1">
              <a:defRPr/>
            </a:pPr>
            <a:r>
              <a:rPr lang="en-US" dirty="0"/>
              <a:t>Mathematical modeling from real infection data provides a compelling argument for the viral life cycle stage(s) that might be affected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F9AD6-E5AF-C825-ED7C-6439D5DD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New Drug Treatments for HCV</a:t>
            </a:r>
          </a:p>
        </p:txBody>
      </p:sp>
      <p:pic>
        <p:nvPicPr>
          <p:cNvPr id="31747" name="Picture 8" descr="http://3.bp.blogspot.com/-2fm8HPTd9Oc/UsmhnY2Pv_I/AAAAAAAALR8/DWQBKZHauAc/s1600/liv12405-fig-0001.png">
            <a:extLst>
              <a:ext uri="{FF2B5EF4-FFF2-40B4-BE49-F238E27FC236}">
                <a16:creationId xmlns:a16="http://schemas.microsoft.com/office/drawing/2014/main" id="{AAA79960-B1A2-FE2F-34F0-DEBCD7695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7858125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3">
            <a:extLst>
              <a:ext uri="{FF2B5EF4-FFF2-40B4-BE49-F238E27FC236}">
                <a16:creationId xmlns:a16="http://schemas.microsoft.com/office/drawing/2014/main" id="{98E955A3-C35D-42DB-3DE6-0A0735A58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6386513"/>
            <a:ext cx="457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Liver International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Volume 34, Issue Supplement s1, pages 18–23, February 2014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A9A8-D395-C2EB-6678-07DC8D5A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631B733D-858E-87D9-17A1-4CE0E8143B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32772" name="Picture 2" descr="Molecular biology and drug targets in HCV.">
            <a:extLst>
              <a:ext uri="{FF2B5EF4-FFF2-40B4-BE49-F238E27FC236}">
                <a16:creationId xmlns:a16="http://schemas.microsoft.com/office/drawing/2014/main" id="{B5A8F13B-749D-8E67-AF60-E2B59F725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41"/>
          <a:stretch>
            <a:fillRect/>
          </a:stretch>
        </p:blipFill>
        <p:spPr bwMode="auto">
          <a:xfrm>
            <a:off x="825500" y="228600"/>
            <a:ext cx="68707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3">
            <a:extLst>
              <a:ext uri="{FF2B5EF4-FFF2-40B4-BE49-F238E27FC236}">
                <a16:creationId xmlns:a16="http://schemas.microsoft.com/office/drawing/2014/main" id="{BDBB9060-8FB4-AFC4-4CB3-1F77537D7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6303963"/>
            <a:ext cx="45720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Novel therapies for hepatitis C — one pill fits all?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Michael P. Manns	&amp; Thomas von Hahn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Nature Reviews Drug Discovery 12, 595–610 (2013) doi:10.1038/nrd4050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44EB-C20B-032D-45E6-B7411679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135FEAA2-F0DF-99BF-2C0D-5965145BC2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7515BA9-0D31-B5D2-A581-9A4015BAE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867400" y="6386513"/>
            <a:ext cx="2782887" cy="428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797" name="Picture 2">
            <a:extLst>
              <a:ext uri="{FF2B5EF4-FFF2-40B4-BE49-F238E27FC236}">
                <a16:creationId xmlns:a16="http://schemas.microsoft.com/office/drawing/2014/main" id="{E522B53B-697B-E746-8642-A9B7F69F4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905000"/>
            <a:ext cx="4867275" cy="360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3798" name="AutoShape 3">
            <a:extLst>
              <a:ext uri="{FF2B5EF4-FFF2-40B4-BE49-F238E27FC236}">
                <a16:creationId xmlns:a16="http://schemas.microsoft.com/office/drawing/2014/main" id="{9C230709-6A2D-5A72-AB97-79EB37E7C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2563"/>
            <a:ext cx="7543800" cy="731837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>
              <a:lnSpc>
                <a:spcPct val="97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  <a:ea typeface="Arial Unicode MS" pitchFamily="34" charset="-128"/>
              </a:rPr>
              <a:t>Rates of Sustained Virologic Response among All Patients and According to HCV Genotype in the Historical Control Group and in Group A.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09AEE81-304A-1EFA-9CC4-E32151979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715000"/>
            <a:ext cx="5778500" cy="363538"/>
          </a:xfrm>
          <a:prstGeom prst="rect">
            <a:avLst/>
          </a:prstGeom>
          <a:noFill/>
          <a:ln/>
        </p:spPr>
        <p:txBody>
          <a:bodyPr lIns="0" tIns="13607" rIns="0" bIns="0"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 cap="sm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Corbel" pitchFamily="34" charset="0"/>
              </a:defRPr>
            </a:lvl9pPr>
          </a:lstStyle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/>
            </a:pPr>
            <a:r>
              <a:rPr lang="en-US" altLang="en-US" sz="1200" b="1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Feld JJ et al. N </a:t>
            </a:r>
            <a:r>
              <a:rPr lang="en-US" altLang="en-US" sz="1200" b="1" dirty="0" err="1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Engl</a:t>
            </a:r>
            <a:r>
              <a:rPr lang="en-US" altLang="en-US" sz="1200" b="1" dirty="0">
                <a:solidFill>
                  <a:schemeClr val="tx1"/>
                </a:solidFill>
                <a:ea typeface="Arial Unicode MS" pitchFamily="34" charset="-128"/>
                <a:cs typeface="Arial Unicode MS" pitchFamily="34" charset="-128"/>
              </a:rPr>
              <a:t> J Med 2014;370:1594-1603.</a:t>
            </a:r>
          </a:p>
        </p:txBody>
      </p:sp>
      <p:pic>
        <p:nvPicPr>
          <p:cNvPr id="33800" name="Picture 6" descr="http://2.bp.blogspot.com/-kalo-fJGGGQ/Usmi1N5Hp-I/AAAAAAAALSE/xFoRbBUawCY/s1600/liv12405-fig-0002.png">
            <a:extLst>
              <a:ext uri="{FF2B5EF4-FFF2-40B4-BE49-F238E27FC236}">
                <a16:creationId xmlns:a16="http://schemas.microsoft.com/office/drawing/2014/main" id="{09B78C8E-4E74-EDCD-58DB-85F677376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863" y="2605088"/>
            <a:ext cx="30003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EF29-E69C-54C8-F241-8230FE12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Prevalence of HIV Infection</a:t>
            </a:r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16655FF4-F972-D43E-D132-67B6A56D27E2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066800"/>
            <a:ext cx="8929688" cy="5562600"/>
          </a:xfr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84DA-4FF4-629E-C63E-6166CA01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4572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Genetic Diversity of HIV-1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43DE1375-EB3C-56DD-FE50-4DA464C5AB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572000"/>
            <a:ext cx="7467600" cy="1901825"/>
          </a:xfrm>
        </p:spPr>
        <p:txBody>
          <a:bodyPr/>
          <a:lstStyle/>
          <a:p>
            <a:pPr eaLnBrk="1" hangingPunct="1"/>
            <a:r>
              <a:rPr lang="en-US" altLang="en-US"/>
              <a:t>Within HIV-1, a large sequence diversity exists with viral clades being geographically isolated</a:t>
            </a:r>
          </a:p>
          <a:p>
            <a:pPr eaLnBrk="1" hangingPunct="1"/>
            <a:r>
              <a:rPr lang="en-US" altLang="en-US"/>
              <a:t>Several studies have suggested that the clades have different biological characteristics, including disease pathogenicity and transmissibility </a:t>
            </a:r>
          </a:p>
        </p:txBody>
      </p:sp>
      <p:pic>
        <p:nvPicPr>
          <p:cNvPr id="36868" name="Picture 2">
            <a:extLst>
              <a:ext uri="{FF2B5EF4-FFF2-40B4-BE49-F238E27FC236}">
                <a16:creationId xmlns:a16="http://schemas.microsoft.com/office/drawing/2014/main" id="{18BDBD27-8B65-2C28-D1A9-281DF6FAA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5926138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AE29-3532-3548-489D-741F30FF6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Virion</a:t>
            </a:r>
            <a:r>
              <a:rPr lang="en-US" dirty="0"/>
              <a:t> Structure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E862967B-F2B0-3C3A-7FAF-3115C7C243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37892" name="Picture 3">
            <a:extLst>
              <a:ext uri="{FF2B5EF4-FFF2-40B4-BE49-F238E27FC236}">
                <a16:creationId xmlns:a16="http://schemas.microsoft.com/office/drawing/2014/main" id="{5D8D8915-5FB9-A3A7-FF88-90D5E9CD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39788"/>
            <a:ext cx="6858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BBAA-C705-0A69-0681-96DC9F289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Single Stranded Genome, Multiple messages From alternative splicing</a:t>
            </a:r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8FC6A081-1F1B-4C03-1664-301CDBBF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70104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BC00-96F8-AAD0-3ADE-AB2B26CA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Viral Life cycle</a:t>
            </a:r>
          </a:p>
        </p:txBody>
      </p:sp>
      <p:sp>
        <p:nvSpPr>
          <p:cNvPr id="39939" name="Content Placeholder 4">
            <a:extLst>
              <a:ext uri="{FF2B5EF4-FFF2-40B4-BE49-F238E27FC236}">
                <a16:creationId xmlns:a16="http://schemas.microsoft.com/office/drawing/2014/main" id="{82D57060-3DAD-9CD3-985A-A2455A1505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600200"/>
            <a:ext cx="3657600" cy="4572000"/>
          </a:xfrm>
        </p:spPr>
        <p:txBody>
          <a:bodyPr/>
          <a:lstStyle/>
          <a:p>
            <a:pPr eaLnBrk="1" hangingPunct="1"/>
            <a:r>
              <a:rPr lang="en-US" altLang="en-US"/>
              <a:t>As a retrovirus, HIV replicates by making a DNA copy of itself that is inserted into the host genome</a:t>
            </a:r>
          </a:p>
          <a:p>
            <a:pPr eaLnBrk="1" hangingPunct="1"/>
            <a:r>
              <a:rPr lang="en-US" altLang="en-US"/>
              <a:t>Thus, an infected cell can become a stable reservoir for the long term production of viral particles</a:t>
            </a: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DD024D58-49FD-59EB-A280-B44E33EEC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295400"/>
            <a:ext cx="57150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D917-60E1-ED14-A352-D3EB848E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09600"/>
            <a:ext cx="3429000" cy="1752600"/>
          </a:xfrm>
        </p:spPr>
        <p:txBody>
          <a:bodyPr/>
          <a:lstStyle/>
          <a:p>
            <a:pPr>
              <a:defRPr/>
            </a:pPr>
            <a:r>
              <a:rPr lang="en-US" dirty="0"/>
              <a:t>Comparison of HIV and HCV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4250D800-BD2F-728B-EB8D-1541ADD76E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152400" y="1600200"/>
            <a:ext cx="3657600" cy="4572000"/>
          </a:xfrm>
        </p:spPr>
        <p:txBody>
          <a:bodyPr/>
          <a:lstStyle/>
          <a:p>
            <a:r>
              <a:rPr lang="en-US" altLang="en-US"/>
              <a:t>HIV and HCV both produce chronic infections, but are biologically very different viruses</a:t>
            </a:r>
          </a:p>
          <a:p>
            <a:r>
              <a:rPr lang="en-US" altLang="en-US"/>
              <a:t>HIV has a DNA intermediate that become heritably integrated</a:t>
            </a:r>
          </a:p>
          <a:p>
            <a:r>
              <a:rPr lang="en-US" altLang="en-US"/>
              <a:t>HCV is a purely RNA virus</a:t>
            </a:r>
          </a:p>
        </p:txBody>
      </p:sp>
      <p:pic>
        <p:nvPicPr>
          <p:cNvPr id="40964" name="Picture 2" descr="The design of drugs for HIV and HCV">
            <a:extLst>
              <a:ext uri="{FF2B5EF4-FFF2-40B4-BE49-F238E27FC236}">
                <a16:creationId xmlns:a16="http://schemas.microsoft.com/office/drawing/2014/main" id="{EC86B4F4-4691-5917-ADB0-4FA60C5C403E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00463" y="0"/>
            <a:ext cx="5138737" cy="6858000"/>
          </a:xfr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BF4E-2DDD-0883-FB4C-350992BC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Clinical course of infection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7882F7B0-0DB9-9214-9E91-692D3F425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64008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99CE-515C-C1A8-1AE6-A8B0B372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Mechanisms of </a:t>
            </a:r>
            <a:r>
              <a:rPr lang="en-US" dirty="0" err="1"/>
              <a:t>Cytopathogenicity</a:t>
            </a:r>
            <a:endParaRPr lang="en-US" dirty="0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E2EF02E4-3DC2-F21A-8A9E-8A3160F56C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2590800" cy="4873625"/>
          </a:xfrm>
        </p:spPr>
        <p:txBody>
          <a:bodyPr/>
          <a:lstStyle/>
          <a:p>
            <a:pPr eaLnBrk="1" hangingPunct="1"/>
            <a:r>
              <a:rPr lang="en-US" altLang="en-US"/>
              <a:t>Viral envelope fusogenicity (ER compromised)</a:t>
            </a:r>
          </a:p>
          <a:p>
            <a:pPr eaLnBrk="1" hangingPunct="1"/>
            <a:r>
              <a:rPr lang="en-US" altLang="en-US"/>
              <a:t>Vpr activates caspases</a:t>
            </a:r>
          </a:p>
          <a:p>
            <a:pPr eaLnBrk="1" hangingPunct="1"/>
            <a:r>
              <a:rPr lang="en-US" altLang="en-US"/>
              <a:t>Nef contributes indirectly to apoptosis via FasL</a:t>
            </a:r>
          </a:p>
        </p:txBody>
      </p:sp>
      <p:pic>
        <p:nvPicPr>
          <p:cNvPr id="43012" name="Picture 2">
            <a:extLst>
              <a:ext uri="{FF2B5EF4-FFF2-40B4-BE49-F238E27FC236}">
                <a16:creationId xmlns:a16="http://schemas.microsoft.com/office/drawing/2014/main" id="{857F55EF-107E-A89E-9C18-ED6C9114C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62025"/>
            <a:ext cx="6678613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646F-5774-8772-AD2D-19DBFC30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Mechanisms of Immune </a:t>
            </a:r>
            <a:r>
              <a:rPr lang="en-US" dirty="0" err="1"/>
              <a:t>Dysregulation</a:t>
            </a:r>
            <a:endParaRPr lang="en-US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786FAFDD-EACC-6BC8-6648-7809F40EDD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44036" name="Picture 2">
            <a:extLst>
              <a:ext uri="{FF2B5EF4-FFF2-40B4-BE49-F238E27FC236}">
                <a16:creationId xmlns:a16="http://schemas.microsoft.com/office/drawing/2014/main" id="{868D11B2-2380-9E89-A637-718284A7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7038"/>
            <a:ext cx="8153400" cy="647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49A4-F33D-2536-767C-7024858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33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What makes HIV lethal?</a:t>
            </a:r>
          </a:p>
        </p:txBody>
      </p:sp>
      <p:pic>
        <p:nvPicPr>
          <p:cNvPr id="45059" name="Picture 4" descr="figure 11-30.jpg                                               00002B9CArt                            BB1CF510:">
            <a:extLst>
              <a:ext uri="{FF2B5EF4-FFF2-40B4-BE49-F238E27FC236}">
                <a16:creationId xmlns:a16="http://schemas.microsoft.com/office/drawing/2014/main" id="{F1846806-1296-EF18-EE2F-96E92A5C7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11213"/>
            <a:ext cx="8124825" cy="552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528B-DC3D-F743-83B9-5F848F57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Why is HIV unlike any other chronic infection?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93FB427F-A03F-A493-C31C-69BCD662097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2743200" cy="4873625"/>
          </a:xfrm>
        </p:spPr>
        <p:txBody>
          <a:bodyPr/>
          <a:lstStyle/>
          <a:p>
            <a:pPr eaLnBrk="1" hangingPunct="1"/>
            <a:r>
              <a:rPr lang="en-US" altLang="en-US"/>
              <a:t>A combination of “traditional” immune evasion mechanisms (CTL escape, antigen masking) and non-traditional (attacking immune function and cell compartments directly</a:t>
            </a:r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2E4B0FA8-FBE0-5F9F-2850-0EC2AB438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3" y="1228725"/>
            <a:ext cx="6402387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37AA-F2A3-D993-D3C2-CB139EAC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Can infection be effectively controlled?</a:t>
            </a:r>
          </a:p>
        </p:txBody>
      </p:sp>
      <p:pic>
        <p:nvPicPr>
          <p:cNvPr id="47107" name="Picture 2">
            <a:extLst>
              <a:ext uri="{FF2B5EF4-FFF2-40B4-BE49-F238E27FC236}">
                <a16:creationId xmlns:a16="http://schemas.microsoft.com/office/drawing/2014/main" id="{5F43D17D-0A9F-56F4-9014-CAF01E1E5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44538"/>
            <a:ext cx="8077200" cy="553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F1E3-140B-53E4-27E9-A3782A67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533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Mechanisms of RT Inhibitors </a:t>
            </a:r>
          </a:p>
        </p:txBody>
      </p:sp>
      <p:pic>
        <p:nvPicPr>
          <p:cNvPr id="48131" name="Picture 2">
            <a:extLst>
              <a:ext uri="{FF2B5EF4-FFF2-40B4-BE49-F238E27FC236}">
                <a16:creationId xmlns:a16="http://schemas.microsoft.com/office/drawing/2014/main" id="{4F3F3E7A-CF04-7125-0648-37B19929D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09650"/>
            <a:ext cx="8294688" cy="539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CB85-32ED-223A-4683-D13800C0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533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Mechanism of Protease Inhibitors</a:t>
            </a:r>
          </a:p>
        </p:txBody>
      </p:sp>
      <p:pic>
        <p:nvPicPr>
          <p:cNvPr id="49155" name="Picture 2">
            <a:extLst>
              <a:ext uri="{FF2B5EF4-FFF2-40B4-BE49-F238E27FC236}">
                <a16:creationId xmlns:a16="http://schemas.microsoft.com/office/drawing/2014/main" id="{6A68E3DD-E170-127B-2223-05DF1B8EC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6858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7704-DA4A-3397-ED34-AEA936F8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533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Fusion Inhibitors</a:t>
            </a:r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10E818BE-61EE-95E0-0906-39B01F14D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60400"/>
            <a:ext cx="77724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B53F-C5E5-545B-3E43-99E7B5C8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Latent Reservoirs of Virus</a:t>
            </a:r>
          </a:p>
        </p:txBody>
      </p:sp>
      <p:sp>
        <p:nvSpPr>
          <p:cNvPr id="51203" name="Content Placeholder 5">
            <a:extLst>
              <a:ext uri="{FF2B5EF4-FFF2-40B4-BE49-F238E27FC236}">
                <a16:creationId xmlns:a16="http://schemas.microsoft.com/office/drawing/2014/main" id="{03344833-B58D-038D-6034-FA90DC770A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152400" y="1828800"/>
            <a:ext cx="3429000" cy="4343400"/>
          </a:xfrm>
        </p:spPr>
        <p:txBody>
          <a:bodyPr/>
          <a:lstStyle/>
          <a:p>
            <a:pPr eaLnBrk="1" hangingPunct="1"/>
            <a:r>
              <a:rPr lang="en-US" altLang="en-US"/>
              <a:t>Multiple cell types can serve as latent reservoirs</a:t>
            </a:r>
          </a:p>
          <a:p>
            <a:pPr eaLnBrk="1" hangingPunct="1"/>
            <a:r>
              <a:rPr lang="en-US" altLang="en-US"/>
              <a:t>“Quiescence” of infected cells constrains the possibility total viral elimination</a:t>
            </a:r>
          </a:p>
        </p:txBody>
      </p:sp>
      <p:pic>
        <p:nvPicPr>
          <p:cNvPr id="51204" name="Picture 2">
            <a:extLst>
              <a:ext uri="{FF2B5EF4-FFF2-40B4-BE49-F238E27FC236}">
                <a16:creationId xmlns:a16="http://schemas.microsoft.com/office/drawing/2014/main" id="{E2E5DEC7-A905-BFB0-C2C0-9B4F394C9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685800"/>
            <a:ext cx="60325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BA05-7720-8F01-E3A2-AAE2412A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Contribution of Individual Reservoirs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B260-E2F9-FA73-0AE7-34954DE726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76200" y="1600200"/>
            <a:ext cx="2895600" cy="48736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/>
              <a:t>Steady-state virus levels result from the relative contributions and turnover of each reservoir compartment</a:t>
            </a:r>
          </a:p>
          <a:p>
            <a:pPr eaLnBrk="1" hangingPunct="1">
              <a:defRPr/>
            </a:pPr>
            <a:r>
              <a:rPr lang="en-US" dirty="0"/>
              <a:t>After viral inhibition by HAART, plasma viral RNA decays in four distinct phases allowing a dissection of each reservoir’s individual contribution</a:t>
            </a:r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AEBD966B-A957-E87D-324C-30AEBBDF8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70013"/>
            <a:ext cx="6215063" cy="487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AD53-D565-3698-D017-B190DFAC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Can the Immune system be used to Prevent or Clear infection?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152A66E3-5D97-1F6C-C0FB-A439A18653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53252" name="Picture 2">
            <a:extLst>
              <a:ext uri="{FF2B5EF4-FFF2-40B4-BE49-F238E27FC236}">
                <a16:creationId xmlns:a16="http://schemas.microsoft.com/office/drawing/2014/main" id="{E56DF8BD-80DC-A0C3-02BB-14145408C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79625"/>
            <a:ext cx="6629400" cy="477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>
            <a:extLst>
              <a:ext uri="{FF2B5EF4-FFF2-40B4-BE49-F238E27FC236}">
                <a16:creationId xmlns:a16="http://schemas.microsoft.com/office/drawing/2014/main" id="{F493FA94-8F44-9894-7578-5DC9574D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4670425"/>
            <a:ext cx="78486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 defTabSz="828675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 defTabSz="828675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 defTabSz="828675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 defTabSz="828675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</a:tabLst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200">
                <a:latin typeface="Arial" panose="020B0604020202020204" pitchFamily="34" charset="0"/>
              </a:rPr>
              <a:t>Letvin </a:t>
            </a:r>
            <a:r>
              <a:rPr lang="en-GB" altLang="en-US" sz="1200" i="1">
                <a:latin typeface="Arial" panose="020B0604020202020204" pitchFamily="34" charset="0"/>
              </a:rPr>
              <a:t>Nature Reviews Immunology</a:t>
            </a:r>
            <a:r>
              <a:rPr lang="en-GB" altLang="en-US" sz="1200">
                <a:latin typeface="Arial" panose="020B0604020202020204" pitchFamily="34" charset="0"/>
              </a:rPr>
              <a:t> </a:t>
            </a:r>
            <a:r>
              <a:rPr lang="en-GB" altLang="en-US" sz="1200" b="1">
                <a:latin typeface="Arial" panose="020B0604020202020204" pitchFamily="34" charset="0"/>
              </a:rPr>
              <a:t>6</a:t>
            </a:r>
            <a:r>
              <a:rPr lang="en-GB" altLang="en-US" sz="1200">
                <a:latin typeface="Arial" panose="020B0604020202020204" pitchFamily="34" charset="0"/>
              </a:rPr>
              <a:t>, 930</a:t>
            </a:r>
            <a:r>
              <a:rPr lang="en-GB" altLang="en-US" sz="120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GB" altLang="en-US" sz="1200">
                <a:latin typeface="Arial" panose="020B0604020202020204" pitchFamily="34" charset="0"/>
              </a:rPr>
              <a:t>939 (December 2006) | doi:10.1038/nri1959</a:t>
            </a:r>
          </a:p>
        </p:txBody>
      </p:sp>
      <p:pic>
        <p:nvPicPr>
          <p:cNvPr id="54275" name="Picture 36" descr="NRI-logo-poster-L">
            <a:extLst>
              <a:ext uri="{FF2B5EF4-FFF2-40B4-BE49-F238E27FC236}">
                <a16:creationId xmlns:a16="http://schemas.microsoft.com/office/drawing/2014/main" id="{C32BFB09-741D-F0B5-A6E6-F6184E3CD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6248400"/>
            <a:ext cx="1905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52" descr="D:\Leena\Slides\nri\nov 17\nri1959-t2.gif">
            <a:extLst>
              <a:ext uri="{FF2B5EF4-FFF2-40B4-BE49-F238E27FC236}">
                <a16:creationId xmlns:a16="http://schemas.microsoft.com/office/drawing/2014/main" id="{D7158C1B-BC17-F105-4A8E-2701B349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1471613"/>
            <a:ext cx="9166225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37C10CC-F7EC-6BFB-644F-4F12BACF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Summary of Vaccine Trials in 2006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1129-1CF8-ED1E-BF13-886AAC13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914400"/>
            <a:ext cx="3276600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Mechanisms of Immune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5E47-FC48-E73A-1BB9-E40758D131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1679575"/>
            <a:ext cx="3962400" cy="48736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/>
              <a:t>“Standard” immunological protection mechanisms, including antibody, clearance by </a:t>
            </a:r>
            <a:r>
              <a:rPr lang="en-US" dirty="0" err="1"/>
              <a:t>phagocytic</a:t>
            </a:r>
            <a:r>
              <a:rPr lang="en-US" dirty="0"/>
              <a:t> cells and </a:t>
            </a:r>
            <a:r>
              <a:rPr lang="en-US" dirty="0" err="1"/>
              <a:t>Fc</a:t>
            </a:r>
            <a:r>
              <a:rPr lang="en-US" dirty="0"/>
              <a:t> receptors, and </a:t>
            </a:r>
            <a:r>
              <a:rPr lang="en-US" dirty="0" err="1"/>
              <a:t>cytotoxic</a:t>
            </a:r>
            <a:r>
              <a:rPr lang="en-US" dirty="0"/>
              <a:t> killing of infected cells all function to limit infection and control long-term viral loads</a:t>
            </a:r>
          </a:p>
          <a:p>
            <a:pPr eaLnBrk="1" hangingPunct="1">
              <a:defRPr/>
            </a:pPr>
            <a:r>
              <a:rPr lang="en-US" dirty="0"/>
              <a:t>The loss of effective immune control is what leads to the development of AIDS, therefore the immune response in principle is an effective tool for viral control and clearance</a:t>
            </a:r>
          </a:p>
        </p:txBody>
      </p:sp>
      <p:pic>
        <p:nvPicPr>
          <p:cNvPr id="55300" name="Picture 2">
            <a:extLst>
              <a:ext uri="{FF2B5EF4-FFF2-40B4-BE49-F238E27FC236}">
                <a16:creationId xmlns:a16="http://schemas.microsoft.com/office/drawing/2014/main" id="{114D3167-877C-884C-79C7-36D67E6FF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7625"/>
            <a:ext cx="4419600" cy="681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310A-71E2-707B-C085-8295A170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CD8 T cells provide significant Viral control during the chronic phase of infection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90D405D2-87F0-A74C-B03B-AB8C400175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/>
              <a:t>CD8 depletion in SIV-infected animals leads to rapid increase in viral titers and pathogenesis of disease</a:t>
            </a:r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496F94A1-1CBA-E986-C7EA-010A69F18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43200"/>
            <a:ext cx="75565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8C96-0A1D-1B21-D340-01BF13BC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609600"/>
            <a:ext cx="3886200" cy="2057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Viral Immune Escape mechanisms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0866CADD-EF21-F9D6-0B93-0ECDFF9CC3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6200" y="1755775"/>
            <a:ext cx="3886200" cy="4873625"/>
          </a:xfrm>
        </p:spPr>
        <p:txBody>
          <a:bodyPr/>
          <a:lstStyle/>
          <a:p>
            <a:pPr eaLnBrk="1" hangingPunct="1"/>
            <a:r>
              <a:rPr lang="en-US" altLang="en-US"/>
              <a:t>“Antigenic drift” from the very high rate of mutation of the RT enzyme allows rapid escape from individual  antibody and CTL responses</a:t>
            </a:r>
          </a:p>
          <a:p>
            <a:pPr eaLnBrk="1" hangingPunct="1"/>
            <a:r>
              <a:rPr lang="en-US" altLang="en-US"/>
              <a:t>Epitopes are constrained by structural/functional requirements</a:t>
            </a: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CEC90128-28F8-4FDF-BA6C-E91DA223F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8" y="25400"/>
            <a:ext cx="4887912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33D3-3EFD-1FDE-A76F-5411F512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28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How do we assay for T cell responses in HIV infected individuals? </a:t>
            </a:r>
          </a:p>
        </p:txBody>
      </p:sp>
      <p:pic>
        <p:nvPicPr>
          <p:cNvPr id="58371" name="Picture 2">
            <a:extLst>
              <a:ext uri="{FF2B5EF4-FFF2-40B4-BE49-F238E27FC236}">
                <a16:creationId xmlns:a16="http://schemas.microsoft.com/office/drawing/2014/main" id="{BB58A173-09BC-69C5-DADA-F71029F9E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76300"/>
            <a:ext cx="4343400" cy="598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B5C9-44A3-AE62-54AD-220EAE14D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Immunodominant</a:t>
            </a:r>
            <a:r>
              <a:rPr lang="en-US" dirty="0"/>
              <a:t> epitope escape can lead to loss of viral control</a:t>
            </a:r>
          </a:p>
        </p:txBody>
      </p:sp>
      <p:pic>
        <p:nvPicPr>
          <p:cNvPr id="59395" name="Picture 2">
            <a:extLst>
              <a:ext uri="{FF2B5EF4-FFF2-40B4-BE49-F238E27FC236}">
                <a16:creationId xmlns:a16="http://schemas.microsoft.com/office/drawing/2014/main" id="{2CEE571B-00B5-C303-EA1C-5BA67F565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634288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0A72-259E-8D2A-6075-CC3731D6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7488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Recent Reports Relating MHC </a:t>
            </a:r>
            <a:r>
              <a:rPr lang="en-US" dirty="0" err="1"/>
              <a:t>Haplotype</a:t>
            </a:r>
            <a:r>
              <a:rPr lang="en-US" dirty="0"/>
              <a:t> to HIV control</a:t>
            </a:r>
          </a:p>
        </p:txBody>
      </p:sp>
      <p:pic>
        <p:nvPicPr>
          <p:cNvPr id="60419" name="Picture 2" descr="Thymic selection against fewer self peptides leads to a more cross-reactive T-cell repertoire.">
            <a:extLst>
              <a:ext uri="{FF2B5EF4-FFF2-40B4-BE49-F238E27FC236}">
                <a16:creationId xmlns:a16="http://schemas.microsoft.com/office/drawing/2014/main" id="{1CDFC823-6158-0C77-112A-A3E970C13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90600"/>
            <a:ext cx="3389313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TextBox 4">
            <a:extLst>
              <a:ext uri="{FF2B5EF4-FFF2-40B4-BE49-F238E27FC236}">
                <a16:creationId xmlns:a16="http://schemas.microsoft.com/office/drawing/2014/main" id="{7E840984-1040-4057-84EE-DEC07B6DF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38" y="1524000"/>
            <a:ext cx="4716462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2A0B9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C8D7E5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BC0B1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Nature 465, 350–354 (20 May 2010) Effects of thymic selection of the T-cell repertoire on HLA class I-associated control of HIV infection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</a:rPr>
              <a:t>Andrej Košmrlj, Elizabeth L. Read, Ying Qi, Todd M. Allen, Marcus Altfeld, Steven G. Deeks, Florencia Pereyra, Mary Carrington, Bruce D. Walker &amp; Arup K. Chakraborty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F7233-94EF-3280-2E87-B910144148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2971800"/>
            <a:ext cx="4038600" cy="3502025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Relating the breadth of the TCR repertoire (how many different T cell receptors does the body make?) to the MHC </a:t>
            </a:r>
            <a:r>
              <a:rPr lang="en-US" dirty="0" err="1"/>
              <a:t>haplotype</a:t>
            </a:r>
            <a:r>
              <a:rPr lang="en-US" dirty="0"/>
              <a:t> (the more self peptides available for negative selection, the narrower (and less “cross-reactive” the TCR repertoire) </a:t>
            </a:r>
          </a:p>
          <a:p>
            <a:pPr>
              <a:defRPr/>
            </a:pPr>
            <a:r>
              <a:rPr lang="en-US" dirty="0"/>
              <a:t>Less cross-reactive TCR repertoires are then associated with poor control</a:t>
            </a:r>
          </a:p>
        </p:txBody>
      </p:sp>
      <p:pic>
        <p:nvPicPr>
          <p:cNvPr id="60422" name="Picture 4" descr="HLA-B alleles associated with greater ability to control HIV correlate with smaller self-peptide binding propensities.">
            <a:extLst>
              <a:ext uri="{FF2B5EF4-FFF2-40B4-BE49-F238E27FC236}">
                <a16:creationId xmlns:a16="http://schemas.microsoft.com/office/drawing/2014/main" id="{455364EA-74AB-76CC-E7D5-B42C24621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648200"/>
            <a:ext cx="3886200" cy="199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6B4F-887C-881F-8EC2-81DBD0AA4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4572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Vaccine Expectations</a:t>
            </a:r>
          </a:p>
        </p:txBody>
      </p:sp>
      <p:sp>
        <p:nvSpPr>
          <p:cNvPr id="61443" name="Content Placeholder 2">
            <a:extLst>
              <a:ext uri="{FF2B5EF4-FFF2-40B4-BE49-F238E27FC236}">
                <a16:creationId xmlns:a16="http://schemas.microsoft.com/office/drawing/2014/main" id="{343F8E17-1ABC-564F-FCB3-A38834F146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609600"/>
            <a:ext cx="7467600" cy="2057400"/>
          </a:xfrm>
        </p:spPr>
        <p:txBody>
          <a:bodyPr/>
          <a:lstStyle/>
          <a:p>
            <a:pPr eaLnBrk="1" hangingPunct="1"/>
            <a:r>
              <a:rPr lang="en-US" altLang="en-US"/>
              <a:t>Since viral load “set point” is a key predictor of disease progression and pathogenesis, even a suboptimal vaccine could be of use in highly endemic areas to protect against disease and spread (we’ll talk more about this when we get to malaria)</a:t>
            </a:r>
          </a:p>
        </p:txBody>
      </p:sp>
      <p:pic>
        <p:nvPicPr>
          <p:cNvPr id="61444" name="Picture 2">
            <a:extLst>
              <a:ext uri="{FF2B5EF4-FFF2-40B4-BE49-F238E27FC236}">
                <a16:creationId xmlns:a16="http://schemas.microsoft.com/office/drawing/2014/main" id="{B7159E05-95BE-A645-A26B-8D79DCF74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29000"/>
            <a:ext cx="807561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DDD7-1546-9BBC-7731-F2FE68A5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5334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Merck Vaccine</a:t>
            </a:r>
          </a:p>
        </p:txBody>
      </p:sp>
      <p:sp>
        <p:nvSpPr>
          <p:cNvPr id="62467" name="Content Placeholder 4">
            <a:extLst>
              <a:ext uri="{FF2B5EF4-FFF2-40B4-BE49-F238E27FC236}">
                <a16:creationId xmlns:a16="http://schemas.microsoft.com/office/drawing/2014/main" id="{7F24A15A-C8D2-16DE-F947-0488E6CEF2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3048000" cy="4572000"/>
          </a:xfrm>
        </p:spPr>
        <p:txBody>
          <a:bodyPr/>
          <a:lstStyle/>
          <a:p>
            <a:pPr eaLnBrk="1" hangingPunct="1"/>
            <a:r>
              <a:rPr lang="en-US" altLang="en-US"/>
              <a:t>Use of a viral vector has been shown experimentally to boost cellular responses, by delivering more antigen with the proper innate/PAMP signals</a:t>
            </a:r>
          </a:p>
        </p:txBody>
      </p:sp>
      <p:pic>
        <p:nvPicPr>
          <p:cNvPr id="62468" name="Picture 2">
            <a:extLst>
              <a:ext uri="{FF2B5EF4-FFF2-40B4-BE49-F238E27FC236}">
                <a16:creationId xmlns:a16="http://schemas.microsoft.com/office/drawing/2014/main" id="{DA86ED0F-D0AD-962B-B68B-D98437C99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055688"/>
            <a:ext cx="6313488" cy="496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60BC-D336-9B6C-8107-B0D13CE2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09600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Merck Vaccine Failure</a:t>
            </a:r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B1E40B96-7F55-47D2-180E-2D6624CD194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3800" y="1219200"/>
            <a:ext cx="5257800" cy="5008563"/>
          </a:xfrm>
          <a:noFill/>
        </p:spPr>
      </p:pic>
      <p:sp>
        <p:nvSpPr>
          <p:cNvPr id="59396" name="Content Placeholder 4">
            <a:extLst>
              <a:ext uri="{FF2B5EF4-FFF2-40B4-BE49-F238E27FC236}">
                <a16:creationId xmlns:a16="http://schemas.microsoft.com/office/drawing/2014/main" id="{9A61F3AF-EA45-B733-AE1C-D8F6499005F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0" y="1143000"/>
            <a:ext cx="3657600" cy="57150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/>
              <a:t>Not only did the Merck Vaccine fail to protect, there appeared to be an enhancement of infection in </a:t>
            </a:r>
            <a:r>
              <a:rPr lang="en-US" dirty="0" err="1"/>
              <a:t>vaccinees</a:t>
            </a:r>
            <a:r>
              <a:rPr lang="en-US" dirty="0"/>
              <a:t> who had relatively higher pre-existing antibody titers to the viral vector</a:t>
            </a:r>
          </a:p>
          <a:p>
            <a:pPr eaLnBrk="1" hangingPunct="1">
              <a:defRPr/>
            </a:pPr>
            <a:r>
              <a:rPr lang="en-US" dirty="0"/>
              <a:t>This failure led to the cancellation of other vaccine trials based on a similar approach</a:t>
            </a:r>
          </a:p>
          <a:p>
            <a:pPr eaLnBrk="1" hangingPunct="1">
              <a:defRPr/>
            </a:pPr>
            <a:r>
              <a:rPr lang="en-US" dirty="0"/>
              <a:t>HVTN-505 just halted in April 2013—also Ad5 based (41 </a:t>
            </a:r>
            <a:r>
              <a:rPr lang="en-US" dirty="0" err="1"/>
              <a:t>vacc</a:t>
            </a:r>
            <a:r>
              <a:rPr lang="en-US" dirty="0"/>
              <a:t> </a:t>
            </a:r>
            <a:r>
              <a:rPr lang="en-US" dirty="0" err="1"/>
              <a:t>inf</a:t>
            </a:r>
            <a:r>
              <a:rPr lang="en-US" dirty="0"/>
              <a:t>, 30 placebo)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7BF4-4E17-3725-A4AA-60C6659D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572000" cy="1173162"/>
          </a:xfrm>
        </p:spPr>
        <p:txBody>
          <a:bodyPr/>
          <a:lstStyle/>
          <a:p>
            <a:pPr>
              <a:defRPr/>
            </a:pPr>
            <a:r>
              <a:rPr lang="en-US" dirty="0"/>
              <a:t>A Protective Vaccine?</a:t>
            </a:r>
            <a:br>
              <a:rPr lang="en-US" dirty="0"/>
            </a:br>
            <a:r>
              <a:rPr lang="en-US" dirty="0"/>
              <a:t>RV144 Trial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304D5633-F5FD-D3CA-4702-405EE03FCF9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/>
              <a:t>ALVAC/AIDSVAX Prime boost-boost vaccine (canarypox followed by protein boost, gp120 based)</a:t>
            </a:r>
          </a:p>
          <a:p>
            <a:r>
              <a:rPr lang="en-US" altLang="en-US"/>
              <a:t>16,402 vaccinees</a:t>
            </a:r>
          </a:p>
          <a:p>
            <a:r>
              <a:rPr lang="en-US" altLang="en-US"/>
              <a:t>Vaccine efficacy was 31.2%</a:t>
            </a:r>
          </a:p>
          <a:p>
            <a:r>
              <a:rPr lang="en-US" altLang="en-US"/>
              <a:t>No mitigation of viral load in those that did become infected</a:t>
            </a:r>
          </a:p>
        </p:txBody>
      </p:sp>
      <p:sp>
        <p:nvSpPr>
          <p:cNvPr id="64516" name="Content Placeholder 3">
            <a:extLst>
              <a:ext uri="{FF2B5EF4-FFF2-40B4-BE49-F238E27FC236}">
                <a16:creationId xmlns:a16="http://schemas.microsoft.com/office/drawing/2014/main" id="{3D976165-601C-A0D8-3D62-B5427A51B0A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64517" name="Picture 2">
            <a:extLst>
              <a:ext uri="{FF2B5EF4-FFF2-40B4-BE49-F238E27FC236}">
                <a16:creationId xmlns:a16="http://schemas.microsoft.com/office/drawing/2014/main" id="{276E4306-E08A-AA7E-1B3E-F283AE30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-9525"/>
            <a:ext cx="2930525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AA61-EEE4-11FC-544D-6B897D9E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7467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Immune correlates of HIV RISK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3524A27D-A07A-FEF0-9A05-139E7602CD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5540" name="Content Placeholder 3">
            <a:extLst>
              <a:ext uri="{FF2B5EF4-FFF2-40B4-BE49-F238E27FC236}">
                <a16:creationId xmlns:a16="http://schemas.microsoft.com/office/drawing/2014/main" id="{ACFAF595-0B17-B632-99B3-D79DE6040C7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270375" y="1600200"/>
            <a:ext cx="3657600" cy="4572000"/>
          </a:xfrm>
        </p:spPr>
        <p:txBody>
          <a:bodyPr/>
          <a:lstStyle/>
          <a:p>
            <a:endParaRPr lang="en-US" altLang="en-US"/>
          </a:p>
        </p:txBody>
      </p:sp>
      <p:pic>
        <p:nvPicPr>
          <p:cNvPr id="65541" name="Picture 2">
            <a:extLst>
              <a:ext uri="{FF2B5EF4-FFF2-40B4-BE49-F238E27FC236}">
                <a16:creationId xmlns:a16="http://schemas.microsoft.com/office/drawing/2014/main" id="{00369DE9-5FDA-E99D-319A-E68AAA782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77"/>
          <a:stretch>
            <a:fillRect/>
          </a:stretch>
        </p:blipFill>
        <p:spPr bwMode="auto">
          <a:xfrm>
            <a:off x="0" y="838200"/>
            <a:ext cx="915193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A4C8CF-EA50-3992-9E0E-D55C00CE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Points for Discussion</a:t>
            </a:r>
          </a:p>
        </p:txBody>
      </p:sp>
      <p:sp>
        <p:nvSpPr>
          <p:cNvPr id="66563" name="Content Placeholder 5">
            <a:extLst>
              <a:ext uri="{FF2B5EF4-FFF2-40B4-BE49-F238E27FC236}">
                <a16:creationId xmlns:a16="http://schemas.microsoft.com/office/drawing/2014/main" id="{71283017-249C-E59E-5314-EA6E41F495B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r>
              <a:rPr lang="en-US" altLang="en-US"/>
              <a:t>HIV is a unique pathogen in that it targets the immune system directly—playing “offense”—killing or dysregulating the cells that specifically target it and “defense”, employing more conventional immune escape mechanisms</a:t>
            </a:r>
          </a:p>
          <a:p>
            <a:pPr eaLnBrk="1" hangingPunct="1"/>
            <a:r>
              <a:rPr lang="en-US" altLang="en-US"/>
              <a:t>Despite this, the immune response, both antibody and CTLs, provide an important level of control over the virus for an extended period of time, keeping the reservoir relatively stable</a:t>
            </a:r>
          </a:p>
          <a:p>
            <a:pPr eaLnBrk="1" hangingPunct="1"/>
            <a:r>
              <a:rPr lang="en-US" altLang="en-US"/>
              <a:t>Vaccines could in principle employ similar strategies, but drugs are still the most effective treatment tool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17581</TotalTime>
  <Words>3145</Words>
  <Application>Microsoft Office PowerPoint</Application>
  <PresentationFormat>On-screen Show (4:3)</PresentationFormat>
  <Paragraphs>367</Paragraphs>
  <Slides>69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Calibri</vt:lpstr>
      <vt:lpstr>Corbel</vt:lpstr>
      <vt:lpstr>Wingdings</vt:lpstr>
      <vt:lpstr>Wingdings 2</vt:lpstr>
      <vt:lpstr>Oriel</vt:lpstr>
      <vt:lpstr>Drug and Vaccine Treatments </vt:lpstr>
      <vt:lpstr>PowerPoint Presentation</vt:lpstr>
      <vt:lpstr>Comparison: annual “flu shot” QIV</vt:lpstr>
      <vt:lpstr>PowerPoint Presentation</vt:lpstr>
      <vt:lpstr>Vaccines in Phase III</vt:lpstr>
      <vt:lpstr>How does a Phase III study work?</vt:lpstr>
      <vt:lpstr>How does a Phase III study work?</vt:lpstr>
      <vt:lpstr>What do the Pfizer results mean?</vt:lpstr>
      <vt:lpstr>PowerPoint Presentation</vt:lpstr>
      <vt:lpstr>PowerPoint Presentation</vt:lpstr>
      <vt:lpstr>What do the J&amp;J results mean?</vt:lpstr>
      <vt:lpstr>Are vectored vaccines a relatively new development?</vt:lpstr>
      <vt:lpstr>PowerPoint Presentation</vt:lpstr>
      <vt:lpstr>Vaccines work in older individuals and boost memory in infected individuals</vt:lpstr>
      <vt:lpstr>Hepatitis C virus</vt:lpstr>
      <vt:lpstr>HCV Structure</vt:lpstr>
      <vt:lpstr>HCV life cycle</vt:lpstr>
      <vt:lpstr>Receptors for Viral entry</vt:lpstr>
      <vt:lpstr>HCV Life Cycle 2</vt:lpstr>
      <vt:lpstr>Mouse model of HCV replication</vt:lpstr>
      <vt:lpstr>What Arms of the immune response are useful against HCV?</vt:lpstr>
      <vt:lpstr>Induction of innate Immunity in Patients</vt:lpstr>
      <vt:lpstr>Innate Recognition of HCV</vt:lpstr>
      <vt:lpstr>Innate activation of adaptive responses</vt:lpstr>
      <vt:lpstr>Successful HCV Control (Sustained Virological Response) is mediated by Robust Adaptive Immunity</vt:lpstr>
      <vt:lpstr>Chronic HCV infections result from poor T cell control, epitope escape and Limited Repertoires</vt:lpstr>
      <vt:lpstr>Chronic infections and Immunosuppression</vt:lpstr>
      <vt:lpstr>Sustaining an effective cellular Response is more important than Peak response numbers</vt:lpstr>
      <vt:lpstr>Control of Acute infection correlates with Interferon-Induced Genes</vt:lpstr>
      <vt:lpstr>Treatment: Type I Interferon</vt:lpstr>
      <vt:lpstr>Combination Therapy is significantly more effective</vt:lpstr>
      <vt:lpstr>How does ribavirin work against HCV? </vt:lpstr>
      <vt:lpstr>Possible Mechanisms for Ribavirin mode of action</vt:lpstr>
      <vt:lpstr>What data would help resolve ribavirin’s mechanism?</vt:lpstr>
      <vt:lpstr>Determining an antivral treatment’s mode of action</vt:lpstr>
      <vt:lpstr>New Drug Treatments for HCV</vt:lpstr>
      <vt:lpstr>PowerPoint Presentation</vt:lpstr>
      <vt:lpstr>PowerPoint Presentation</vt:lpstr>
      <vt:lpstr>Prevalence of HIV Infection</vt:lpstr>
      <vt:lpstr>Genetic Diversity of HIV-1</vt:lpstr>
      <vt:lpstr>Virion Structure</vt:lpstr>
      <vt:lpstr>Single Stranded Genome, Multiple messages From alternative splicing</vt:lpstr>
      <vt:lpstr>Viral Life cycle</vt:lpstr>
      <vt:lpstr>Comparison of HIV and HCV</vt:lpstr>
      <vt:lpstr>Clinical course of infection</vt:lpstr>
      <vt:lpstr>Mechanisms of Cytopathogenicity</vt:lpstr>
      <vt:lpstr>Mechanisms of Immune Dysregulation</vt:lpstr>
      <vt:lpstr>What makes HIV lethal?</vt:lpstr>
      <vt:lpstr>Why is HIV unlike any other chronic infection?</vt:lpstr>
      <vt:lpstr>Can infection be effectively controlled?</vt:lpstr>
      <vt:lpstr>Mechanisms of RT Inhibitors </vt:lpstr>
      <vt:lpstr>Mechanism of Protease Inhibitors</vt:lpstr>
      <vt:lpstr>Fusion Inhibitors</vt:lpstr>
      <vt:lpstr>Latent Reservoirs of Virus</vt:lpstr>
      <vt:lpstr>Contribution of Individual Reservoirs</vt:lpstr>
      <vt:lpstr>Can the Immune system be used to Prevent or Clear infection?</vt:lpstr>
      <vt:lpstr>Summary of Vaccine Trials in 2006</vt:lpstr>
      <vt:lpstr>Mechanisms of Immune protection</vt:lpstr>
      <vt:lpstr>CD8 T cells provide significant Viral control during the chronic phase of infection</vt:lpstr>
      <vt:lpstr>Viral Immune Escape mechanisms</vt:lpstr>
      <vt:lpstr>How do we assay for T cell responses in HIV infected individuals? </vt:lpstr>
      <vt:lpstr>Immunodominant epitope escape can lead to loss of viral control</vt:lpstr>
      <vt:lpstr>Recent Reports Relating MHC Haplotype to HIV control</vt:lpstr>
      <vt:lpstr>Vaccine Expectations</vt:lpstr>
      <vt:lpstr>The Merck Vaccine</vt:lpstr>
      <vt:lpstr>Merck Vaccine Failure</vt:lpstr>
      <vt:lpstr>A Protective Vaccine? RV144 Trial</vt:lpstr>
      <vt:lpstr>Immune correlates of HIV RISK</vt:lpstr>
      <vt:lpstr>Points for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Immunology</dc:title>
  <dc:creator>Paul G. Thomas</dc:creator>
  <cp:lastModifiedBy>Thomas, Paul</cp:lastModifiedBy>
  <cp:revision>445</cp:revision>
  <dcterms:created xsi:type="dcterms:W3CDTF">2005-09-07T19:21:02Z</dcterms:created>
  <dcterms:modified xsi:type="dcterms:W3CDTF">2024-07-13T22:55:42Z</dcterms:modified>
</cp:coreProperties>
</file>