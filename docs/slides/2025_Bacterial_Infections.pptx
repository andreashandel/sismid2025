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4"/>
  </p:sldMasterIdLst>
  <p:notesMasterIdLst>
    <p:notesMasterId r:id="rId47"/>
  </p:notesMasterIdLst>
  <p:handoutMasterIdLst>
    <p:handoutMasterId r:id="rId48"/>
  </p:handoutMasterIdLst>
  <p:sldIdLst>
    <p:sldId id="256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6" r:id="rId22"/>
    <p:sldId id="305" r:id="rId23"/>
    <p:sldId id="307" r:id="rId24"/>
    <p:sldId id="308" r:id="rId25"/>
    <p:sldId id="309" r:id="rId26"/>
    <p:sldId id="310" r:id="rId27"/>
    <p:sldId id="311" r:id="rId28"/>
    <p:sldId id="315" r:id="rId29"/>
    <p:sldId id="313" r:id="rId30"/>
    <p:sldId id="316" r:id="rId31"/>
    <p:sldId id="317" r:id="rId32"/>
    <p:sldId id="318" r:id="rId33"/>
    <p:sldId id="312" r:id="rId34"/>
    <p:sldId id="320" r:id="rId35"/>
    <p:sldId id="319" r:id="rId36"/>
    <p:sldId id="321" r:id="rId37"/>
    <p:sldId id="327" r:id="rId38"/>
    <p:sldId id="325" r:id="rId39"/>
    <p:sldId id="328" r:id="rId40"/>
    <p:sldId id="329" r:id="rId41"/>
    <p:sldId id="326" r:id="rId42"/>
    <p:sldId id="322" r:id="rId43"/>
    <p:sldId id="324" r:id="rId44"/>
    <p:sldId id="323" r:id="rId45"/>
    <p:sldId id="330" r:id="rId4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632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Paul" userId="19aa047e-baa3-4b10-95a7-cc6a4a1ac18f" providerId="ADAL" clId="{021DF27B-7C71-4A87-B96D-F9B2F3A88872}"/>
    <pc:docChg chg="custSel modSld">
      <pc:chgData name="Thomas, Paul" userId="19aa047e-baa3-4b10-95a7-cc6a4a1ac18f" providerId="ADAL" clId="{021DF27B-7C71-4A87-B96D-F9B2F3A88872}" dt="2023-07-10T15:34:46.765" v="17" actId="20577"/>
      <pc:docMkLst>
        <pc:docMk/>
      </pc:docMkLst>
      <pc:sldChg chg="modSp mod">
        <pc:chgData name="Thomas, Paul" userId="19aa047e-baa3-4b10-95a7-cc6a4a1ac18f" providerId="ADAL" clId="{021DF27B-7C71-4A87-B96D-F9B2F3A88872}" dt="2023-07-10T15:34:46.765" v="17" actId="20577"/>
        <pc:sldMkLst>
          <pc:docMk/>
          <pc:sldMk cId="0" sldId="256"/>
        </pc:sldMkLst>
        <pc:spChg chg="mod">
          <ac:chgData name="Thomas, Paul" userId="19aa047e-baa3-4b10-95a7-cc6a4a1ac18f" providerId="ADAL" clId="{021DF27B-7C71-4A87-B96D-F9B2F3A88872}" dt="2023-07-10T15:34:41.620" v="9" actId="20577"/>
          <ac:spMkLst>
            <pc:docMk/>
            <pc:sldMk cId="0" sldId="256"/>
            <ac:spMk id="2050" creationId="{907989AB-041D-45AB-B25F-0C6827C53D99}"/>
          </ac:spMkLst>
        </pc:spChg>
        <pc:spChg chg="mod">
          <ac:chgData name="Thomas, Paul" userId="19aa047e-baa3-4b10-95a7-cc6a4a1ac18f" providerId="ADAL" clId="{021DF27B-7C71-4A87-B96D-F9B2F3A88872}" dt="2023-07-10T15:34:46.765" v="17" actId="20577"/>
          <ac:spMkLst>
            <pc:docMk/>
            <pc:sldMk cId="0" sldId="256"/>
            <ac:spMk id="2051" creationId="{820C4E21-B39A-42C8-9AC7-38F048736240}"/>
          </ac:spMkLst>
        </pc:spChg>
      </pc:sldChg>
    </pc:docChg>
  </pc:docChgLst>
  <pc:docChgLst>
    <pc:chgData name="Thomas, Paul" userId="19aa047e-baa3-4b10-95a7-cc6a4a1ac18f" providerId="ADAL" clId="{FA559C16-CEB9-476F-B456-5E179A6B0B32}"/>
    <pc:docChg chg="custSel modSld">
      <pc:chgData name="Thomas, Paul" userId="19aa047e-baa3-4b10-95a7-cc6a4a1ac18f" providerId="ADAL" clId="{FA559C16-CEB9-476F-B456-5E179A6B0B32}" dt="2024-07-13T22:48:42.438" v="0" actId="313"/>
      <pc:docMkLst>
        <pc:docMk/>
      </pc:docMkLst>
      <pc:sldChg chg="modSp mod">
        <pc:chgData name="Thomas, Paul" userId="19aa047e-baa3-4b10-95a7-cc6a4a1ac18f" providerId="ADAL" clId="{FA559C16-CEB9-476F-B456-5E179A6B0B32}" dt="2024-07-13T22:48:42.438" v="0" actId="313"/>
        <pc:sldMkLst>
          <pc:docMk/>
          <pc:sldMk cId="3276233112" sldId="326"/>
        </pc:sldMkLst>
        <pc:spChg chg="mod">
          <ac:chgData name="Thomas, Paul" userId="19aa047e-baa3-4b10-95a7-cc6a4a1ac18f" providerId="ADAL" clId="{FA559C16-CEB9-476F-B456-5E179A6B0B32}" dt="2024-07-13T22:48:42.438" v="0" actId="313"/>
          <ac:spMkLst>
            <pc:docMk/>
            <pc:sldMk cId="3276233112" sldId="326"/>
            <ac:spMk id="2" creationId="{1AABA382-EA4D-4A9D-A007-22A339197FE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DDB4AF-E4FC-4B4D-B958-DB421A07C2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25D78-5D2D-49F7-B720-7C9AA069CDB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B22BB103-2246-41C4-AC0F-3320F99EB125}" type="datetimeFigureOut">
              <a:rPr lang="en-US"/>
              <a:pPr>
                <a:defRPr/>
              </a:pPr>
              <a:t>7/13/2024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88B91C-18F4-41D5-8E5E-E198D8254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82A1AFA-AA71-4EFA-B020-6D2E4FE2E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5E6F3-6B38-4ABE-9CB5-C4D6A31CD8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91621-4BE7-48D5-B18B-654215F08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D6AC56FF-24AB-4094-8C50-691501300F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1A7647-15AC-463F-9FC5-E2E8507FBAFE}"/>
              </a:ext>
            </a:extLst>
          </p:cNvPr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47FAE3-4389-4A4D-A99B-A7793E4C5933}"/>
              </a:ext>
            </a:extLst>
          </p:cNvPr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49274-5333-421F-B145-BA624B68FB02}"/>
              </a:ext>
            </a:extLst>
          </p:cNvPr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3D122C-E153-4623-912F-D789AAAB8AFA}"/>
              </a:ext>
            </a:extLst>
          </p:cNvPr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A526F2E-F485-4DAF-A615-E124446E8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1D17F86-2A69-40E9-AEA1-F1F9E2393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573FFA4-EAC4-4C0D-B2CB-B5D099953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B03F8EF-B827-4521-8B04-0769ABE36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579C150-EE82-46E9-81B2-2AB290AA9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1E8F3C7-7DD9-41EF-954F-99B0B198D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82BAC8-8E96-436F-ADF5-0FAD81D070BF}"/>
              </a:ext>
            </a:extLst>
          </p:cNvPr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468610-E3C9-4950-A352-7AD994E94819}"/>
              </a:ext>
            </a:extLst>
          </p:cNvPr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A564BE-B655-4D0D-B1FC-504597B98353}"/>
              </a:ext>
            </a:extLst>
          </p:cNvPr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B2C53B3-EBF0-4C89-8C16-89F37058F7C9}"/>
              </a:ext>
            </a:extLst>
          </p:cNvPr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4DFA2A-3D38-4013-B732-A0517D67064A}"/>
              </a:ext>
            </a:extLst>
          </p:cNvPr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5FF04B-17E2-441B-8770-314EB87D7034}"/>
              </a:ext>
            </a:extLst>
          </p:cNvPr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>
            <a:extLst>
              <a:ext uri="{FF2B5EF4-FFF2-40B4-BE49-F238E27FC236}">
                <a16:creationId xmlns:a16="http://schemas.microsoft.com/office/drawing/2014/main" id="{3CCE45CD-8D32-4590-8CBA-2543B597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Footer Placeholder 16">
            <a:extLst>
              <a:ext uri="{FF2B5EF4-FFF2-40B4-BE49-F238E27FC236}">
                <a16:creationId xmlns:a16="http://schemas.microsoft.com/office/drawing/2014/main" id="{C6B80093-40A6-4D2E-AE56-116421CF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>
            <a:extLst>
              <a:ext uri="{FF2B5EF4-FFF2-40B4-BE49-F238E27FC236}">
                <a16:creationId xmlns:a16="http://schemas.microsoft.com/office/drawing/2014/main" id="{71BCAA2F-A8A1-48B2-9E11-3E503578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217FF481-9B4F-4DE1-8AFF-14AEB142F5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4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F7D7B02-D674-423B-8CE6-3796A652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C36BF031-2326-4878-BACC-9482BED02E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4488F1-49A5-4E7A-B960-DD4C9B2073B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F6DAD5FC-08BB-4151-AE6F-CCAE0F1C70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750832-E44A-462B-BB0B-472AB341E567}"/>
              </a:ext>
            </a:extLst>
          </p:cNvPr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13BBC-2EE3-4D63-A71E-A844B92AF082}"/>
              </a:ext>
            </a:extLst>
          </p:cNvPr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B81AD0-FAD7-4820-8502-321C65B69D47}"/>
              </a:ext>
            </a:extLst>
          </p:cNvPr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E909A-DEB1-4A20-B89C-95BF46745DC5}"/>
              </a:ext>
            </a:extLst>
          </p:cNvPr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33E71AF-B7EC-4B1B-B865-AB64679C0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4EE8BDC-2371-4FC5-AF69-A41A8E5FC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378F637-5BC2-432E-A656-DB29C7F3B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61C2C54-01C6-4176-BA9A-0B25DA3DD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F16E231-EB04-40D5-BC6D-0B3E17655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A564D5-398D-446A-A784-70516D6D08E9}"/>
              </a:ext>
            </a:extLst>
          </p:cNvPr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23DDCD-95A6-46CB-A735-9A5D84762217}"/>
              </a:ext>
            </a:extLst>
          </p:cNvPr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4039B7C-16EC-42F8-80B9-872786D5D07F}"/>
              </a:ext>
            </a:extLst>
          </p:cNvPr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B56371-916E-40E6-B568-EEE342168D77}"/>
              </a:ext>
            </a:extLst>
          </p:cNvPr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FD9515C-0065-441E-912D-BB6FAF6899F6}"/>
              </a:ext>
            </a:extLst>
          </p:cNvPr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68C3DD-F520-4519-9DC7-BB3ED5F25067}"/>
              </a:ext>
            </a:extLst>
          </p:cNvPr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741A6E8-3AB6-4BC1-B59C-0F92C93A6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1CE4736F-198F-4430-A76C-F1ECD448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A61E9A33-C20D-44F8-B2FC-6E8D1FAE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90216B1-49C2-4C8C-9CDB-8D1884EE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6BA7F625-040A-4342-ABB5-A9452B5BC9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5453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E01AE923-5E90-4299-886E-B9F1B631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E36CF5B-0CF4-4F75-829A-F97FE026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7D3A1B31-4935-44D5-955E-A063ED5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83204E-A8A6-4D2E-BFA1-FFC2AD53EB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24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0F0EF7B5-30DC-4136-9488-4F047B94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EB636E7-AC82-448B-AC1B-A890E360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54233B7E-DCF7-4B06-B397-4EE8AF76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BE001-2C94-4E17-975E-81D6221DC2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393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9678AF3C-CC72-4B73-B3B2-0FB13F89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3F057FDC-16AF-434E-A4FE-1FAC77ED98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645A0A-4F2F-492E-AF96-D48E4CA5E5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36CA4196-327E-4FA5-809B-E042749FC9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4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3E639CFD-AEA3-4DAB-8FA3-8A954C84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B1615-6DAC-4F46-92F2-09D16A20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DF33A2F7-CA2E-47FB-8462-3D20AC89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BD5C75-1AF6-4230-9A7A-4CF39E088A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373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84068BF9-8ACA-4E00-AE5C-39C43F6BB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05D1DC2-E395-4FB6-91F3-A59A3C1CC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Straight Connector 16">
            <a:extLst>
              <a:ext uri="{FF2B5EF4-FFF2-40B4-BE49-F238E27FC236}">
                <a16:creationId xmlns:a16="http://schemas.microsoft.com/office/drawing/2014/main" id="{752BE45D-183B-49A3-9625-0377C85C0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" name="Straight Connector 17">
            <a:extLst>
              <a:ext uri="{FF2B5EF4-FFF2-40B4-BE49-F238E27FC236}">
                <a16:creationId xmlns:a16="http://schemas.microsoft.com/office/drawing/2014/main" id="{98AD0C05-7B59-4831-AE3D-3E50ECC1FD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E2232B-BB52-47C9-970B-99E441F4C56C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Straight Connector 19">
            <a:extLst>
              <a:ext uri="{FF2B5EF4-FFF2-40B4-BE49-F238E27FC236}">
                <a16:creationId xmlns:a16="http://schemas.microsoft.com/office/drawing/2014/main" id="{6D4FEFD7-60AB-40AB-AF9B-310AD835D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38FAE2-D186-48DF-B67A-782722730868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>
            <a:extLst>
              <a:ext uri="{FF2B5EF4-FFF2-40B4-BE49-F238E27FC236}">
                <a16:creationId xmlns:a16="http://schemas.microsoft.com/office/drawing/2014/main" id="{54F69995-2855-448E-A161-A60C53D4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1">
            <a:extLst>
              <a:ext uri="{FF2B5EF4-FFF2-40B4-BE49-F238E27FC236}">
                <a16:creationId xmlns:a16="http://schemas.microsoft.com/office/drawing/2014/main" id="{BE52EF64-A329-4CA6-9540-EF5DC92728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FE6B91C-1312-477D-9B36-4024EFC4499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2">
            <a:extLst>
              <a:ext uri="{FF2B5EF4-FFF2-40B4-BE49-F238E27FC236}">
                <a16:creationId xmlns:a16="http://schemas.microsoft.com/office/drawing/2014/main" id="{0D422D1C-4209-448C-A4C7-1339577C76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73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39BC00A-16C7-434E-908D-70FEC266DF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A8B904-2EB9-4197-B7F1-0E124419DE2C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Straight Connector 16">
            <a:extLst>
              <a:ext uri="{FF2B5EF4-FFF2-40B4-BE49-F238E27FC236}">
                <a16:creationId xmlns:a16="http://schemas.microsoft.com/office/drawing/2014/main" id="{A40AAB90-0668-4F8D-B822-6226137ABB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6A3D92-BBC7-452B-B149-0CE14295E11F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traight Connector 18">
            <a:extLst>
              <a:ext uri="{FF2B5EF4-FFF2-40B4-BE49-F238E27FC236}">
                <a16:creationId xmlns:a16="http://schemas.microsoft.com/office/drawing/2014/main" id="{01A7F691-BFD7-4667-B62F-CB680ADBE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E0D7F1A-2A83-4072-9776-69833AE91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Straight Connector 20">
            <a:extLst>
              <a:ext uri="{FF2B5EF4-FFF2-40B4-BE49-F238E27FC236}">
                <a16:creationId xmlns:a16="http://schemas.microsoft.com/office/drawing/2014/main" id="{0E2D1769-6D19-4BE1-BF13-C5CF2761E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>
            <a:extLst>
              <a:ext uri="{FF2B5EF4-FFF2-40B4-BE49-F238E27FC236}">
                <a16:creationId xmlns:a16="http://schemas.microsoft.com/office/drawing/2014/main" id="{C2A52BA6-6F50-4A63-BB69-062393D8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17">
            <a:extLst>
              <a:ext uri="{FF2B5EF4-FFF2-40B4-BE49-F238E27FC236}">
                <a16:creationId xmlns:a16="http://schemas.microsoft.com/office/drawing/2014/main" id="{D41BFFB3-47AA-406B-9C5F-32794F3CF2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68D12A-A743-4FEE-866B-FD632AEBBB0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0">
            <a:extLst>
              <a:ext uri="{FF2B5EF4-FFF2-40B4-BE49-F238E27FC236}">
                <a16:creationId xmlns:a16="http://schemas.microsoft.com/office/drawing/2014/main" id="{6907F6F3-F567-44EE-B32C-91EE5B7C3D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39F4E184-36CD-49C2-9B33-FC66F01E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AD5CAB5-9475-455E-93F9-6736F9BF6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79C0DFA7-0A56-46B0-A2CB-D8F2C6C9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8AD086-D381-4728-907A-91E96EFEDD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93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91EE8E41-8004-4DFC-ADAC-D07540A2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73A4068-1146-447B-B70D-D42268C49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2262586F-FFF4-4CFC-82AC-B98FD5CF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EA722-7769-4FE6-9AF6-90189B542E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734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F7F7125-10DA-4658-91A1-DE9B0CBD0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E2044162-6E90-4F33-A106-233FB8751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>
            <a:extLst>
              <a:ext uri="{FF2B5EF4-FFF2-40B4-BE49-F238E27FC236}">
                <a16:creationId xmlns:a16="http://schemas.microsoft.com/office/drawing/2014/main" id="{46E6D464-7D0B-4C9E-B739-05134BB606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95953C2-8DD1-4EEF-A5D8-AC660CD4E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436A5-7B13-4699-9121-A92B71E0B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917926E-D135-4045-B556-15FB11E58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032" name="Straight Connector 8">
            <a:extLst>
              <a:ext uri="{FF2B5EF4-FFF2-40B4-BE49-F238E27FC236}">
                <a16:creationId xmlns:a16="http://schemas.microsoft.com/office/drawing/2014/main" id="{1929FE20-393D-441D-8A59-D6E8B9853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757DC2-50C4-43C8-905C-2397237539E4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34" name="Straight Connector 10">
            <a:extLst>
              <a:ext uri="{FF2B5EF4-FFF2-40B4-BE49-F238E27FC236}">
                <a16:creationId xmlns:a16="http://schemas.microsoft.com/office/drawing/2014/main" id="{0668961D-C618-4C02-8871-1C5B39097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9617B6-5608-4F63-8E79-B0A3D2F2C37B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4E891DB-EC7E-410D-9EE4-40A099D30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FFFFFF"/>
                </a:solidFill>
              </a:defRPr>
            </a:lvl1pPr>
          </a:lstStyle>
          <a:p>
            <a:fld id="{BDC9F440-2C23-4117-B8EF-DDEF25A594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62" r:id="rId4"/>
    <p:sldLayoutId id="2147484163" r:id="rId5"/>
    <p:sldLayoutId id="2147484170" r:id="rId6"/>
    <p:sldLayoutId id="2147484164" r:id="rId7"/>
    <p:sldLayoutId id="2147484171" r:id="rId8"/>
    <p:sldLayoutId id="2147484172" r:id="rId9"/>
    <p:sldLayoutId id="2147484165" r:id="rId10"/>
    <p:sldLayoutId id="21474841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82A0B9"/>
        </a:buClr>
        <a:buSzPct val="60000"/>
        <a:buFont typeface="Wingdings" panose="05000000000000000000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C8D7E5"/>
        </a:buClr>
        <a:buSzPct val="60000"/>
        <a:buFont typeface="Wingdings" panose="05000000000000000000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EBC0B1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07989AB-041D-45AB-B25F-0C6827C53D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Bacterial Infections: TB, Pneumococcus, Staph Aureus</a:t>
            </a:r>
            <a:br>
              <a:rPr lang="en-US" dirty="0"/>
            </a:br>
            <a:endParaRPr lang="en-US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20C4E21-B39A-42C8-9AC7-38F0487362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>
            <a:normAutofit fontScale="70000" lnSpcReduction="2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Unit 5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Paul Thomas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Paul.Thomas@stjude.org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Department of Immunology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St. Jude Children’s Research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A8C06DF-5388-45C1-8DF3-7F5BE7DD48C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Immune Control of </a:t>
            </a:r>
            <a:r>
              <a:rPr lang="en-US" i="1"/>
              <a:t>Mycobacterium  tuberculosis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5CD47-6758-4979-AD1F-33692025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i="1"/>
              <a:t>Mycobacterium Tuberculosis </a:t>
            </a:r>
            <a:r>
              <a:rPr lang="en-US"/>
              <a:t>(</a:t>
            </a:r>
            <a:r>
              <a:rPr lang="en-US" err="1"/>
              <a:t>Mtb</a:t>
            </a:r>
            <a:r>
              <a:rPr lang="en-US"/>
              <a:t>)</a:t>
            </a:r>
            <a:endParaRPr lang="en-US" i="1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D9E8EB39-93E0-4E31-BA92-026B902A165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676400"/>
            <a:ext cx="3886200" cy="4873625"/>
          </a:xfrm>
        </p:spPr>
        <p:txBody>
          <a:bodyPr/>
          <a:lstStyle/>
          <a:p>
            <a:r>
              <a:rPr lang="en-US" altLang="en-US"/>
              <a:t>Acid-fast, rod-shaped bacillus</a:t>
            </a:r>
          </a:p>
          <a:p>
            <a:r>
              <a:rPr lang="en-US" altLang="en-US"/>
              <a:t>Unique wax-rich cell wall composed of long chain fatty acids and glycolipids </a:t>
            </a:r>
          </a:p>
          <a:p>
            <a:r>
              <a:rPr lang="en-US" altLang="en-US"/>
              <a:t>250 genes dedicated to fatty-acid metabolism</a:t>
            </a:r>
          </a:p>
          <a:p>
            <a:r>
              <a:rPr lang="en-US" altLang="en-US"/>
              <a:t>Slow, 20 hour replication time</a:t>
            </a:r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7F91B199-1284-47BD-A5D3-DF3598552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066800"/>
            <a:ext cx="4657725" cy="487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4AD-0B38-417C-9993-512687563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3048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err="1"/>
              <a:t>Mtb</a:t>
            </a:r>
            <a:r>
              <a:rPr lang="en-US"/>
              <a:t> infection Worldwide</a:t>
            </a:r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75FAB037-1429-455B-9E98-F0993B25D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2038"/>
            <a:ext cx="8763000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32C7-FDAB-4750-8DF8-C2EFD186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err="1"/>
              <a:t>Mtb</a:t>
            </a:r>
            <a:r>
              <a:rPr lang="en-US"/>
              <a:t> impact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1B7A853F-AC37-493E-80B3-81AD0A02AF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r>
              <a:rPr lang="en-US" altLang="en-US"/>
              <a:t>2.2 million deaths/year</a:t>
            </a:r>
          </a:p>
          <a:p>
            <a:r>
              <a:rPr lang="en-US" altLang="en-US"/>
              <a:t>Burden of diseases in DALY (disability-adjusted life years)</a:t>
            </a:r>
          </a:p>
          <a:p>
            <a:r>
              <a:rPr lang="en-US" altLang="en-US"/>
              <a:t>Total Disability Adjusted Life Years: 45 million (3.1%).</a:t>
            </a:r>
          </a:p>
          <a:p>
            <a:r>
              <a:rPr lang="en-US" altLang="en-US"/>
              <a:t>2 billion individuals infected with M. tuberculosis </a:t>
            </a:r>
          </a:p>
          <a:p>
            <a:pPr lvl="1"/>
            <a:r>
              <a:rPr lang="en-US" altLang="en-US"/>
              <a:t>10% risk of developing disease following infection </a:t>
            </a:r>
          </a:p>
          <a:p>
            <a:pPr lvl="1"/>
            <a:r>
              <a:rPr lang="en-US" altLang="en-US"/>
              <a:t>Untreated, disease mortality is 50%</a:t>
            </a:r>
          </a:p>
          <a:p>
            <a:r>
              <a:rPr lang="en-US" altLang="en-US"/>
              <a:t>8 million new tuberculosis cases per year (1 new case every 4 seconds)</a:t>
            </a:r>
          </a:p>
          <a:p>
            <a:r>
              <a:rPr lang="en-US" altLang="en-US"/>
              <a:t>10–15 individuals infected annually by a single untreated patient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41B6-A39A-483B-B47A-518A610F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86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err="1"/>
              <a:t>Mtb</a:t>
            </a:r>
            <a:r>
              <a:rPr lang="en-US"/>
              <a:t> Life Cycle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769345D1-B289-4DC4-ABE8-670619AE7B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810000" cy="487362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err="1"/>
              <a:t>MTb</a:t>
            </a:r>
            <a:r>
              <a:rPr lang="en-US"/>
              <a:t> replicates in and accumulates in macrophages, mostly in the lung (though other  tissue sites are possible)</a:t>
            </a:r>
          </a:p>
          <a:p>
            <a:pPr>
              <a:defRPr/>
            </a:pPr>
            <a:r>
              <a:rPr lang="en-US"/>
              <a:t>The accumulation of infected macrophages, surrounded by other leukocytes forms a unique structure called the </a:t>
            </a:r>
            <a:r>
              <a:rPr lang="en-US" err="1"/>
              <a:t>granuloma</a:t>
            </a:r>
            <a:r>
              <a:rPr lang="en-US"/>
              <a:t>, the characteristic feature of </a:t>
            </a:r>
            <a:r>
              <a:rPr lang="en-US" err="1"/>
              <a:t>MTb</a:t>
            </a:r>
            <a:r>
              <a:rPr lang="en-US"/>
              <a:t>-associated lung damage</a:t>
            </a:r>
          </a:p>
        </p:txBody>
      </p:sp>
      <p:pic>
        <p:nvPicPr>
          <p:cNvPr id="38916" name="Picture 2">
            <a:extLst>
              <a:ext uri="{FF2B5EF4-FFF2-40B4-BE49-F238E27FC236}">
                <a16:creationId xmlns:a16="http://schemas.microsoft.com/office/drawing/2014/main" id="{CC803A7B-EA4F-4E0C-BD99-468B148E6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52400"/>
            <a:ext cx="4267200" cy="664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7872-D25A-47B1-B838-91A0DCBB9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err="1"/>
              <a:t>Mtb</a:t>
            </a:r>
            <a:r>
              <a:rPr lang="en-US"/>
              <a:t> Life Cycle Part 2</a:t>
            </a:r>
          </a:p>
        </p:txBody>
      </p:sp>
      <p:pic>
        <p:nvPicPr>
          <p:cNvPr id="39939" name="Picture 2">
            <a:extLst>
              <a:ext uri="{FF2B5EF4-FFF2-40B4-BE49-F238E27FC236}">
                <a16:creationId xmlns:a16="http://schemas.microsoft.com/office/drawing/2014/main" id="{A8806BAF-7EB4-4BF4-8EA0-4A63749B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74775"/>
            <a:ext cx="6248400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5">
            <a:extLst>
              <a:ext uri="{FF2B5EF4-FFF2-40B4-BE49-F238E27FC236}">
                <a16:creationId xmlns:a16="http://schemas.microsoft.com/office/drawing/2014/main" id="{0A95C57F-B5B2-4BB4-8BFD-62622D4C9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038600"/>
            <a:ext cx="2646363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6">
            <a:extLst>
              <a:ext uri="{FF2B5EF4-FFF2-40B4-BE49-F238E27FC236}">
                <a16:creationId xmlns:a16="http://schemas.microsoft.com/office/drawing/2014/main" id="{51E34233-3DEB-4CF2-B00E-DAAD3753E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2611438" cy="19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E2EF-9630-43B9-BB4E-79254C0C1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4572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/>
              <a:t>Innate Recognition of </a:t>
            </a:r>
            <a:r>
              <a:rPr lang="en-US" err="1"/>
              <a:t>Mtb</a:t>
            </a:r>
            <a:endParaRPr lang="en-US"/>
          </a:p>
        </p:txBody>
      </p:sp>
      <p:pic>
        <p:nvPicPr>
          <p:cNvPr id="40963" name="Picture 6">
            <a:extLst>
              <a:ext uri="{FF2B5EF4-FFF2-40B4-BE49-F238E27FC236}">
                <a16:creationId xmlns:a16="http://schemas.microsoft.com/office/drawing/2014/main" id="{41B72093-5864-43FD-81B8-243D2F3EF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8713"/>
            <a:ext cx="9144000" cy="572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66E8-4F67-4F83-82F5-E15E55D8A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533400"/>
            <a:ext cx="4724400" cy="1752600"/>
          </a:xfrm>
        </p:spPr>
        <p:txBody>
          <a:bodyPr/>
          <a:lstStyle/>
          <a:p>
            <a:pPr>
              <a:defRPr/>
            </a:pPr>
            <a:r>
              <a:rPr lang="en-US"/>
              <a:t>Activation of Cytokine Storm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817D94C-5EEE-46F0-B2D8-262F8736657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3810000" cy="487362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/>
              <a:t>Macrophages do respond to the infection, even if they fail to clear</a:t>
            </a:r>
          </a:p>
          <a:p>
            <a:pPr>
              <a:defRPr/>
            </a:pPr>
            <a:r>
              <a:rPr lang="en-US"/>
              <a:t>Recruitment of other </a:t>
            </a:r>
            <a:r>
              <a:rPr lang="en-US" err="1"/>
              <a:t>monocyte</a:t>
            </a:r>
            <a:r>
              <a:rPr lang="en-US"/>
              <a:t>/macrophages/inflammatory cells to the lesion, promoting </a:t>
            </a:r>
            <a:r>
              <a:rPr lang="en-US" err="1"/>
              <a:t>granuloma</a:t>
            </a:r>
            <a:r>
              <a:rPr lang="en-US"/>
              <a:t> formation and enhancement of cytokine signaling</a:t>
            </a:r>
          </a:p>
          <a:p>
            <a:pPr>
              <a:defRPr/>
            </a:pPr>
            <a:r>
              <a:rPr lang="en-US"/>
              <a:t>Eventually recruits adaptive response which acts through “traditional” cell-mediated clearance and regulation of macrophage </a:t>
            </a:r>
            <a:r>
              <a:rPr lang="en-US" err="1"/>
              <a:t>effector</a:t>
            </a:r>
            <a:r>
              <a:rPr lang="en-US"/>
              <a:t> function</a:t>
            </a:r>
          </a:p>
        </p:txBody>
      </p:sp>
      <p:pic>
        <p:nvPicPr>
          <p:cNvPr id="41988" name="Picture 2">
            <a:extLst>
              <a:ext uri="{FF2B5EF4-FFF2-40B4-BE49-F238E27FC236}">
                <a16:creationId xmlns:a16="http://schemas.microsoft.com/office/drawing/2014/main" id="{71B877E0-FE95-4325-AB76-4DFCF12A4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58763"/>
            <a:ext cx="4572000" cy="632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35F3-BFFD-42A7-8603-140FDD63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err="1"/>
              <a:t>Endosomal</a:t>
            </a:r>
            <a:r>
              <a:rPr lang="en-US"/>
              <a:t>/</a:t>
            </a:r>
            <a:r>
              <a:rPr lang="en-US" err="1"/>
              <a:t>Lysosomal</a:t>
            </a:r>
            <a:r>
              <a:rPr lang="en-US"/>
              <a:t> </a:t>
            </a:r>
            <a:r>
              <a:rPr lang="en-US" err="1"/>
              <a:t>Dysregulation</a:t>
            </a:r>
            <a:endParaRPr 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02917892-1830-4795-A063-4D4C480D6CA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143000"/>
            <a:ext cx="3962400" cy="4873625"/>
          </a:xfrm>
        </p:spPr>
        <p:txBody>
          <a:bodyPr/>
          <a:lstStyle/>
          <a:p>
            <a:r>
              <a:rPr lang="en-US" altLang="en-US"/>
              <a:t>After uptake by scavenger receptors, MTb arrests the maturation and fusion of the phagosome with the endosome</a:t>
            </a:r>
          </a:p>
          <a:p>
            <a:r>
              <a:rPr lang="en-US" altLang="en-US"/>
              <a:t>Highly activated macrophages (IFN-g stimulation) can complete maturation and destroy the bacteria—otherwise, the bacteria remain latent or can grow</a:t>
            </a:r>
          </a:p>
        </p:txBody>
      </p:sp>
      <p:pic>
        <p:nvPicPr>
          <p:cNvPr id="43012" name="Picture 2">
            <a:extLst>
              <a:ext uri="{FF2B5EF4-FFF2-40B4-BE49-F238E27FC236}">
                <a16:creationId xmlns:a16="http://schemas.microsoft.com/office/drawing/2014/main" id="{5E07B8F9-0C41-4128-9D06-5693C6B71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388" y="1371600"/>
            <a:ext cx="5535612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4543-7C4B-404D-B700-26ACFD93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/>
              <a:t>Initiation of the Adaptive Response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A4E8F371-053D-4664-AF8F-6814AE85954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76200" y="1066800"/>
            <a:ext cx="3276600" cy="50292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/>
              <a:t>The cytokine storm </a:t>
            </a:r>
            <a:r>
              <a:rPr lang="en-US" err="1"/>
              <a:t>initaited</a:t>
            </a:r>
            <a:r>
              <a:rPr lang="en-US"/>
              <a:t> by the innate response determines the character of the ensuing adaptive response</a:t>
            </a:r>
          </a:p>
          <a:p>
            <a:pPr>
              <a:defRPr/>
            </a:pPr>
            <a:r>
              <a:rPr lang="en-US"/>
              <a:t>Non-classical T cells (gamma-delta, CD1 restricted) play an important role in </a:t>
            </a:r>
            <a:r>
              <a:rPr lang="en-US" err="1"/>
              <a:t>MTb</a:t>
            </a:r>
            <a:r>
              <a:rPr lang="en-US"/>
              <a:t> control, but are not conserved between humans and mice, making their study difficult (one reason why guinea pigs are often used in </a:t>
            </a:r>
            <a:r>
              <a:rPr lang="en-US" err="1"/>
              <a:t>MTb</a:t>
            </a:r>
            <a:r>
              <a:rPr lang="en-US"/>
              <a:t> studies)</a:t>
            </a:r>
          </a:p>
          <a:p>
            <a:pPr>
              <a:defRPr/>
            </a:pPr>
            <a:r>
              <a:rPr lang="en-US"/>
              <a:t>Both CD4 and CD8 functions (cytokine regulation and direct cell clearance) are associated with protection from disease</a:t>
            </a:r>
          </a:p>
        </p:txBody>
      </p:sp>
      <p:pic>
        <p:nvPicPr>
          <p:cNvPr id="45060" name="Picture 2">
            <a:extLst>
              <a:ext uri="{FF2B5EF4-FFF2-40B4-BE49-F238E27FC236}">
                <a16:creationId xmlns:a16="http://schemas.microsoft.com/office/drawing/2014/main" id="{6F96DD29-2FFF-4054-AA2C-FA9D717B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447800"/>
            <a:ext cx="5818188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3">
            <a:extLst>
              <a:ext uri="{FF2B5EF4-FFF2-40B4-BE49-F238E27FC236}">
                <a16:creationId xmlns:a16="http://schemas.microsoft.com/office/drawing/2014/main" id="{E7518BC5-DC5B-425C-A622-1E5150C31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7315200" cy="608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66D2-87AD-4B65-BBB0-1FCD8EA1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Generation of Antigen-Specific Regulatory T cells</a:t>
            </a:r>
          </a:p>
        </p:txBody>
      </p:sp>
      <p:pic>
        <p:nvPicPr>
          <p:cNvPr id="47107" name="Picture 3">
            <a:extLst>
              <a:ext uri="{FF2B5EF4-FFF2-40B4-BE49-F238E27FC236}">
                <a16:creationId xmlns:a16="http://schemas.microsoft.com/office/drawing/2014/main" id="{B4DDF779-F8B1-4E9D-AAD4-BBBFEE12A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95450"/>
            <a:ext cx="827405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36A7-A380-48BA-A4B2-CE249A46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/>
              <a:t>T cell regulation of Macrophage </a:t>
            </a:r>
            <a:r>
              <a:rPr lang="en-US" err="1"/>
              <a:t>effector</a:t>
            </a:r>
            <a:r>
              <a:rPr lang="en-US"/>
              <a:t> Function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C7C8C9B-FE9C-4608-9F1B-54B0007FD8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76200" y="1600200"/>
            <a:ext cx="4038600" cy="487362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/>
              <a:t>The balance of regulatory vs. </a:t>
            </a:r>
            <a:r>
              <a:rPr lang="en-US" err="1"/>
              <a:t>effector</a:t>
            </a:r>
            <a:r>
              <a:rPr lang="en-US"/>
              <a:t> signals (and the various types of those signals) determine the activation </a:t>
            </a:r>
            <a:r>
              <a:rPr lang="en-US" err="1"/>
              <a:t>mileu</a:t>
            </a:r>
            <a:r>
              <a:rPr lang="en-US"/>
              <a:t> of the </a:t>
            </a:r>
            <a:r>
              <a:rPr lang="en-US" err="1"/>
              <a:t>granuloma</a:t>
            </a:r>
            <a:r>
              <a:rPr lang="en-US"/>
              <a:t> and the infected macrophage</a:t>
            </a:r>
          </a:p>
          <a:p>
            <a:pPr>
              <a:defRPr/>
            </a:pPr>
            <a:r>
              <a:rPr lang="en-US"/>
              <a:t>Immune-associated pathology is also a risk, so some regulatory balance is required to maintain the lung physiology while achieving clearance or control</a:t>
            </a:r>
          </a:p>
        </p:txBody>
      </p:sp>
      <p:pic>
        <p:nvPicPr>
          <p:cNvPr id="48132" name="Picture 2">
            <a:extLst>
              <a:ext uri="{FF2B5EF4-FFF2-40B4-BE49-F238E27FC236}">
                <a16:creationId xmlns:a16="http://schemas.microsoft.com/office/drawing/2014/main" id="{897C2EA1-6E6E-46D0-B04A-44D2CB45B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596900"/>
            <a:ext cx="5105400" cy="624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401FE-7E60-46DD-A496-DDA161A1E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5334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/>
              <a:t>IL-10 regulation of lung pathology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DA24-AF3F-4558-8F63-BA0066FE72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371600"/>
            <a:ext cx="3657600" cy="487362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/>
              <a:t>IL-10 has been shown in multiple infections to be a key regulatory of pathology</a:t>
            </a:r>
          </a:p>
          <a:p>
            <a:pPr>
              <a:defRPr/>
            </a:pPr>
            <a:r>
              <a:rPr lang="en-US"/>
              <a:t>In influenza, IL-10 produced by multiple cell types is required for survival in certain models of infection</a:t>
            </a:r>
          </a:p>
          <a:p>
            <a:pPr>
              <a:defRPr/>
            </a:pPr>
            <a:r>
              <a:rPr lang="en-US"/>
              <a:t>The </a:t>
            </a:r>
            <a:r>
              <a:rPr lang="en-US" err="1"/>
              <a:t>pleiotropic</a:t>
            </a:r>
            <a:r>
              <a:rPr lang="en-US"/>
              <a:t> effects of this cytokine are still poorly understood at a mechanistic level</a:t>
            </a:r>
          </a:p>
        </p:txBody>
      </p:sp>
      <p:pic>
        <p:nvPicPr>
          <p:cNvPr id="49156" name="Picture 2">
            <a:extLst>
              <a:ext uri="{FF2B5EF4-FFF2-40B4-BE49-F238E27FC236}">
                <a16:creationId xmlns:a16="http://schemas.microsoft.com/office/drawing/2014/main" id="{D42D621B-7643-47E1-8C42-04BE28292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914400"/>
            <a:ext cx="5260975" cy="5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>
            <a:extLst>
              <a:ext uri="{FF2B5EF4-FFF2-40B4-BE49-F238E27FC236}">
                <a16:creationId xmlns:a16="http://schemas.microsoft.com/office/drawing/2014/main" id="{5FFC0A03-12DC-4A28-BDD0-86005E2D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0"/>
            <a:ext cx="71437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1E16E3-578B-4AA5-A2E2-ADB46F2D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4572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/>
              <a:t>Control of </a:t>
            </a:r>
            <a:r>
              <a:rPr lang="en-US" err="1"/>
              <a:t>Mtb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182C-F981-49D8-A71E-C0FF57D8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4572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/>
              <a:t>Summary of Control mechanisms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6127CB6D-C7BE-4852-A435-6E86378A72B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3581400" cy="487362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err="1"/>
              <a:t>Phagolysosomal</a:t>
            </a:r>
            <a:r>
              <a:rPr lang="en-US"/>
              <a:t> destruction is the most important mechanism for removing bacteria</a:t>
            </a:r>
          </a:p>
          <a:p>
            <a:pPr>
              <a:defRPr/>
            </a:pPr>
            <a:r>
              <a:rPr lang="en-US" err="1"/>
              <a:t>IFNg</a:t>
            </a:r>
            <a:r>
              <a:rPr lang="en-US"/>
              <a:t> stimulates the maturation of the </a:t>
            </a:r>
            <a:r>
              <a:rPr lang="en-US" err="1"/>
              <a:t>phagolysosome</a:t>
            </a:r>
            <a:r>
              <a:rPr lang="en-US"/>
              <a:t>, overcoming the inhibitory signals used by </a:t>
            </a:r>
            <a:r>
              <a:rPr lang="en-US" err="1"/>
              <a:t>MTb</a:t>
            </a:r>
            <a:endParaRPr lang="en-US"/>
          </a:p>
          <a:p>
            <a:pPr>
              <a:defRPr/>
            </a:pPr>
            <a:r>
              <a:rPr lang="en-US"/>
              <a:t>The most effective form of this killing involves ROI and RNI</a:t>
            </a:r>
          </a:p>
          <a:p>
            <a:pPr>
              <a:defRPr/>
            </a:pPr>
            <a:r>
              <a:rPr lang="en-US"/>
              <a:t>Adaptive immunity is important for regulating the cytokine environment and, to a smaller extent, for </a:t>
            </a:r>
            <a:r>
              <a:rPr lang="en-US" err="1"/>
              <a:t>cytolytic</a:t>
            </a:r>
            <a:r>
              <a:rPr lang="en-US"/>
              <a:t> killing</a:t>
            </a:r>
          </a:p>
        </p:txBody>
      </p:sp>
      <p:pic>
        <p:nvPicPr>
          <p:cNvPr id="51204" name="Picture 2">
            <a:extLst>
              <a:ext uri="{FF2B5EF4-FFF2-40B4-BE49-F238E27FC236}">
                <a16:creationId xmlns:a16="http://schemas.microsoft.com/office/drawing/2014/main" id="{EBD0497B-472C-4B2F-9B3D-C234D0953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828800"/>
            <a:ext cx="5508625" cy="340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B3D6-F753-49C2-BF60-544723A5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1524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/>
              <a:t>Human Genetic Deficiencies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C261503A-C0D0-42E5-8128-AF43E4358A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76200" y="1755775"/>
            <a:ext cx="3581400" cy="4873625"/>
          </a:xfrm>
        </p:spPr>
        <p:txBody>
          <a:bodyPr/>
          <a:lstStyle/>
          <a:p>
            <a:r>
              <a:rPr lang="en-US" altLang="en-US"/>
              <a:t>The primary phenotype of individuals with genetics deficiencies in IFN-g signaling or activation is susceptibility to Mycobacterial disease</a:t>
            </a:r>
          </a:p>
          <a:p>
            <a:r>
              <a:rPr lang="en-US" altLang="en-US"/>
              <a:t>In contrast, deficiencies in Type I IFNs result in viral susceptibilities</a:t>
            </a:r>
          </a:p>
        </p:txBody>
      </p:sp>
      <p:pic>
        <p:nvPicPr>
          <p:cNvPr id="56324" name="Picture 2">
            <a:extLst>
              <a:ext uri="{FF2B5EF4-FFF2-40B4-BE49-F238E27FC236}">
                <a16:creationId xmlns:a16="http://schemas.microsoft.com/office/drawing/2014/main" id="{77940A41-D2EC-4C32-A63C-28EAB4E66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266950"/>
            <a:ext cx="609917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44C8-00C5-4356-98C6-9E3C0BC0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/>
              <a:t>Summary and Perspectives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E945DBEA-97D4-4401-ABA4-34180708EC8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609600"/>
            <a:ext cx="7467600" cy="4873625"/>
          </a:xfrm>
        </p:spPr>
        <p:txBody>
          <a:bodyPr/>
          <a:lstStyle/>
          <a:p>
            <a:r>
              <a:rPr lang="en-US" altLang="en-US" err="1"/>
              <a:t>MTb</a:t>
            </a:r>
            <a:r>
              <a:rPr lang="en-US" altLang="en-US"/>
              <a:t> is never completely cleared following initial infection</a:t>
            </a:r>
          </a:p>
          <a:p>
            <a:r>
              <a:rPr lang="en-US" altLang="en-US"/>
              <a:t>The primary effector mechanisms are macrophage bactericidal functions, but their success is determined by the cytokine and cellular regulatory environment</a:t>
            </a:r>
          </a:p>
          <a:p>
            <a:r>
              <a:rPr lang="en-US" altLang="en-US"/>
              <a:t>Small subtle shifts over time or dramatic short-term changes lead to reactivation and disease</a:t>
            </a:r>
          </a:p>
        </p:txBody>
      </p:sp>
      <p:pic>
        <p:nvPicPr>
          <p:cNvPr id="62468" name="Picture 3">
            <a:extLst>
              <a:ext uri="{FF2B5EF4-FFF2-40B4-BE49-F238E27FC236}">
                <a16:creationId xmlns:a16="http://schemas.microsoft.com/office/drawing/2014/main" id="{AACDA9FF-3F04-4995-87E2-0566F73BD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22688"/>
            <a:ext cx="9134475" cy="313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5A780B-EF9E-4ACA-9A10-2C8E507F7D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Streptococcus Pneumoniae (Pneumococcus)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F736E4-3DA7-4CE4-9C5A-9F8615A59E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49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FC66-4698-4F06-BE74-589F9202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Streptococcus Pneumoniae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8ADBBCA-D592-4CDD-A147-CD6BB0A7F9F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709737"/>
            <a:ext cx="4235660" cy="48736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83788C-B9A4-4985-9ED3-BC9047FE4A14}"/>
              </a:ext>
            </a:extLst>
          </p:cNvPr>
          <p:cNvSpPr txBox="1"/>
          <p:nvPr/>
        </p:nvSpPr>
        <p:spPr>
          <a:xfrm>
            <a:off x="381000" y="2209800"/>
            <a:ext cx="411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Gram-positive, extracellular, opportunistic pathogen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Varying degrees of carriage among population—up to 65% of children, &lt;10%  of adults (higher in schools and hospitals)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4553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ED3A-B2B0-4B18-AFF3-22081810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28600"/>
            <a:ext cx="7467600" cy="1143000"/>
          </a:xfrm>
        </p:spPr>
        <p:txBody>
          <a:bodyPr/>
          <a:lstStyle/>
          <a:p>
            <a:r>
              <a:rPr lang="en-US"/>
              <a:t>Life Cycle of Strep Pneumoniae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DAC5DCE-C456-4890-8246-8E796EB53AA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600200"/>
            <a:ext cx="3141706" cy="48736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7E82FE-D7FA-4369-BBE8-8C87CAC62829}"/>
              </a:ext>
            </a:extLst>
          </p:cNvPr>
          <p:cNvSpPr txBox="1">
            <a:spLocks/>
          </p:cNvSpPr>
          <p:nvPr/>
        </p:nvSpPr>
        <p:spPr bwMode="auto">
          <a:xfrm>
            <a:off x="437065" y="1219200"/>
            <a:ext cx="4592135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Colonization/carriage is a prerequisite to disease, but is not itself a disease state</a:t>
            </a:r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Colonized individuals can transmit to others, and suffer invasive infection and subsequent disease within themselves</a:t>
            </a:r>
          </a:p>
        </p:txBody>
      </p:sp>
    </p:spTree>
    <p:extLst>
      <p:ext uri="{BB962C8B-B14F-4D97-AF65-F5344CB8AC3E}">
        <p14:creationId xmlns:p14="http://schemas.microsoft.com/office/powerpoint/2010/main" val="460661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D56F0-AFD5-4F1B-B81F-27B5CB25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Conversion from carriage to invasion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EC19470C-06F9-4E30-AFB8-3CAC705CF52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37598"/>
            <a:ext cx="7467600" cy="278280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E1038-6060-4438-BB15-BC1278308586}"/>
              </a:ext>
            </a:extLst>
          </p:cNvPr>
          <p:cNvSpPr txBox="1"/>
          <p:nvPr/>
        </p:nvSpPr>
        <p:spPr>
          <a:xfrm>
            <a:off x="914401" y="5334000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Inflammation can cause an increase in shedding, bacterial load, and disease manifestation</a:t>
            </a:r>
          </a:p>
        </p:txBody>
      </p:sp>
    </p:spTree>
    <p:extLst>
      <p:ext uri="{BB962C8B-B14F-4D97-AF65-F5344CB8AC3E}">
        <p14:creationId xmlns:p14="http://schemas.microsoft.com/office/powerpoint/2010/main" val="2573807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D514-28A5-47FC-96B5-8AFC20D4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21" y="-381000"/>
            <a:ext cx="7467600" cy="1143000"/>
          </a:xfrm>
        </p:spPr>
        <p:txBody>
          <a:bodyPr/>
          <a:lstStyle/>
          <a:p>
            <a:r>
              <a:rPr lang="en-US"/>
              <a:t>Invasion of the Bacteria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FC8DF05-3D82-48C5-B2EC-1233DD7644B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524000"/>
            <a:ext cx="4850513" cy="48736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E4F5D5-179F-4218-A5D4-E20B2452754D}"/>
              </a:ext>
            </a:extLst>
          </p:cNvPr>
          <p:cNvSpPr txBox="1">
            <a:spLocks/>
          </p:cNvSpPr>
          <p:nvPr/>
        </p:nvSpPr>
        <p:spPr bwMode="auto">
          <a:xfrm>
            <a:off x="228601" y="1524000"/>
            <a:ext cx="29718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Pneumococcus evade entrapment in mucus by the charge of the capsule</a:t>
            </a:r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Barriers (epithelial barrier, blood brain barrier) are broken down through a number of virulence factors </a:t>
            </a:r>
          </a:p>
        </p:txBody>
      </p:sp>
    </p:spTree>
    <p:extLst>
      <p:ext uri="{BB962C8B-B14F-4D97-AF65-F5344CB8AC3E}">
        <p14:creationId xmlns:p14="http://schemas.microsoft.com/office/powerpoint/2010/main" val="2966836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24855F-D20A-4504-9340-D11DCE70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609600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sz="2400"/>
              <a:t>CD4 Cells Can Differentiate into multiple Types of “Helpers”</a:t>
            </a:r>
          </a:p>
        </p:txBody>
      </p:sp>
      <p:pic>
        <p:nvPicPr>
          <p:cNvPr id="66563" name="Picture 45" descr="nri1807-f2">
            <a:extLst>
              <a:ext uri="{FF2B5EF4-FFF2-40B4-BE49-F238E27FC236}">
                <a16:creationId xmlns:a16="http://schemas.microsoft.com/office/drawing/2014/main" id="{CD11DF50-D594-41B9-B848-65CA09C8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23875"/>
            <a:ext cx="7620000" cy="633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959C-CDA2-44B0-A654-D2424ACF5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31" y="-36786"/>
            <a:ext cx="7467600" cy="1143000"/>
          </a:xfrm>
        </p:spPr>
        <p:txBody>
          <a:bodyPr/>
          <a:lstStyle/>
          <a:p>
            <a:r>
              <a:rPr lang="en-US"/>
              <a:t>Combined innate and adaptive responses provide protection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E71F56C-DE52-4CA0-A8DA-D4B57CDE18F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378462"/>
            <a:ext cx="6334381" cy="545589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197DE1-E913-401B-AABF-CE27635F362A}"/>
              </a:ext>
            </a:extLst>
          </p:cNvPr>
          <p:cNvSpPr txBox="1">
            <a:spLocks/>
          </p:cNvSpPr>
          <p:nvPr/>
        </p:nvSpPr>
        <p:spPr bwMode="auto">
          <a:xfrm>
            <a:off x="228601" y="1524000"/>
            <a:ext cx="1904999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Innate responses can be enforced and amplified by the differentiation of adaptive immune regulators</a:t>
            </a:r>
          </a:p>
        </p:txBody>
      </p:sp>
    </p:spTree>
    <p:extLst>
      <p:ext uri="{BB962C8B-B14F-4D97-AF65-F5344CB8AC3E}">
        <p14:creationId xmlns:p14="http://schemas.microsoft.com/office/powerpoint/2010/main" val="134001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CF8B-FBCA-4526-80B0-90EFF1AB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Pneumococcal vaccines rely on specific polysaccharides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4014F8E-AA90-4779-8543-C6A1F9D2BE8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94" y="1600200"/>
            <a:ext cx="6671611" cy="4873625"/>
          </a:xfrm>
        </p:spPr>
      </p:pic>
    </p:spTree>
    <p:extLst>
      <p:ext uri="{BB962C8B-B14F-4D97-AF65-F5344CB8AC3E}">
        <p14:creationId xmlns:p14="http://schemas.microsoft.com/office/powerpoint/2010/main" val="596516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9264-F053-424A-8258-B276F69F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pneumococcal vaccine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DD82D-0054-4997-BDFF-A5A9B6D6A7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9F3DE2-5C68-417B-87CD-227DA2E80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33" t="17407" r="5834" b="14444"/>
          <a:stretch/>
        </p:blipFill>
        <p:spPr>
          <a:xfrm>
            <a:off x="685799" y="1981200"/>
            <a:ext cx="7197587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09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4033-270D-4624-A724-B02C7CCEF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Disease burden reduced, with focus on included strains</a:t>
            </a:r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848E3285-7096-483D-A195-DE765CDB90E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45501"/>
            <a:ext cx="7467600" cy="4183022"/>
          </a:xfrm>
        </p:spPr>
      </p:pic>
    </p:spTree>
    <p:extLst>
      <p:ext uri="{BB962C8B-B14F-4D97-AF65-F5344CB8AC3E}">
        <p14:creationId xmlns:p14="http://schemas.microsoft.com/office/powerpoint/2010/main" val="3010980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895A7-441B-49D5-9A20-33C68C54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Secretory IgA molecules provide protection against invasion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F564866-0ED0-4FEC-9FFE-2F3B3FD43F4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709737"/>
            <a:ext cx="4460005" cy="4873625"/>
          </a:xfrm>
        </p:spPr>
      </p:pic>
    </p:spTree>
    <p:extLst>
      <p:ext uri="{BB962C8B-B14F-4D97-AF65-F5344CB8AC3E}">
        <p14:creationId xmlns:p14="http://schemas.microsoft.com/office/powerpoint/2010/main" val="3013630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5A780B-EF9E-4ACA-9A10-2C8E507F7D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Staphylococcus Aureus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F736E4-3DA7-4CE4-9C5A-9F8615A59E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65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7F50-0494-4ED3-A204-32D34B0D2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Stages of Staph Aureus infection</a:t>
            </a:r>
          </a:p>
        </p:txBody>
      </p:sp>
      <p:pic>
        <p:nvPicPr>
          <p:cNvPr id="5" name="Content Placeholder 4" descr="Diagram, timeline&#10;&#10;Description automatically generated">
            <a:extLst>
              <a:ext uri="{FF2B5EF4-FFF2-40B4-BE49-F238E27FC236}">
                <a16:creationId xmlns:a16="http://schemas.microsoft.com/office/drawing/2014/main" id="{06E8BA5A-FA3C-4466-98EA-BF2AAF30300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8716"/>
            <a:ext cx="7467600" cy="4736592"/>
          </a:xfrm>
        </p:spPr>
      </p:pic>
    </p:spTree>
    <p:extLst>
      <p:ext uri="{BB962C8B-B14F-4D97-AF65-F5344CB8AC3E}">
        <p14:creationId xmlns:p14="http://schemas.microsoft.com/office/powerpoint/2010/main" val="1032532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E93C-F42C-4087-A12D-D2F71CEF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MRSA-Methicillin Resistant Staph Aureus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9432FEE-6F25-4247-ACA0-30BAE2F36C7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98618"/>
            <a:ext cx="7467600" cy="4676789"/>
          </a:xfrm>
        </p:spPr>
      </p:pic>
    </p:spTree>
    <p:extLst>
      <p:ext uri="{BB962C8B-B14F-4D97-AF65-F5344CB8AC3E}">
        <p14:creationId xmlns:p14="http://schemas.microsoft.com/office/powerpoint/2010/main" val="877304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6E05-0F02-4351-9400-250926EC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Innate Signaling is Critical for STAPH recognition</a:t>
            </a:r>
          </a:p>
        </p:txBody>
      </p:sp>
      <p:pic>
        <p:nvPicPr>
          <p:cNvPr id="5" name="Content Placeholder 4" descr="Timeline&#10;&#10;Description automatically generated">
            <a:extLst>
              <a:ext uri="{FF2B5EF4-FFF2-40B4-BE49-F238E27FC236}">
                <a16:creationId xmlns:a16="http://schemas.microsoft.com/office/drawing/2014/main" id="{196B0BA2-8D77-45C9-A3C5-3662A6CE338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17" y="1600200"/>
            <a:ext cx="6498166" cy="4873625"/>
          </a:xfrm>
        </p:spPr>
      </p:pic>
    </p:spTree>
    <p:extLst>
      <p:ext uri="{BB962C8B-B14F-4D97-AF65-F5344CB8AC3E}">
        <p14:creationId xmlns:p14="http://schemas.microsoft.com/office/powerpoint/2010/main" val="27637057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8D49-34DB-423C-8328-2F599D2BA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Anti-Staph Immunity in the Skin</a:t>
            </a:r>
          </a:p>
        </p:txBody>
      </p:sp>
      <p:pic>
        <p:nvPicPr>
          <p:cNvPr id="5" name="Content Placeholder 4" descr="Timeline&#10;&#10;Description automatically generated">
            <a:extLst>
              <a:ext uri="{FF2B5EF4-FFF2-40B4-BE49-F238E27FC236}">
                <a16:creationId xmlns:a16="http://schemas.microsoft.com/office/drawing/2014/main" id="{6B8DC328-914B-4DCC-A1B8-73B1C1BA783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76209"/>
            <a:ext cx="5375898" cy="4873625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A5B1F4-5AF9-4A71-B1FB-2803C6A51FCF}"/>
              </a:ext>
            </a:extLst>
          </p:cNvPr>
          <p:cNvSpPr txBox="1">
            <a:spLocks/>
          </p:cNvSpPr>
          <p:nvPr/>
        </p:nvSpPr>
        <p:spPr bwMode="auto">
          <a:xfrm>
            <a:off x="350520" y="1791984"/>
            <a:ext cx="315468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Innate responses at mucosal surfaces are critical to limit bacterial invasion—high rates of Staph colonization!</a:t>
            </a:r>
          </a:p>
          <a:p>
            <a:r>
              <a:rPr lang="en-US" altLang="en-US"/>
              <a:t>Innate responses can be boosted by well-formed adaptive immunity</a:t>
            </a:r>
          </a:p>
        </p:txBody>
      </p:sp>
    </p:spTree>
    <p:extLst>
      <p:ext uri="{BB962C8B-B14F-4D97-AF65-F5344CB8AC3E}">
        <p14:creationId xmlns:p14="http://schemas.microsoft.com/office/powerpoint/2010/main" val="38666547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8BCB-758C-4634-A4F8-69619F53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Innate Control of Staph</a:t>
            </a:r>
          </a:p>
        </p:txBody>
      </p:sp>
      <p:pic>
        <p:nvPicPr>
          <p:cNvPr id="5" name="Content Placeholder 4" descr="Diagram, timeline&#10;&#10;Description automatically generated">
            <a:extLst>
              <a:ext uri="{FF2B5EF4-FFF2-40B4-BE49-F238E27FC236}">
                <a16:creationId xmlns:a16="http://schemas.microsoft.com/office/drawing/2014/main" id="{5267B827-BD6B-4131-9E90-34F6B0E4FFC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81" y="1600200"/>
            <a:ext cx="6896638" cy="4873625"/>
          </a:xfrm>
        </p:spPr>
      </p:pic>
    </p:spTree>
    <p:extLst>
      <p:ext uri="{BB962C8B-B14F-4D97-AF65-F5344CB8AC3E}">
        <p14:creationId xmlns:p14="http://schemas.microsoft.com/office/powerpoint/2010/main" val="641631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180F-4BCF-47F0-B3B1-6848CBF06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Innate-Adaptive collaboration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08572A5-C9FE-4C23-BB4D-4C1CB5B36D2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04069"/>
            <a:ext cx="7467600" cy="4665887"/>
          </a:xfrm>
        </p:spPr>
      </p:pic>
    </p:spTree>
    <p:extLst>
      <p:ext uri="{BB962C8B-B14F-4D97-AF65-F5344CB8AC3E}">
        <p14:creationId xmlns:p14="http://schemas.microsoft.com/office/powerpoint/2010/main" val="2506676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BA382-EA4D-4A9D-A007-22A33919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Immunological Deficiencies promote susceptibility to STAPH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E78BB-606C-4622-8C5C-EA8BCDDD88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B2708-3716-4E7D-AF11-EF6B54E48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3" t="18889" r="11668" b="15926"/>
          <a:stretch/>
        </p:blipFill>
        <p:spPr>
          <a:xfrm>
            <a:off x="457200" y="1819275"/>
            <a:ext cx="80010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33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B885-C3BA-485C-B0C0-0895A213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168219"/>
            <a:ext cx="4572000" cy="1404994"/>
          </a:xfrm>
        </p:spPr>
        <p:txBody>
          <a:bodyPr/>
          <a:lstStyle/>
          <a:p>
            <a:r>
              <a:rPr lang="en-US"/>
              <a:t>Mechanisms of Immune Evasion from Staph Aureus</a:t>
            </a:r>
          </a:p>
        </p:txBody>
      </p:sp>
      <p:pic>
        <p:nvPicPr>
          <p:cNvPr id="5" name="Content Placeholder 4" descr="Map&#10;&#10;Description automatically generated">
            <a:extLst>
              <a:ext uri="{FF2B5EF4-FFF2-40B4-BE49-F238E27FC236}">
                <a16:creationId xmlns:a16="http://schemas.microsoft.com/office/drawing/2014/main" id="{6B6948F9-7FF0-40DF-A5D4-7A0F9AB69DA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92391"/>
            <a:ext cx="3886200" cy="6473218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84FD9A-045A-47DE-9BF2-15736819C39F}"/>
              </a:ext>
            </a:extLst>
          </p:cNvPr>
          <p:cNvSpPr txBox="1">
            <a:spLocks/>
          </p:cNvSpPr>
          <p:nvPr/>
        </p:nvSpPr>
        <p:spPr bwMode="auto">
          <a:xfrm>
            <a:off x="350520" y="1791984"/>
            <a:ext cx="4038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Staph has multiple virulence factors to limit anti bacterial immunity</a:t>
            </a:r>
          </a:p>
          <a:p>
            <a:pPr lvl="1"/>
            <a:r>
              <a:rPr lang="en-US" altLang="en-US"/>
              <a:t>Enzymes to restrict effects of ROI/RNI</a:t>
            </a:r>
          </a:p>
          <a:p>
            <a:pPr lvl="1"/>
            <a:r>
              <a:rPr lang="en-US" altLang="en-US"/>
              <a:t>Metabolic disruptors to limit functionality of responding neutrophils</a:t>
            </a:r>
          </a:p>
          <a:p>
            <a:pPr lvl="1"/>
            <a:r>
              <a:rPr lang="en-US" altLang="en-US"/>
              <a:t>Direct mechanisms to kill host cells</a:t>
            </a:r>
          </a:p>
          <a:p>
            <a:pPr lvl="1"/>
            <a:r>
              <a:rPr lang="en-US" altLang="en-US"/>
              <a:t>Subtle disruptors of cell trafficking</a:t>
            </a:r>
          </a:p>
          <a:p>
            <a:pPr lvl="1"/>
            <a:r>
              <a:rPr lang="en-US" altLang="en-US"/>
              <a:t>Complement disruptors</a:t>
            </a:r>
          </a:p>
        </p:txBody>
      </p:sp>
    </p:spTree>
    <p:extLst>
      <p:ext uri="{BB962C8B-B14F-4D97-AF65-F5344CB8AC3E}">
        <p14:creationId xmlns:p14="http://schemas.microsoft.com/office/powerpoint/2010/main" val="3000496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E932C-FABA-4DB8-82E9-49E152C3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Manipulation of Host Immune responses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2B3F0E8-CD2A-435A-AC6F-89927FC70B5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437" y="1600200"/>
            <a:ext cx="5645125" cy="4873625"/>
          </a:xfrm>
        </p:spPr>
      </p:pic>
    </p:spTree>
    <p:extLst>
      <p:ext uri="{BB962C8B-B14F-4D97-AF65-F5344CB8AC3E}">
        <p14:creationId xmlns:p14="http://schemas.microsoft.com/office/powerpoint/2010/main" val="356280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7D99-5965-44AC-9849-9D4C907F9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STAPH can coagulate blood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496674BA-17DA-40CD-9017-04BCD9720AD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600200"/>
            <a:ext cx="3547750" cy="4873625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3A9181-E429-479E-A2D9-D7252394B752}"/>
              </a:ext>
            </a:extLst>
          </p:cNvPr>
          <p:cNvSpPr txBox="1">
            <a:spLocks/>
          </p:cNvSpPr>
          <p:nvPr/>
        </p:nvSpPr>
        <p:spPr bwMode="auto">
          <a:xfrm>
            <a:off x="350520" y="1791984"/>
            <a:ext cx="4038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Staphs unique ability to coagulate blood creates opportunities for virulence and immune evasion</a:t>
            </a:r>
          </a:p>
          <a:p>
            <a:endParaRPr lang="en-US" altLang="en-US"/>
          </a:p>
          <a:p>
            <a:r>
              <a:rPr lang="en-US" altLang="en-US"/>
              <a:t>The fibrin coat acts as a shield, and the large clumps generated block efficient phagocytosis</a:t>
            </a:r>
          </a:p>
        </p:txBody>
      </p:sp>
    </p:spTree>
    <p:extLst>
      <p:ext uri="{BB962C8B-B14F-4D97-AF65-F5344CB8AC3E}">
        <p14:creationId xmlns:p14="http://schemas.microsoft.com/office/powerpoint/2010/main" val="5555056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F1DF-0BA7-4C7C-98DE-C274828D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Bacterial Infections are Potentiated by Virus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7499CEB0-002A-41AE-BF28-CE27033EDBA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676209"/>
            <a:ext cx="5187744" cy="4873625"/>
          </a:xfrm>
        </p:spPr>
      </p:pic>
      <p:sp>
        <p:nvSpPr>
          <p:cNvPr id="4" name="AutoShape 2" descr="Fig. 2">
            <a:extLst>
              <a:ext uri="{FF2B5EF4-FFF2-40B4-BE49-F238E27FC236}">
                <a16:creationId xmlns:a16="http://schemas.microsoft.com/office/drawing/2014/main" id="{5A4F5DCB-62E3-4720-B798-AA832F5762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8AB5C3-0013-4716-AC08-D3FBE18D5917}"/>
              </a:ext>
            </a:extLst>
          </p:cNvPr>
          <p:cNvSpPr txBox="1">
            <a:spLocks/>
          </p:cNvSpPr>
          <p:nvPr/>
        </p:nvSpPr>
        <p:spPr bwMode="auto">
          <a:xfrm>
            <a:off x="304800" y="1676208"/>
            <a:ext cx="277368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/>
              <a:t>Viral infections provide ideal environments for bacterial colonization to convert to invasive infection</a:t>
            </a:r>
          </a:p>
          <a:p>
            <a:endParaRPr lang="en-US" altLang="en-US" sz="1800"/>
          </a:p>
          <a:p>
            <a:r>
              <a:rPr lang="en-US" altLang="en-US" sz="2000"/>
              <a:t>Compromised immune function, barrier degradation, and immunoregulatory environments all contribute to decreased bacterial surveillance</a:t>
            </a:r>
          </a:p>
        </p:txBody>
      </p:sp>
    </p:spTree>
    <p:extLst>
      <p:ext uri="{BB962C8B-B14F-4D97-AF65-F5344CB8AC3E}">
        <p14:creationId xmlns:p14="http://schemas.microsoft.com/office/powerpoint/2010/main" val="3065443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4AED8C8DCE25479ABCF47ACD92F798" ma:contentTypeVersion="14" ma:contentTypeDescription="Create a new document." ma:contentTypeScope="" ma:versionID="2d76ed75fcd774272f5d3e8a34e61612">
  <xsd:schema xmlns:xsd="http://www.w3.org/2001/XMLSchema" xmlns:xs="http://www.w3.org/2001/XMLSchema" xmlns:p="http://schemas.microsoft.com/office/2006/metadata/properties" xmlns:ns3="c66b6271-63f1-471e-91c4-69390cd65ca8" xmlns:ns4="42499b2b-be92-4978-b743-0761a6cd6754" targetNamespace="http://schemas.microsoft.com/office/2006/metadata/properties" ma:root="true" ma:fieldsID="176d3b789ae9897f02a2313102f49b9c" ns3:_="" ns4:_="">
    <xsd:import namespace="c66b6271-63f1-471e-91c4-69390cd65ca8"/>
    <xsd:import namespace="42499b2b-be92-4978-b743-0761a6cd67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b6271-63f1-471e-91c4-69390cd65c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99b2b-be92-4978-b743-0761a6cd675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43930B-E314-4CF7-B274-B817814B83AE}">
  <ds:schemaRefs>
    <ds:schemaRef ds:uri="42499b2b-be92-4978-b743-0761a6cd6754"/>
    <ds:schemaRef ds:uri="c66b6271-63f1-471e-91c4-69390cd65c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727E1E-C5D9-4277-B579-0FFBD33495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CEDACA-D307-4EF7-8F59-573ED85DCB02}">
  <ds:schemaRefs>
    <ds:schemaRef ds:uri="42499b2b-be92-4978-b743-0761a6cd6754"/>
    <ds:schemaRef ds:uri="c66b6271-63f1-471e-91c4-69390cd65c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</TotalTime>
  <Words>1012</Words>
  <Application>Microsoft Office PowerPoint</Application>
  <PresentationFormat>On-screen Show (4:3)</PresentationFormat>
  <Paragraphs>107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Corbel</vt:lpstr>
      <vt:lpstr>Wingdings</vt:lpstr>
      <vt:lpstr>Wingdings 2</vt:lpstr>
      <vt:lpstr>Oriel</vt:lpstr>
      <vt:lpstr>Bacterial Infections: TB, Pneumococcus, Staph Aureus </vt:lpstr>
      <vt:lpstr>Immune Control of Mycobacterium  tuberculosis</vt:lpstr>
      <vt:lpstr>Mycobacterium Tuberculosis (Mtb)</vt:lpstr>
      <vt:lpstr>Mtb infection Worldwide</vt:lpstr>
      <vt:lpstr>Mtb impact</vt:lpstr>
      <vt:lpstr>Mtb Life Cycle</vt:lpstr>
      <vt:lpstr>Mtb Life Cycle Part 2</vt:lpstr>
      <vt:lpstr>Innate Recognition of Mtb</vt:lpstr>
      <vt:lpstr>Activation of Cytokine Storm</vt:lpstr>
      <vt:lpstr>Endosomal/Lysosomal Dysregulation</vt:lpstr>
      <vt:lpstr>Initiation of the Adaptive Response</vt:lpstr>
      <vt:lpstr>PowerPoint Presentation</vt:lpstr>
      <vt:lpstr>Generation of Antigen-Specific Regulatory T cells</vt:lpstr>
      <vt:lpstr>T cell regulation of Macrophage effector Function</vt:lpstr>
      <vt:lpstr>IL-10 regulation of lung pathology</vt:lpstr>
      <vt:lpstr>Control of Mtb</vt:lpstr>
      <vt:lpstr>Summary of Control mechanisms</vt:lpstr>
      <vt:lpstr>Human Genetic Deficiencies</vt:lpstr>
      <vt:lpstr>Summary and Perspectives</vt:lpstr>
      <vt:lpstr>Streptococcus Pneumoniae (Pneumococcus)</vt:lpstr>
      <vt:lpstr>Streptococcus Pneumoniae</vt:lpstr>
      <vt:lpstr>Life Cycle of Strep Pneumoniae</vt:lpstr>
      <vt:lpstr>Conversion from carriage to invasion</vt:lpstr>
      <vt:lpstr>Invasion of the Bacteria</vt:lpstr>
      <vt:lpstr>CD4 Cells Can Differentiate into multiple Types of “Helpers”</vt:lpstr>
      <vt:lpstr>Combined innate and adaptive responses provide protection</vt:lpstr>
      <vt:lpstr>Pneumococcal vaccines rely on specific polysaccharides</vt:lpstr>
      <vt:lpstr>Multiple pneumococcal vaccine platforms</vt:lpstr>
      <vt:lpstr>Overall Disease burden reduced, with focus on included strains</vt:lpstr>
      <vt:lpstr>Secretory IgA molecules provide protection against invasion</vt:lpstr>
      <vt:lpstr>Staphylococcus Aureus</vt:lpstr>
      <vt:lpstr>Stages of Staph Aureus infection</vt:lpstr>
      <vt:lpstr>MRSA-Methicillin Resistant Staph Aureus</vt:lpstr>
      <vt:lpstr>Innate Signaling is Critical for STAPH recognition</vt:lpstr>
      <vt:lpstr>Anti-Staph Immunity in the Skin</vt:lpstr>
      <vt:lpstr>Innate Control of Staph</vt:lpstr>
      <vt:lpstr>Innate-Adaptive collaboration</vt:lpstr>
      <vt:lpstr>Immunological Deficiencies promote susceptibility to STAPH</vt:lpstr>
      <vt:lpstr>Mechanisms of Immune Evasion from Staph Aureus</vt:lpstr>
      <vt:lpstr>Manipulation of Host Immune responses</vt:lpstr>
      <vt:lpstr>STAPH can coagulate blood</vt:lpstr>
      <vt:lpstr>Bacterial Infections are Potentiated by Virus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Immunology</dc:title>
  <dc:creator>Paul G. Thomas</dc:creator>
  <cp:lastModifiedBy>Thomas, Paul</cp:lastModifiedBy>
  <cp:revision>2</cp:revision>
  <dcterms:created xsi:type="dcterms:W3CDTF">2005-09-07T19:21:02Z</dcterms:created>
  <dcterms:modified xsi:type="dcterms:W3CDTF">2024-07-13T22:48:52Z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0x010100BF4AED8C8DCE25479ABCF47ACD92F798</vt:lpwstr>
  </property>
</Properties>
</file>