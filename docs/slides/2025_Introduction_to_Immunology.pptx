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4"/>
  </p:sldMasterIdLst>
  <p:notesMasterIdLst>
    <p:notesMasterId r:id="rId69"/>
  </p:notesMasterIdLst>
  <p:handoutMasterIdLst>
    <p:handoutMasterId r:id="rId70"/>
  </p:handoutMasterIdLst>
  <p:sldIdLst>
    <p:sldId id="256" r:id="rId5"/>
    <p:sldId id="258" r:id="rId6"/>
    <p:sldId id="324" r:id="rId7"/>
    <p:sldId id="285" r:id="rId8"/>
    <p:sldId id="328" r:id="rId9"/>
    <p:sldId id="329" r:id="rId10"/>
    <p:sldId id="260" r:id="rId11"/>
    <p:sldId id="327" r:id="rId12"/>
    <p:sldId id="346" r:id="rId13"/>
    <p:sldId id="261" r:id="rId14"/>
    <p:sldId id="257" r:id="rId15"/>
    <p:sldId id="264" r:id="rId16"/>
    <p:sldId id="347" r:id="rId17"/>
    <p:sldId id="348" r:id="rId18"/>
    <p:sldId id="325" r:id="rId19"/>
    <p:sldId id="262" r:id="rId20"/>
    <p:sldId id="326" r:id="rId21"/>
    <p:sldId id="265" r:id="rId22"/>
    <p:sldId id="268" r:id="rId23"/>
    <p:sldId id="267" r:id="rId24"/>
    <p:sldId id="269" r:id="rId25"/>
    <p:sldId id="342" r:id="rId26"/>
    <p:sldId id="321" r:id="rId27"/>
    <p:sldId id="270" r:id="rId28"/>
    <p:sldId id="338" r:id="rId29"/>
    <p:sldId id="339" r:id="rId30"/>
    <p:sldId id="341" r:id="rId31"/>
    <p:sldId id="331" r:id="rId32"/>
    <p:sldId id="283" r:id="rId33"/>
    <p:sldId id="335" r:id="rId34"/>
    <p:sldId id="273" r:id="rId35"/>
    <p:sldId id="271" r:id="rId36"/>
    <p:sldId id="272" r:id="rId37"/>
    <p:sldId id="274" r:id="rId38"/>
    <p:sldId id="275" r:id="rId39"/>
    <p:sldId id="276" r:id="rId40"/>
    <p:sldId id="277" r:id="rId41"/>
    <p:sldId id="278" r:id="rId42"/>
    <p:sldId id="279" r:id="rId43"/>
    <p:sldId id="281" r:id="rId44"/>
    <p:sldId id="282" r:id="rId45"/>
    <p:sldId id="337" r:id="rId46"/>
    <p:sldId id="284" r:id="rId47"/>
    <p:sldId id="345" r:id="rId48"/>
    <p:sldId id="322" r:id="rId49"/>
    <p:sldId id="289" r:id="rId50"/>
    <p:sldId id="286" r:id="rId51"/>
    <p:sldId id="290" r:id="rId52"/>
    <p:sldId id="293" r:id="rId53"/>
    <p:sldId id="294" r:id="rId54"/>
    <p:sldId id="298" r:id="rId55"/>
    <p:sldId id="330" r:id="rId56"/>
    <p:sldId id="301" r:id="rId57"/>
    <p:sldId id="315" r:id="rId58"/>
    <p:sldId id="296" r:id="rId59"/>
    <p:sldId id="303" r:id="rId60"/>
    <p:sldId id="319" r:id="rId61"/>
    <p:sldId id="305" r:id="rId62"/>
    <p:sldId id="316" r:id="rId63"/>
    <p:sldId id="317" r:id="rId64"/>
    <p:sldId id="308" r:id="rId65"/>
    <p:sldId id="323" r:id="rId66"/>
    <p:sldId id="344" r:id="rId67"/>
    <p:sldId id="309" r:id="rId6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" Type="http://schemas.openxmlformats.org/officeDocument/2006/relationships/slide" Target="slides/slide3.xml"/><Relationship Id="rId71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BE278F-A406-4501-A498-8EB7551047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F28A2A-4884-40A7-92FC-9B25D7CF006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7E2C7C36-97AA-4B67-894B-F5CD330CFD8F}" type="datetime1">
              <a:rPr lang="en-US"/>
              <a:pPr>
                <a:defRPr/>
              </a:pPr>
              <a:t>7/10/2023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CDE442C-A82E-4391-8A48-2459D2CFBA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35401D2-A224-4AE1-B7FE-444117C689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96F5A-154F-47F8-8D3A-3431ED87B1C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11C53-AFC3-4265-B06F-CCEF44600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3AA74CBE-91BB-4197-8035-6C51810D2D0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9B7F3152-E48B-4766-BB65-005FACC3A8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9E7EFCAE-23FF-41D7-90B3-822384DD4D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00CC6A4C-751E-4AA8-8589-683FDB0F2E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5F2C11FC-7111-4840-B243-60FFAD586B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638359EC-5AEA-454C-A009-609A51C564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988508FB-08FF-40E9-940D-D625A6916C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1D66E8A4-E345-47EE-B82C-1C4CF0C9A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E05E81D-9A82-4074-A13E-281F903885BA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B220C0BC-1AB0-458C-B1FE-7806B909D4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70885BBE-32EE-44ED-B7D6-3B5AE699AB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6E178281-97E6-40CA-AC3D-57B3E73A8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16B905A-58DB-415A-9E4F-A2C0E9ADB4E5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CD58A227-059F-448D-A98F-EACD64D002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8F339D31-6A82-4568-9DBA-DE7FDA0CBB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554C0C77-7F46-417C-9DE0-FA53D5D7A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933AFF-AF4E-45BB-AA07-7DEAE8430B31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0B94EB82-6461-43AA-880C-EB859C7F64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CC68C0EA-B32E-4734-8B59-5235EEE9DD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911916A0-4E86-4A93-9E4B-705853CE2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503C55-B8E0-4EBB-AAA4-9D47BDEED4FE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DB8224-AE63-4306-A045-7EE780874E86}"/>
              </a:ext>
            </a:extLst>
          </p:cNvPr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C69B81-77BF-47F5-A426-B054C3D795E8}"/>
              </a:ext>
            </a:extLst>
          </p:cNvPr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FA8514-43E3-4201-8DC8-8C751865E67C}"/>
              </a:ext>
            </a:extLst>
          </p:cNvPr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364F4-C835-42B0-946E-E39752006C8D}"/>
              </a:ext>
            </a:extLst>
          </p:cNvPr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21E8396-AB9F-4353-87A3-17B0A278D7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E447F7A-C001-4B58-BFEF-189A12CB4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F4ABAAB-50FF-45A0-B7F8-F4F4A90B5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4B2791C-D402-4F5F-8958-363C57CAF1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8194B03-6D2B-4A38-8EBB-A2B871476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5D28A45E-B360-4CD8-A615-4C6D0C34B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43F735-BEDB-4B43-A97A-47788C1828C5}"/>
              </a:ext>
            </a:extLst>
          </p:cNvPr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59AB7FB-C998-417A-8A92-13854A4CF1D1}"/>
              </a:ext>
            </a:extLst>
          </p:cNvPr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96F188E-D07D-4D97-9747-21ACEB3F7198}"/>
              </a:ext>
            </a:extLst>
          </p:cNvPr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6D9B764-645C-4452-A6F5-69484E05817D}"/>
              </a:ext>
            </a:extLst>
          </p:cNvPr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8348B70-7888-4E7F-BAFC-CA2DBE9C5002}"/>
              </a:ext>
            </a:extLst>
          </p:cNvPr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FF4AC44-C763-4837-9D2B-45DF955E323F}"/>
              </a:ext>
            </a:extLst>
          </p:cNvPr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>
            <a:extLst>
              <a:ext uri="{FF2B5EF4-FFF2-40B4-BE49-F238E27FC236}">
                <a16:creationId xmlns:a16="http://schemas.microsoft.com/office/drawing/2014/main" id="{C0A18A90-7A16-4F0C-BA6C-D9F65095297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Footer Placeholder 16">
            <a:extLst>
              <a:ext uri="{FF2B5EF4-FFF2-40B4-BE49-F238E27FC236}">
                <a16:creationId xmlns:a16="http://schemas.microsoft.com/office/drawing/2014/main" id="{496EA5A8-3C57-4E86-86DC-01E868CA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>
            <a:extLst>
              <a:ext uri="{FF2B5EF4-FFF2-40B4-BE49-F238E27FC236}">
                <a16:creationId xmlns:a16="http://schemas.microsoft.com/office/drawing/2014/main" id="{ED0EE64C-5E23-414E-92FE-B32693CA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F10A3471-C413-41E5-9BA0-9A7269ADD3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3214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96E1404F-CEB0-4D42-8473-7506D6A1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B2068BCE-31DA-4999-B080-3C368DC54B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D4AFAEB-850C-46D1-8CDC-A5D7E7E00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E68234D2-8845-4A9B-8E21-DB0F3550F44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FA0564-04DF-4FFB-9748-79225ABF6EDB}"/>
              </a:ext>
            </a:extLst>
          </p:cNvPr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8179C8-081A-479C-A569-0824E8C300F8}"/>
              </a:ext>
            </a:extLst>
          </p:cNvPr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91D5A1-CFB2-4DCE-95D4-FA1E8DF9C2D6}"/>
              </a:ext>
            </a:extLst>
          </p:cNvPr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9AF6A9-E713-4E6B-B059-3A551D6F6D28}"/>
              </a:ext>
            </a:extLst>
          </p:cNvPr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1892C4C-7A70-43E0-9C2D-C40744BCC7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A3F1336-263F-4DC2-9684-0872785DD6F3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385CA3B6-9452-46B9-BA2A-3C02646EA77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BC1DD6A-F811-498C-A560-21A2B4E53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54463CD-AF3E-4014-9AA9-C2F4C7E0D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D463FE-F74B-407D-9947-C1D31D71EA22}"/>
              </a:ext>
            </a:extLst>
          </p:cNvPr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C498899-0D91-49F7-A649-FC009001A71B}"/>
              </a:ext>
            </a:extLst>
          </p:cNvPr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D49EB8F-B34C-4A56-A51E-4D973200CDA1}"/>
              </a:ext>
            </a:extLst>
          </p:cNvPr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89E62D-2C87-4031-92FF-3054134B63C5}"/>
              </a:ext>
            </a:extLst>
          </p:cNvPr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40755EE-9B51-44AA-A60E-B9621804425F}"/>
              </a:ext>
            </a:extLst>
          </p:cNvPr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2C7F847-E436-4D38-96F7-1EEAAFA15A83}"/>
              </a:ext>
            </a:extLst>
          </p:cNvPr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37D91E1-BB31-4EBC-9FF2-5F29CEDDA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93464E49-7552-41E9-86FC-16E79788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734E7F1-C6C5-4B0E-923D-94B88F365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3060AF9-82CA-4907-A094-B5CAEA23B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1D383F80-4522-4913-882A-DBE75D4634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6951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D6DC50A2-00FF-4FC0-954E-EB90FE0BD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A82D76AE-BB07-4603-82CE-2B3857F16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239B5F86-324F-436C-8C83-D8C06D2F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E53C90-D9BF-46A0-9567-3FF9EAC79A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9069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76BCC2E9-0E44-45B9-926C-0956E428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7635CB8-6EE1-4689-B566-A37D8A05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>
            <a:extLst>
              <a:ext uri="{FF2B5EF4-FFF2-40B4-BE49-F238E27FC236}">
                <a16:creationId xmlns:a16="http://schemas.microsoft.com/office/drawing/2014/main" id="{72D29213-1878-43E4-9753-2309A810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3F0621-7D31-4B4A-88FA-B656CAB81F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867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6743109B-3B46-4B99-BFAA-ED745BFED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9F42EF39-D50D-4ADD-BDA4-4C0BD43FDB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D20C0AE-2B86-4446-B03C-9D517263497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D9E8CAB-9907-49A2-8E4C-5593F19D8C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38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4A8AAE3E-68CC-4906-AE00-1F87E41C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C2F8DB-0A79-457A-842F-8B9C559D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C2A185B0-97E9-4E6F-818B-DC400E2F2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2466C8-CE53-4545-85DA-B8BEF6FE69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437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60FFB96-C401-472F-AD6C-0D36779A2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9990DCF-8DAD-4AEA-B4D0-BCBDF6C999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Straight Connector 16">
            <a:extLst>
              <a:ext uri="{FF2B5EF4-FFF2-40B4-BE49-F238E27FC236}">
                <a16:creationId xmlns:a16="http://schemas.microsoft.com/office/drawing/2014/main" id="{84CDC355-57D5-41AB-81D4-74B60969B7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Straight Connector 17">
            <a:extLst>
              <a:ext uri="{FF2B5EF4-FFF2-40B4-BE49-F238E27FC236}">
                <a16:creationId xmlns:a16="http://schemas.microsoft.com/office/drawing/2014/main" id="{59ED3B70-BF4A-4BC3-B380-85392D99846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12E1BD-1A56-4668-8BFF-736865B35F58}"/>
              </a:ext>
            </a:extLst>
          </p:cNvPr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Straight Connector 19">
            <a:extLst>
              <a:ext uri="{FF2B5EF4-FFF2-40B4-BE49-F238E27FC236}">
                <a16:creationId xmlns:a16="http://schemas.microsoft.com/office/drawing/2014/main" id="{9C5DCBB6-E496-4C5D-A3CC-7D8BBBF9E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CFFE5C-A467-417C-81B8-E05344920120}"/>
              </a:ext>
            </a:extLst>
          </p:cNvPr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>
            <a:extLst>
              <a:ext uri="{FF2B5EF4-FFF2-40B4-BE49-F238E27FC236}">
                <a16:creationId xmlns:a16="http://schemas.microsoft.com/office/drawing/2014/main" id="{B062D9DE-28D0-4D65-AE2A-0DB67074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1">
            <a:extLst>
              <a:ext uri="{FF2B5EF4-FFF2-40B4-BE49-F238E27FC236}">
                <a16:creationId xmlns:a16="http://schemas.microsoft.com/office/drawing/2014/main" id="{240530B6-9A45-40A9-AC7D-FA1C4FDF11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ECE04F5-0E6F-4D4A-8B41-E384CD843D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22">
            <a:extLst>
              <a:ext uri="{FF2B5EF4-FFF2-40B4-BE49-F238E27FC236}">
                <a16:creationId xmlns:a16="http://schemas.microsoft.com/office/drawing/2014/main" id="{22F5785E-4B98-40A2-B78F-391DB965602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66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F2FF0B0-5015-4723-993B-A356A2D184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311420-8EA5-4710-AF30-AEFD293D4348}"/>
              </a:ext>
            </a:extLst>
          </p:cNvPr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Straight Connector 16">
            <a:extLst>
              <a:ext uri="{FF2B5EF4-FFF2-40B4-BE49-F238E27FC236}">
                <a16:creationId xmlns:a16="http://schemas.microsoft.com/office/drawing/2014/main" id="{0AACAEF2-2E93-4267-BC59-86770265535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264A3A-41C0-49F0-B664-83FDF5E2C9CF}"/>
              </a:ext>
            </a:extLst>
          </p:cNvPr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traight Connector 18">
            <a:extLst>
              <a:ext uri="{FF2B5EF4-FFF2-40B4-BE49-F238E27FC236}">
                <a16:creationId xmlns:a16="http://schemas.microsoft.com/office/drawing/2014/main" id="{775460FE-2005-41F8-8AB1-62532077A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D789819-DF47-4539-9F07-4C555B9A2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1" name="Straight Connector 20">
            <a:extLst>
              <a:ext uri="{FF2B5EF4-FFF2-40B4-BE49-F238E27FC236}">
                <a16:creationId xmlns:a16="http://schemas.microsoft.com/office/drawing/2014/main" id="{21B4D8D8-40DB-4905-BE78-49E3287A0D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>
            <a:extLst>
              <a:ext uri="{FF2B5EF4-FFF2-40B4-BE49-F238E27FC236}">
                <a16:creationId xmlns:a16="http://schemas.microsoft.com/office/drawing/2014/main" id="{97C7B63C-CBC3-492F-B097-E0A600C12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17">
            <a:extLst>
              <a:ext uri="{FF2B5EF4-FFF2-40B4-BE49-F238E27FC236}">
                <a16:creationId xmlns:a16="http://schemas.microsoft.com/office/drawing/2014/main" id="{56375D2C-826B-42C2-AA44-B66E9BF5B2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A411BA9-5FAA-4F99-9CCF-89E510B69EC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20">
            <a:extLst>
              <a:ext uri="{FF2B5EF4-FFF2-40B4-BE49-F238E27FC236}">
                <a16:creationId xmlns:a16="http://schemas.microsoft.com/office/drawing/2014/main" id="{EAF83F1C-2F67-4CDD-9D87-A38DB486490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78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4F4C6C4-22CB-4CCE-B0FD-D2E0405F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6627A86-644A-4FA8-A5BD-98988BE9C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3116C062-37E8-495C-9A10-308594F8C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BF3BA0-ECB4-410A-8370-4FBE2968AE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298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CF917E8B-A127-4F00-A2DD-D0115CADE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8F420E1-2F6B-489F-9F94-44372EA3F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C785EA9A-B1AB-46F3-A543-1CB01D4A1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09F075-E16B-477D-A880-7159298BDE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65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CEDCDB03-D664-474A-9068-DCCB1028FA6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F0453E7F-0A8E-46CB-B3D7-4D83493F3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>
            <a:extLst>
              <a:ext uri="{FF2B5EF4-FFF2-40B4-BE49-F238E27FC236}">
                <a16:creationId xmlns:a16="http://schemas.microsoft.com/office/drawing/2014/main" id="{A9488E6D-6F45-4376-ACA6-0003A7FFDA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F9B0B17-2102-4D3B-AB56-5088A20E4E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D8B6D7-BFA7-455B-BF6E-685C3D5B1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EEA9A5A-9BEF-4B1D-8409-15810A55BF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032" name="Straight Connector 8">
            <a:extLst>
              <a:ext uri="{FF2B5EF4-FFF2-40B4-BE49-F238E27FC236}">
                <a16:creationId xmlns:a16="http://schemas.microsoft.com/office/drawing/2014/main" id="{73399C0B-0018-460E-8E3A-7240661A6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7A5BE8-6030-4A94-9F93-ACF0E3218DD0}"/>
              </a:ext>
            </a:extLst>
          </p:cNvPr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34" name="Straight Connector 10">
            <a:extLst>
              <a:ext uri="{FF2B5EF4-FFF2-40B4-BE49-F238E27FC236}">
                <a16:creationId xmlns:a16="http://schemas.microsoft.com/office/drawing/2014/main" id="{E94CDE81-08EE-4418-9C81-F711748A3C3D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0BEEEF2-9355-4C71-88C1-8C50693F7C95}"/>
              </a:ext>
            </a:extLst>
          </p:cNvPr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F7013BD-5E43-4235-B17B-8E5990559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solidFill>
                  <a:srgbClr val="FFFFFF"/>
                </a:solidFill>
              </a:defRPr>
            </a:lvl1pPr>
          </a:lstStyle>
          <a:p>
            <a:fld id="{AE1F6360-6942-4FBE-9CF4-159D597A2DD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4" r:id="rId1"/>
    <p:sldLayoutId id="2147484185" r:id="rId2"/>
    <p:sldLayoutId id="2147484186" r:id="rId3"/>
    <p:sldLayoutId id="2147484179" r:id="rId4"/>
    <p:sldLayoutId id="2147484180" r:id="rId5"/>
    <p:sldLayoutId id="2147484187" r:id="rId6"/>
    <p:sldLayoutId id="2147484181" r:id="rId7"/>
    <p:sldLayoutId id="2147484188" r:id="rId8"/>
    <p:sldLayoutId id="2147484189" r:id="rId9"/>
    <p:sldLayoutId id="2147484182" r:id="rId10"/>
    <p:sldLayoutId id="21474841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82A0B9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C8D7E5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EBC0B1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D3B3931-1A27-49A9-AD3C-B8AEA81A06B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0" y="3124200"/>
            <a:ext cx="6172200" cy="18938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An Introduction to Immunology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98B3DA7-F08E-4A57-9288-6CED6BD99F3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>
            <a:normAutofit fontScale="92500" lnSpcReduction="20000"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800"/>
              <a:t>Paul Thomas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800"/>
              <a:t>Unit 1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800"/>
              <a:t>Department of Immunology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800"/>
              <a:t>St. Jude Children’s Research Hospital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18C53D9-B770-4695-A3CE-91E6E0F37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Categories of Pathogens</a:t>
            </a:r>
          </a:p>
        </p:txBody>
      </p:sp>
      <p:pic>
        <p:nvPicPr>
          <p:cNvPr id="11267" name="Picture 4" descr="Listeria%20bacteria">
            <a:extLst>
              <a:ext uri="{FF2B5EF4-FFF2-40B4-BE49-F238E27FC236}">
                <a16:creationId xmlns:a16="http://schemas.microsoft.com/office/drawing/2014/main" id="{62F8F02D-4B08-42D9-976D-B834A68DD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133600"/>
            <a:ext cx="18859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5" descr="influenza virus">
            <a:extLst>
              <a:ext uri="{FF2B5EF4-FFF2-40B4-BE49-F238E27FC236}">
                <a16:creationId xmlns:a16="http://schemas.microsoft.com/office/drawing/2014/main" id="{0B44761E-9032-4394-81E4-969E05962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9800"/>
            <a:ext cx="152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6" descr="schisto">
            <a:extLst>
              <a:ext uri="{FF2B5EF4-FFF2-40B4-BE49-F238E27FC236}">
                <a16:creationId xmlns:a16="http://schemas.microsoft.com/office/drawing/2014/main" id="{EF1B72A5-18ED-49B0-9410-29B85D951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752600"/>
            <a:ext cx="204787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 Box 7">
            <a:extLst>
              <a:ext uri="{FF2B5EF4-FFF2-40B4-BE49-F238E27FC236}">
                <a16:creationId xmlns:a16="http://schemas.microsoft.com/office/drawing/2014/main" id="{02445074-724E-4D42-8817-3FCF80A4E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67200"/>
            <a:ext cx="2476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Viruses (~0.2 microns)</a:t>
            </a:r>
          </a:p>
        </p:txBody>
      </p:sp>
      <p:sp>
        <p:nvSpPr>
          <p:cNvPr id="11271" name="Text Box 8">
            <a:extLst>
              <a:ext uri="{FF2B5EF4-FFF2-40B4-BE49-F238E27FC236}">
                <a16:creationId xmlns:a16="http://schemas.microsoft.com/office/drawing/2014/main" id="{E8008650-8F33-4FDA-B599-D2E6F2B7B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4350" y="4343400"/>
            <a:ext cx="2432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Bacteria (1-2 microns)</a:t>
            </a:r>
          </a:p>
        </p:txBody>
      </p:sp>
      <p:sp>
        <p:nvSpPr>
          <p:cNvPr id="11272" name="Text Box 9">
            <a:extLst>
              <a:ext uri="{FF2B5EF4-FFF2-40B4-BE49-F238E27FC236}">
                <a16:creationId xmlns:a16="http://schemas.microsoft.com/office/drawing/2014/main" id="{4037D5F0-C970-4794-AD8C-89E4CF150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495800"/>
            <a:ext cx="2444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Parasites (Millimeters)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C82E-2604-482B-9287-81E087A1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Pathogen Lifestyles</a:t>
            </a:r>
          </a:p>
        </p:txBody>
      </p:sp>
      <p:pic>
        <p:nvPicPr>
          <p:cNvPr id="12291" name="Picture 2">
            <a:extLst>
              <a:ext uri="{FF2B5EF4-FFF2-40B4-BE49-F238E27FC236}">
                <a16:creationId xmlns:a16="http://schemas.microsoft.com/office/drawing/2014/main" id="{BBD24741-DBEC-4259-96A3-23C11B6CF855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86450" y="2514600"/>
            <a:ext cx="2574925" cy="2133600"/>
          </a:xfrm>
          <a:noFill/>
        </p:spPr>
      </p:pic>
      <p:pic>
        <p:nvPicPr>
          <p:cNvPr id="12292" name="Picture 3">
            <a:extLst>
              <a:ext uri="{FF2B5EF4-FFF2-40B4-BE49-F238E27FC236}">
                <a16:creationId xmlns:a16="http://schemas.microsoft.com/office/drawing/2014/main" id="{F2CBD78C-41C3-4286-96A2-489875E94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667000"/>
            <a:ext cx="28638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4">
            <a:extLst>
              <a:ext uri="{FF2B5EF4-FFF2-40B4-BE49-F238E27FC236}">
                <a16:creationId xmlns:a16="http://schemas.microsoft.com/office/drawing/2014/main" id="{057D0B13-AB80-4459-872E-071FEDCB3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638" y="2555875"/>
            <a:ext cx="289242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0177C00-27CB-4EEC-ACCD-604A926A1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“Questions” answered by the Immune System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B6A7C7B-B621-4BCA-975F-60C53DCEAC3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en-US"/>
              <a:t>When should I respond? </a:t>
            </a:r>
          </a:p>
          <a:p>
            <a:pPr lvl="1" eaLnBrk="1" hangingPunct="1"/>
            <a:r>
              <a:rPr lang="en-US" altLang="en-US"/>
              <a:t>Is this infectious (not self)?</a:t>
            </a:r>
          </a:p>
          <a:p>
            <a:pPr lvl="1" eaLnBrk="1" hangingPunct="1"/>
            <a:r>
              <a:rPr lang="en-US" altLang="en-US"/>
              <a:t>Is this a threat?</a:t>
            </a:r>
          </a:p>
          <a:p>
            <a:pPr eaLnBrk="1" hangingPunct="1"/>
            <a:r>
              <a:rPr lang="en-US" altLang="en-US"/>
              <a:t>How should I respond?</a:t>
            </a:r>
          </a:p>
          <a:p>
            <a:pPr lvl="1" eaLnBrk="1" hangingPunct="1"/>
            <a:r>
              <a:rPr lang="en-US" altLang="en-US"/>
              <a:t>What’s the most effective means of control?</a:t>
            </a:r>
          </a:p>
          <a:p>
            <a:pPr lvl="1" eaLnBrk="1" hangingPunct="1"/>
            <a:r>
              <a:rPr lang="en-US" altLang="en-US"/>
              <a:t>How do I limit damage?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0449D-D687-4B19-827F-C58A9A5A6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Immunological Themes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E8BC0D13-8648-4951-8F05-179F5DFCFF7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en-US" altLang="en-US"/>
              <a:t>Generalized inflammation followed by a specific, pathogen-directed response</a:t>
            </a:r>
          </a:p>
          <a:p>
            <a:r>
              <a:rPr lang="en-US" altLang="en-US"/>
              <a:t>Communication via soluble mediators—cytokines and chemokines</a:t>
            </a:r>
          </a:p>
          <a:p>
            <a:r>
              <a:rPr lang="en-US" altLang="en-US"/>
              <a:t>Feedback regulation to limit hyperinflammatory responses</a:t>
            </a:r>
          </a:p>
          <a:p>
            <a:r>
              <a:rPr lang="en-US" altLang="en-US"/>
              <a:t>Multiple modes of recognition and specificity determination</a:t>
            </a:r>
          </a:p>
          <a:p>
            <a:r>
              <a:rPr lang="en-US" altLang="en-US"/>
              <a:t>NOT centrally organized</a:t>
            </a:r>
          </a:p>
          <a:p>
            <a:r>
              <a:rPr lang="en-US" altLang="en-US"/>
              <a:t>Not always clear what is essential, what is redundant, and what is irrelevant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F9B5-24BD-4073-8375-631651E7B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Pathogen-specific approaches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836C0234-2F24-452F-8032-78BD44883F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/>
              <a:t>Some pathogens must be eliminated for host survival—usually small, rapidly growing, with limited genomes</a:t>
            </a:r>
          </a:p>
          <a:p>
            <a:pPr lvl="1">
              <a:defRPr/>
            </a:pPr>
            <a:r>
              <a:rPr lang="en-US"/>
              <a:t>Primary goal is to win a race—grow quickly enough to transmit before host death or clearance</a:t>
            </a:r>
          </a:p>
          <a:p>
            <a:pPr lvl="1">
              <a:defRPr/>
            </a:pPr>
            <a:r>
              <a:rPr lang="en-US"/>
              <a:t>No sophisticated “</a:t>
            </a:r>
            <a:r>
              <a:rPr lang="en-US" err="1"/>
              <a:t>biosensing</a:t>
            </a:r>
            <a:r>
              <a:rPr lang="en-US"/>
              <a:t>” apparatus</a:t>
            </a:r>
          </a:p>
          <a:p>
            <a:pPr lvl="1">
              <a:defRPr/>
            </a:pPr>
            <a:r>
              <a:rPr lang="en-US"/>
              <a:t>Viruses like influenza, </a:t>
            </a:r>
            <a:r>
              <a:rPr lang="en-US" err="1"/>
              <a:t>ebola</a:t>
            </a:r>
            <a:r>
              <a:rPr lang="en-US"/>
              <a:t>, RSV</a:t>
            </a:r>
          </a:p>
          <a:p>
            <a:pPr>
              <a:defRPr/>
            </a:pPr>
            <a:r>
              <a:rPr lang="en-US"/>
              <a:t>Some pathogens are acute or chronic depending on the host situation</a:t>
            </a:r>
          </a:p>
          <a:p>
            <a:pPr lvl="1">
              <a:defRPr/>
            </a:pPr>
            <a:r>
              <a:rPr lang="en-US"/>
              <a:t>Usually more complicated</a:t>
            </a:r>
          </a:p>
          <a:p>
            <a:pPr lvl="1">
              <a:defRPr/>
            </a:pPr>
            <a:r>
              <a:rPr lang="en-US"/>
              <a:t>Host genetic and environmental factors might determine susceptibility and permissiveness for chronic vs. acute infection</a:t>
            </a:r>
          </a:p>
          <a:p>
            <a:pPr lvl="1">
              <a:defRPr/>
            </a:pPr>
            <a:r>
              <a:rPr lang="en-US"/>
              <a:t>Bacteria (TB) and viruses (HCV)</a:t>
            </a:r>
          </a:p>
          <a:p>
            <a:pPr>
              <a:defRPr/>
            </a:pPr>
            <a:r>
              <a:rPr lang="en-US"/>
              <a:t>Some pathogens are almost exclusively chronic</a:t>
            </a:r>
          </a:p>
          <a:p>
            <a:pPr lvl="1">
              <a:defRPr/>
            </a:pPr>
            <a:r>
              <a:rPr lang="en-US"/>
              <a:t>Sophisticated genomes, large size (but not always)</a:t>
            </a:r>
          </a:p>
          <a:p>
            <a:pPr lvl="1">
              <a:defRPr/>
            </a:pPr>
            <a:r>
              <a:rPr lang="en-US"/>
              <a:t>Not fully understood in every circumstance—host may simply not have a mechanism for effective clearance</a:t>
            </a:r>
          </a:p>
          <a:p>
            <a:pPr lvl="1">
              <a:defRPr/>
            </a:pPr>
            <a:r>
              <a:rPr lang="en-US"/>
              <a:t>Usually not acutely lethal</a:t>
            </a:r>
          </a:p>
          <a:p>
            <a:pPr lvl="1">
              <a:defRPr/>
            </a:pPr>
            <a:r>
              <a:rPr lang="en-US"/>
              <a:t>Parasitic worms, HIV</a:t>
            </a:r>
          </a:p>
          <a:p>
            <a:pPr>
              <a:defRPr/>
            </a:pPr>
            <a:endParaRPr lang="en-US"/>
          </a:p>
          <a:p>
            <a:pPr lvl="1">
              <a:defRPr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>
            <a:extLst>
              <a:ext uri="{FF2B5EF4-FFF2-40B4-BE49-F238E27FC236}">
                <a16:creationId xmlns:a16="http://schemas.microsoft.com/office/drawing/2014/main" id="{A8D51CD5-0D66-4C8A-B7C0-31B0E1DF2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1335088"/>
            <a:ext cx="8535987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7C77-5029-425A-BD3A-86D334A66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Stages of an Immune response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06B50142-8DBE-49A2-82A3-130B611236A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en-US" altLang="en-US"/>
              <a:t>Physical prevention of infection (skin, mucus, surfactants, cilial beating)</a:t>
            </a:r>
          </a:p>
          <a:p>
            <a:r>
              <a:rPr lang="en-US" altLang="en-US"/>
              <a:t>Innate epithelial inflammation (defensins, interferons)</a:t>
            </a:r>
          </a:p>
          <a:p>
            <a:r>
              <a:rPr lang="en-US" altLang="en-US"/>
              <a:t>Professional innate cell recruitment (phagocytosis, amplification of direct effectors, including defensins and reactive oxygen species)</a:t>
            </a:r>
          </a:p>
          <a:p>
            <a:r>
              <a:rPr lang="en-US" altLang="en-US"/>
              <a:t>Generation of adaptive response and clearance by antibody, CD8 T cell killing or CD4 T cell modulation of environment (either extracellular or intracellular) </a:t>
            </a:r>
          </a:p>
          <a:p>
            <a:pPr lvl="1">
              <a:buFont typeface="Wingdings 2" panose="05020102010507070707" pitchFamily="18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53EB-4792-4550-9B7A-1E1D07EDC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A9CBE97D-3070-408F-85EE-E3957C1C6BD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5780" name="Content Placeholder 3">
            <a:extLst>
              <a:ext uri="{FF2B5EF4-FFF2-40B4-BE49-F238E27FC236}">
                <a16:creationId xmlns:a16="http://schemas.microsoft.com/office/drawing/2014/main" id="{2034ABBC-C55C-4BE2-957D-234935E84340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270375" y="1600200"/>
            <a:ext cx="3657600" cy="4572000"/>
          </a:xfrm>
        </p:spPr>
        <p:txBody>
          <a:bodyPr/>
          <a:lstStyle/>
          <a:p>
            <a:endParaRPr lang="en-US" altLang="en-US"/>
          </a:p>
        </p:txBody>
      </p:sp>
      <p:pic>
        <p:nvPicPr>
          <p:cNvPr id="75781" name="Picture 2">
            <a:extLst>
              <a:ext uri="{FF2B5EF4-FFF2-40B4-BE49-F238E27FC236}">
                <a16:creationId xmlns:a16="http://schemas.microsoft.com/office/drawing/2014/main" id="{73E4B23E-B4C0-43E1-9A78-994B93B38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533400"/>
            <a:ext cx="8947150" cy="591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5332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>
            <a:extLst>
              <a:ext uri="{FF2B5EF4-FFF2-40B4-BE49-F238E27FC236}">
                <a16:creationId xmlns:a16="http://schemas.microsoft.com/office/drawing/2014/main" id="{7AEBE954-3BB5-4978-A26D-38121DAA1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450850"/>
            <a:ext cx="8535987" cy="595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4">
            <a:extLst>
              <a:ext uri="{FF2B5EF4-FFF2-40B4-BE49-F238E27FC236}">
                <a16:creationId xmlns:a16="http://schemas.microsoft.com/office/drawing/2014/main" id="{DE86E2B2-FB5F-4DEE-805D-F7CD1BB96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306388"/>
            <a:ext cx="5518150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EF6DFE6-B0A3-40C4-B182-4607BEA57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Innate Immune Pattern Recognition</a:t>
            </a:r>
          </a:p>
        </p:txBody>
      </p:sp>
      <p:sp>
        <p:nvSpPr>
          <p:cNvPr id="22531" name="Content Placeholder 3">
            <a:extLst>
              <a:ext uri="{FF2B5EF4-FFF2-40B4-BE49-F238E27FC236}">
                <a16:creationId xmlns:a16="http://schemas.microsoft.com/office/drawing/2014/main" id="{1E964250-512E-4D1D-A846-43DB279A1C4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2743200" cy="45720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/>
              <a:t>Initial responses mediated by three major families of innate receptors: TLRs, </a:t>
            </a:r>
            <a:r>
              <a:rPr lang="en-US" sz="2000"/>
              <a:t>RLRs</a:t>
            </a:r>
            <a:r>
              <a:rPr lang="en-US"/>
              <a:t>, and NLRs</a:t>
            </a:r>
          </a:p>
          <a:p>
            <a:pPr>
              <a:defRPr/>
            </a:pPr>
            <a:r>
              <a:rPr lang="en-US"/>
              <a:t>TLR: cell surface or </a:t>
            </a:r>
            <a:r>
              <a:rPr lang="en-US" err="1"/>
              <a:t>endosomal</a:t>
            </a:r>
            <a:endParaRPr lang="en-US"/>
          </a:p>
          <a:p>
            <a:pPr>
              <a:defRPr/>
            </a:pPr>
            <a:r>
              <a:rPr lang="en-US"/>
              <a:t>NLR and RLR: cytoplasmic</a:t>
            </a:r>
          </a:p>
          <a:p>
            <a:pPr>
              <a:defRPr/>
            </a:pPr>
            <a:r>
              <a:rPr lang="en-US"/>
              <a:t>All  3 activate distinct, but overlapping, host response pathways</a:t>
            </a:r>
          </a:p>
        </p:txBody>
      </p:sp>
      <p:sp>
        <p:nvSpPr>
          <p:cNvPr id="20484" name="Content Placeholder 4">
            <a:extLst>
              <a:ext uri="{FF2B5EF4-FFF2-40B4-BE49-F238E27FC236}">
                <a16:creationId xmlns:a16="http://schemas.microsoft.com/office/drawing/2014/main" id="{AED41ED0-45C9-44ED-B711-6B6026D0010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270375" y="1600200"/>
            <a:ext cx="3657600" cy="4572000"/>
          </a:xfrm>
        </p:spPr>
        <p:txBody>
          <a:bodyPr/>
          <a:lstStyle/>
          <a:p>
            <a:endParaRPr lang="en-US" altLang="en-US"/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7731E654-2161-4E67-BF95-035353093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371600"/>
            <a:ext cx="6264275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8CF68-505F-4532-9C94-B33EE5D8F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Expanding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F3A3D-DCB8-4E37-AA53-E68C991BC17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99811-FBB1-4CA6-815B-9BB9174BA03B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CFF9A-F79F-4C58-8656-3F122E461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7" y="1600200"/>
            <a:ext cx="8991600" cy="518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794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184FF-77D0-4910-A652-4EF3A653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Unconventional Nucleic acid recognition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7B234-208B-4FE3-8E2F-9E871507B1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92FB6-C281-4487-826B-51B74C9B0CC8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AB026-DBC8-41C6-8461-16B710E4C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600200"/>
            <a:ext cx="8686800" cy="47442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2F0106-36CC-49ED-8F79-D786C993AA16}"/>
              </a:ext>
            </a:extLst>
          </p:cNvPr>
          <p:cNvSpPr txBox="1"/>
          <p:nvPr/>
        </p:nvSpPr>
        <p:spPr>
          <a:xfrm>
            <a:off x="7582688" y="4038599"/>
            <a:ext cx="875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ZBP-1</a:t>
            </a:r>
          </a:p>
        </p:txBody>
      </p:sp>
    </p:spTree>
    <p:extLst>
      <p:ext uri="{BB962C8B-B14F-4D97-AF65-F5344CB8AC3E}">
        <p14:creationId xmlns:p14="http://schemas.microsoft.com/office/powerpoint/2010/main" val="2229926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53B88B4F-387B-48C3-A6EE-9A48797709E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Figure 2-48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3CC9C66-A3B5-4FB0-8BF5-3BAA13C0A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21508" name="Picture 5">
            <a:extLst>
              <a:ext uri="{FF2B5EF4-FFF2-40B4-BE49-F238E27FC236}">
                <a16:creationId xmlns:a16="http://schemas.microsoft.com/office/drawing/2014/main" id="{9692653E-60E1-47E9-91C1-0200A8A10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306388"/>
            <a:ext cx="4945063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C456A544-D839-4CFC-8F11-EE26E8FDDD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51816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err="1"/>
              <a:t>Effector</a:t>
            </a:r>
            <a:r>
              <a:rPr lang="en-US" sz="3600"/>
              <a:t> mechanisms of the innate response: digestion and chemical destruction</a:t>
            </a: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F2C545C6-255F-47E3-9854-F67960505D4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495800" cy="48768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/>
              <a:t>Innate activation can lead to direct killing by a </a:t>
            </a:r>
            <a:r>
              <a:rPr lang="en-US" err="1"/>
              <a:t>phagocytic</a:t>
            </a:r>
            <a:r>
              <a:rPr lang="en-US"/>
              <a:t> cell engulfing the pathogen</a:t>
            </a:r>
          </a:p>
          <a:p>
            <a:pPr>
              <a:defRPr/>
            </a:pPr>
            <a:r>
              <a:rPr lang="en-US"/>
              <a:t>Chemical destruction occurs after acidification of the </a:t>
            </a:r>
            <a:r>
              <a:rPr lang="en-US" err="1"/>
              <a:t>phagosome</a:t>
            </a:r>
            <a:r>
              <a:rPr lang="en-US"/>
              <a:t> by </a:t>
            </a:r>
            <a:r>
              <a:rPr lang="en-US" err="1"/>
              <a:t>endosomal</a:t>
            </a:r>
            <a:r>
              <a:rPr lang="en-US"/>
              <a:t> fusion</a:t>
            </a:r>
          </a:p>
          <a:p>
            <a:pPr>
              <a:defRPr/>
            </a:pPr>
            <a:r>
              <a:rPr lang="en-US"/>
              <a:t>Reactive oxygen and nitrogen intermediates (ROI and RNI) are also effective mediators of pathogen killing—all components available internally in innate cells</a:t>
            </a:r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47EF1FE2-B99E-4DFB-8430-8DF63265B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54"/>
          <a:stretch>
            <a:fillRect/>
          </a:stretch>
        </p:blipFill>
        <p:spPr bwMode="auto">
          <a:xfrm>
            <a:off x="5715000" y="442913"/>
            <a:ext cx="2667000" cy="641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>
            <a:extLst>
              <a:ext uri="{FF2B5EF4-FFF2-40B4-BE49-F238E27FC236}">
                <a16:creationId xmlns:a16="http://schemas.microsoft.com/office/drawing/2014/main" id="{B52646B2-D010-4E9F-BC62-2F7523212C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Figure 2-39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984EE3E-E840-4781-9FBC-C27836B4F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BE00F8A5-FBB7-4268-854B-1D3557BD7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608013"/>
            <a:ext cx="8535987" cy="564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A8F07FB-C880-448F-8710-177A78E9B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88515C3-07DC-4E8B-A047-463C9543A36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24580" name="Picture 4">
            <a:extLst>
              <a:ext uri="{FF2B5EF4-FFF2-40B4-BE49-F238E27FC236}">
                <a16:creationId xmlns:a16="http://schemas.microsoft.com/office/drawing/2014/main" id="{BD1908BE-2AD6-4A02-8932-6A237F86B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511175"/>
            <a:ext cx="8535987" cy="583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94C2373-C779-4865-A8BB-B58547AE0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/>
              <a:t>Effector mechanisms of the innate reponse: complement</a:t>
            </a:r>
          </a:p>
        </p:txBody>
      </p:sp>
      <p:pic>
        <p:nvPicPr>
          <p:cNvPr id="25603" name="Picture 4">
            <a:extLst>
              <a:ext uri="{FF2B5EF4-FFF2-40B4-BE49-F238E27FC236}">
                <a16:creationId xmlns:a16="http://schemas.microsoft.com/office/drawing/2014/main" id="{ADDFFC09-5313-4D06-9ED9-4287F2564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1828800"/>
            <a:ext cx="8535987" cy="448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E8BECF5-5F7F-4078-B2D7-B15C4659D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842B6F6-A755-4E62-AD52-B43351B835B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3399AF07-9BFF-4AB6-ACAD-738E0E0B5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642938"/>
            <a:ext cx="8535987" cy="557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C0790F8-79F6-4315-BF4D-68A6C721D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895600"/>
            <a:ext cx="2590800" cy="15240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err="1"/>
              <a:t>Effector</a:t>
            </a:r>
            <a:r>
              <a:rPr lang="en-US" sz="4000"/>
              <a:t> mechanisms of the innate response: “natural” killing</a:t>
            </a:r>
          </a:p>
        </p:txBody>
      </p:sp>
      <p:pic>
        <p:nvPicPr>
          <p:cNvPr id="27651" name="Picture 4">
            <a:extLst>
              <a:ext uri="{FF2B5EF4-FFF2-40B4-BE49-F238E27FC236}">
                <a16:creationId xmlns:a16="http://schemas.microsoft.com/office/drawing/2014/main" id="{B85ECE01-0E72-404C-818D-42807F084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76200"/>
            <a:ext cx="5943600" cy="674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1644-1DCC-4436-8C74-865FDD553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B6986E2D-D71A-41A0-BB40-50444F4A35A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altLang="en-US"/>
          </a:p>
        </p:txBody>
      </p:sp>
      <p:pic>
        <p:nvPicPr>
          <p:cNvPr id="28676" name="Picture 2">
            <a:extLst>
              <a:ext uri="{FF2B5EF4-FFF2-40B4-BE49-F238E27FC236}">
                <a16:creationId xmlns:a16="http://schemas.microsoft.com/office/drawing/2014/main" id="{6AF9F5BE-7E48-45BE-936A-3C305ABC6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"/>
            <a:ext cx="8686800" cy="638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>
            <a:extLst>
              <a:ext uri="{FF2B5EF4-FFF2-40B4-BE49-F238E27FC236}">
                <a16:creationId xmlns:a16="http://schemas.microsoft.com/office/drawing/2014/main" id="{05F9FB2A-0805-467C-AF20-75C771999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1335088"/>
            <a:ext cx="8535987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4">
            <a:extLst>
              <a:ext uri="{FF2B5EF4-FFF2-40B4-BE49-F238E27FC236}">
                <a16:creationId xmlns:a16="http://schemas.microsoft.com/office/drawing/2014/main" id="{D0C846A1-9004-46B6-BA36-C2EF31AFD7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0" y="3124200"/>
            <a:ext cx="6172200" cy="18938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ADAPTIVE IMMUNITY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>
            <a:extLst>
              <a:ext uri="{FF2B5EF4-FFF2-40B4-BE49-F238E27FC236}">
                <a16:creationId xmlns:a16="http://schemas.microsoft.com/office/drawing/2014/main" id="{789E4154-5EFE-4324-8B35-96F22CF50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306388"/>
            <a:ext cx="5518150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19B51-64FC-4445-B02B-78EC1408D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 cell and T cells are the effectors of Adaptive Immune Responses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5A3DE908-A5AD-400C-9851-DC13C297808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153400" cy="4572000"/>
          </a:xfrm>
        </p:spPr>
        <p:txBody>
          <a:bodyPr/>
          <a:lstStyle/>
          <a:p>
            <a:r>
              <a:rPr lang="en-US" altLang="en-US"/>
              <a:t>Three broad arms of adaptive immunity</a:t>
            </a:r>
          </a:p>
          <a:p>
            <a:pPr lvl="1"/>
            <a:r>
              <a:rPr lang="en-US" altLang="en-US"/>
              <a:t>B cells make antibodies, soluble effector molecules (extracellular pathogen removal)</a:t>
            </a:r>
          </a:p>
          <a:p>
            <a:pPr lvl="1"/>
            <a:r>
              <a:rPr lang="en-US" altLang="en-US"/>
              <a:t>CD4 T cells induce other host cell responses, are required for activation and differentiation of CD8 cells and B cells in some situations—the “quarterbacks” of the immune system</a:t>
            </a:r>
          </a:p>
          <a:p>
            <a:pPr lvl="1"/>
            <a:r>
              <a:rPr lang="en-US" altLang="en-US"/>
              <a:t>CD8 cells directly kill infected cells (intracellular pathogen removal)</a:t>
            </a:r>
          </a:p>
          <a:p>
            <a:r>
              <a:rPr lang="en-US" altLang="en-US"/>
              <a:t>All three have memory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8253-A900-4793-BE41-255EC45D8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FD601054-03A2-43D7-BC71-3E03F88295D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4820" name="Content Placeholder 3">
            <a:extLst>
              <a:ext uri="{FF2B5EF4-FFF2-40B4-BE49-F238E27FC236}">
                <a16:creationId xmlns:a16="http://schemas.microsoft.com/office/drawing/2014/main" id="{394ACC1D-1DC9-472D-A887-87C09321BA23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270375" y="1600200"/>
            <a:ext cx="3657600" cy="4572000"/>
          </a:xfrm>
        </p:spPr>
        <p:txBody>
          <a:bodyPr/>
          <a:lstStyle/>
          <a:p>
            <a:endParaRPr lang="en-US" altLang="en-US"/>
          </a:p>
        </p:txBody>
      </p:sp>
      <p:pic>
        <p:nvPicPr>
          <p:cNvPr id="34821" name="Picture 2">
            <a:extLst>
              <a:ext uri="{FF2B5EF4-FFF2-40B4-BE49-F238E27FC236}">
                <a16:creationId xmlns:a16="http://schemas.microsoft.com/office/drawing/2014/main" id="{F74B5662-DB2C-4A1D-8D73-ABCD74B25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-106363"/>
            <a:ext cx="8382000" cy="71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4">
            <a:extLst>
              <a:ext uri="{FF2B5EF4-FFF2-40B4-BE49-F238E27FC236}">
                <a16:creationId xmlns:a16="http://schemas.microsoft.com/office/drawing/2014/main" id="{EC6F5DE7-2320-42BB-A3DE-ACD3CB8861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 rot="5400000">
            <a:off x="6989763" y="3736975"/>
            <a:ext cx="3200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262DF4AC-2B63-4677-85A7-7463017B9373}" type="slidenum">
              <a:rPr lang="en-US" altLang="en-US" sz="1200" b="0">
                <a:solidFill>
                  <a:schemeClr val="tx2"/>
                </a:solidFill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200" b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9442" name="Rectangle 2">
            <a:extLst>
              <a:ext uri="{FF2B5EF4-FFF2-40B4-BE49-F238E27FC236}">
                <a16:creationId xmlns:a16="http://schemas.microsoft.com/office/drawing/2014/main" id="{789300D0-7F20-434B-A1E3-379FF77F57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219200"/>
          </a:xfrm>
          <a:gradFill rotWithShape="0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</p:spPr>
        <p:txBody>
          <a:bodyPr/>
          <a:lstStyle/>
          <a:p>
            <a:pPr eaLnBrk="1" hangingPunct="1">
              <a:defRPr/>
            </a:pPr>
            <a:r>
              <a:rPr lang="en-US" b="1"/>
              <a:t>Locations of Lymph Nodes</a:t>
            </a:r>
          </a:p>
        </p:txBody>
      </p:sp>
      <p:sp>
        <p:nvSpPr>
          <p:cNvPr id="35844" name="Text Box 5">
            <a:extLst>
              <a:ext uri="{FF2B5EF4-FFF2-40B4-BE49-F238E27FC236}">
                <a16:creationId xmlns:a16="http://schemas.microsoft.com/office/drawing/2014/main" id="{690FBAFD-E8E2-4261-8311-F694899E0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471613"/>
            <a:ext cx="777240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70C0"/>
              </a:buClr>
              <a:buSzTx/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</a:rPr>
              <a:t> Lymph nodes are found in groups or chains along the paths of the larger lymphatic vessels throughout the body, including the:</a:t>
            </a:r>
          </a:p>
          <a:p>
            <a:pPr lvl="1" eaLnBrk="1" hangingPunct="1">
              <a:spcBef>
                <a:spcPct val="0"/>
              </a:spcBef>
              <a:buClr>
                <a:srgbClr val="0070C0"/>
              </a:buClr>
              <a:buSzTx/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</a:rPr>
              <a:t> Cervical region</a:t>
            </a:r>
          </a:p>
          <a:p>
            <a:pPr lvl="1" eaLnBrk="1" hangingPunct="1">
              <a:spcBef>
                <a:spcPct val="0"/>
              </a:spcBef>
              <a:buClr>
                <a:srgbClr val="0070C0"/>
              </a:buClr>
              <a:buSzTx/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</a:rPr>
              <a:t> Axillary region</a:t>
            </a:r>
          </a:p>
          <a:p>
            <a:pPr lvl="1" eaLnBrk="1" hangingPunct="1">
              <a:spcBef>
                <a:spcPct val="0"/>
              </a:spcBef>
              <a:buClr>
                <a:srgbClr val="0070C0"/>
              </a:buClr>
              <a:buSzTx/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</a:rPr>
              <a:t> Supratrochlear region</a:t>
            </a:r>
          </a:p>
          <a:p>
            <a:pPr lvl="1" eaLnBrk="1" hangingPunct="1">
              <a:spcBef>
                <a:spcPct val="0"/>
              </a:spcBef>
              <a:buClr>
                <a:srgbClr val="0070C0"/>
              </a:buClr>
              <a:buSzTx/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</a:rPr>
              <a:t> Inguinal region</a:t>
            </a:r>
          </a:p>
          <a:p>
            <a:pPr lvl="1" eaLnBrk="1" hangingPunct="1">
              <a:spcBef>
                <a:spcPct val="0"/>
              </a:spcBef>
              <a:buClr>
                <a:srgbClr val="0070C0"/>
              </a:buClr>
              <a:buSzTx/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</a:rPr>
              <a:t> Pelvic cavity</a:t>
            </a:r>
          </a:p>
          <a:p>
            <a:pPr lvl="1" eaLnBrk="1" hangingPunct="1">
              <a:spcBef>
                <a:spcPct val="0"/>
              </a:spcBef>
              <a:buClr>
                <a:srgbClr val="0070C0"/>
              </a:buClr>
              <a:buSzTx/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</a:rPr>
              <a:t> Abdominal cavity</a:t>
            </a:r>
          </a:p>
          <a:p>
            <a:pPr lvl="1" eaLnBrk="1" hangingPunct="1">
              <a:spcBef>
                <a:spcPct val="0"/>
              </a:spcBef>
              <a:buClr>
                <a:srgbClr val="0070C0"/>
              </a:buClr>
              <a:buSzTx/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</a:rPr>
              <a:t> Thoracic cavity</a:t>
            </a:r>
          </a:p>
        </p:txBody>
      </p:sp>
      <p:sp>
        <p:nvSpPr>
          <p:cNvPr id="35845" name="TextBox 24">
            <a:extLst>
              <a:ext uri="{FF2B5EF4-FFF2-40B4-BE49-F238E27FC236}">
                <a16:creationId xmlns:a16="http://schemas.microsoft.com/office/drawing/2014/main" id="{2B1E5D3D-F28C-45B8-8F61-C94C64078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209800"/>
            <a:ext cx="40386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600">
                <a:latin typeface="Arial" panose="020B0604020202020204" pitchFamily="34" charset="0"/>
                <a:cs typeface="Arial" panose="020B0604020202020204" pitchFamily="34" charset="0"/>
              </a:rPr>
              <a:t>Copyright © The McGraw-Hill Companies, Inc. Permission required for reproduction or display.</a:t>
            </a:r>
          </a:p>
        </p:txBody>
      </p:sp>
      <p:pic>
        <p:nvPicPr>
          <p:cNvPr id="35846" name="Picture 8" descr="shi25707_16_11">
            <a:extLst>
              <a:ext uri="{FF2B5EF4-FFF2-40B4-BE49-F238E27FC236}">
                <a16:creationId xmlns:a16="http://schemas.microsoft.com/office/drawing/2014/main" id="{4FD2BFF4-1865-4FB3-AE52-649316F23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398713"/>
            <a:ext cx="1262063" cy="437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7" name="Line 10">
            <a:extLst>
              <a:ext uri="{FF2B5EF4-FFF2-40B4-BE49-F238E27FC236}">
                <a16:creationId xmlns:a16="http://schemas.microsoft.com/office/drawing/2014/main" id="{D3A11E2C-6613-400B-AEDE-07E9089268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6250" y="3468688"/>
            <a:ext cx="482600" cy="1587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8" name="Freeform 11">
            <a:extLst>
              <a:ext uri="{FF2B5EF4-FFF2-40B4-BE49-F238E27FC236}">
                <a16:creationId xmlns:a16="http://schemas.microsoft.com/office/drawing/2014/main" id="{C0115AD8-A8C0-4377-B463-75A804BE7021}"/>
              </a:ext>
            </a:extLst>
          </p:cNvPr>
          <p:cNvSpPr>
            <a:spLocks/>
          </p:cNvSpPr>
          <p:nvPr/>
        </p:nvSpPr>
        <p:spPr bwMode="auto">
          <a:xfrm>
            <a:off x="5594350" y="4675188"/>
            <a:ext cx="722313" cy="139700"/>
          </a:xfrm>
          <a:custGeom>
            <a:avLst/>
            <a:gdLst>
              <a:gd name="T0" fmla="*/ 2147483646 w 646"/>
              <a:gd name="T1" fmla="*/ 0 h 125"/>
              <a:gd name="T2" fmla="*/ 2147483646 w 646"/>
              <a:gd name="T3" fmla="*/ 2147483646 h 125"/>
              <a:gd name="T4" fmla="*/ 0 w 646"/>
              <a:gd name="T5" fmla="*/ 2147483646 h 125"/>
              <a:gd name="T6" fmla="*/ 0 60000 65536"/>
              <a:gd name="T7" fmla="*/ 0 60000 65536"/>
              <a:gd name="T8" fmla="*/ 0 60000 65536"/>
              <a:gd name="T9" fmla="*/ 0 w 646"/>
              <a:gd name="T10" fmla="*/ 0 h 125"/>
              <a:gd name="T11" fmla="*/ 646 w 646"/>
              <a:gd name="T12" fmla="*/ 125 h 1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" h="125">
                <a:moveTo>
                  <a:pt x="646" y="0"/>
                </a:moveTo>
                <a:lnTo>
                  <a:pt x="88" y="125"/>
                </a:lnTo>
                <a:lnTo>
                  <a:pt x="0" y="125"/>
                </a:lnTo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9" name="Freeform 12">
            <a:extLst>
              <a:ext uri="{FF2B5EF4-FFF2-40B4-BE49-F238E27FC236}">
                <a16:creationId xmlns:a16="http://schemas.microsoft.com/office/drawing/2014/main" id="{6568022F-143F-48BD-9C18-563EA84C705E}"/>
              </a:ext>
            </a:extLst>
          </p:cNvPr>
          <p:cNvSpPr>
            <a:spLocks/>
          </p:cNvSpPr>
          <p:nvPr/>
        </p:nvSpPr>
        <p:spPr bwMode="auto">
          <a:xfrm>
            <a:off x="6510338" y="3919538"/>
            <a:ext cx="671512" cy="300037"/>
          </a:xfrm>
          <a:custGeom>
            <a:avLst/>
            <a:gdLst>
              <a:gd name="T0" fmla="*/ 0 w 601"/>
              <a:gd name="T1" fmla="*/ 0 h 269"/>
              <a:gd name="T2" fmla="*/ 2147483646 w 601"/>
              <a:gd name="T3" fmla="*/ 2147483646 h 269"/>
              <a:gd name="T4" fmla="*/ 2147483646 w 601"/>
              <a:gd name="T5" fmla="*/ 2147483646 h 269"/>
              <a:gd name="T6" fmla="*/ 0 60000 65536"/>
              <a:gd name="T7" fmla="*/ 0 60000 65536"/>
              <a:gd name="T8" fmla="*/ 0 60000 65536"/>
              <a:gd name="T9" fmla="*/ 0 w 601"/>
              <a:gd name="T10" fmla="*/ 0 h 269"/>
              <a:gd name="T11" fmla="*/ 601 w 601"/>
              <a:gd name="T12" fmla="*/ 269 h 2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01" h="269">
                <a:moveTo>
                  <a:pt x="0" y="0"/>
                </a:moveTo>
                <a:lnTo>
                  <a:pt x="496" y="269"/>
                </a:lnTo>
                <a:lnTo>
                  <a:pt x="601" y="269"/>
                </a:lnTo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0" name="Freeform 13">
            <a:extLst>
              <a:ext uri="{FF2B5EF4-FFF2-40B4-BE49-F238E27FC236}">
                <a16:creationId xmlns:a16="http://schemas.microsoft.com/office/drawing/2014/main" id="{AF06D17C-D43B-4D88-BD41-FEB2ADB68B3F}"/>
              </a:ext>
            </a:extLst>
          </p:cNvPr>
          <p:cNvSpPr>
            <a:spLocks/>
          </p:cNvSpPr>
          <p:nvPr/>
        </p:nvSpPr>
        <p:spPr bwMode="auto">
          <a:xfrm>
            <a:off x="6518275" y="4351338"/>
            <a:ext cx="663575" cy="358775"/>
          </a:xfrm>
          <a:custGeom>
            <a:avLst/>
            <a:gdLst>
              <a:gd name="T0" fmla="*/ 0 w 593"/>
              <a:gd name="T1" fmla="*/ 0 h 320"/>
              <a:gd name="T2" fmla="*/ 2147483646 w 593"/>
              <a:gd name="T3" fmla="*/ 2147483646 h 320"/>
              <a:gd name="T4" fmla="*/ 2147483646 w 593"/>
              <a:gd name="T5" fmla="*/ 2147483646 h 320"/>
              <a:gd name="T6" fmla="*/ 0 60000 65536"/>
              <a:gd name="T7" fmla="*/ 0 60000 65536"/>
              <a:gd name="T8" fmla="*/ 0 60000 65536"/>
              <a:gd name="T9" fmla="*/ 0 w 593"/>
              <a:gd name="T10" fmla="*/ 0 h 320"/>
              <a:gd name="T11" fmla="*/ 593 w 593"/>
              <a:gd name="T12" fmla="*/ 320 h 3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3" h="320">
                <a:moveTo>
                  <a:pt x="0" y="0"/>
                </a:moveTo>
                <a:lnTo>
                  <a:pt x="485" y="320"/>
                </a:lnTo>
                <a:lnTo>
                  <a:pt x="593" y="320"/>
                </a:lnTo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Line 14">
            <a:extLst>
              <a:ext uri="{FF2B5EF4-FFF2-40B4-BE49-F238E27FC236}">
                <a16:creationId xmlns:a16="http://schemas.microsoft.com/office/drawing/2014/main" id="{7DEFF2EF-3DB2-4FD8-83FE-2067528EF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2946400"/>
            <a:ext cx="654050" cy="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2" name="Freeform 15">
            <a:extLst>
              <a:ext uri="{FF2B5EF4-FFF2-40B4-BE49-F238E27FC236}">
                <a16:creationId xmlns:a16="http://schemas.microsoft.com/office/drawing/2014/main" id="{42FFAF89-6794-4A04-B791-C00190C4A521}"/>
              </a:ext>
            </a:extLst>
          </p:cNvPr>
          <p:cNvSpPr>
            <a:spLocks/>
          </p:cNvSpPr>
          <p:nvPr/>
        </p:nvSpPr>
        <p:spPr bwMode="auto">
          <a:xfrm>
            <a:off x="5607050" y="2965450"/>
            <a:ext cx="715963" cy="254000"/>
          </a:xfrm>
          <a:custGeom>
            <a:avLst/>
            <a:gdLst>
              <a:gd name="T0" fmla="*/ 0 w 640"/>
              <a:gd name="T1" fmla="*/ 0 h 227"/>
              <a:gd name="T2" fmla="*/ 2147483646 w 640"/>
              <a:gd name="T3" fmla="*/ 0 h 227"/>
              <a:gd name="T4" fmla="*/ 2147483646 w 640"/>
              <a:gd name="T5" fmla="*/ 2147483646 h 227"/>
              <a:gd name="T6" fmla="*/ 0 60000 65536"/>
              <a:gd name="T7" fmla="*/ 0 60000 65536"/>
              <a:gd name="T8" fmla="*/ 0 60000 65536"/>
              <a:gd name="T9" fmla="*/ 0 w 640"/>
              <a:gd name="T10" fmla="*/ 0 h 227"/>
              <a:gd name="T11" fmla="*/ 640 w 640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0" h="227">
                <a:moveTo>
                  <a:pt x="0" y="0"/>
                </a:moveTo>
                <a:lnTo>
                  <a:pt x="72" y="0"/>
                </a:lnTo>
                <a:lnTo>
                  <a:pt x="640" y="227"/>
                </a:lnTo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3" name="Line 16">
            <a:extLst>
              <a:ext uri="{FF2B5EF4-FFF2-40B4-BE49-F238E27FC236}">
                <a16:creationId xmlns:a16="http://schemas.microsoft.com/office/drawing/2014/main" id="{9D492017-730A-47F0-A6FA-99ABCBE48B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6413" y="3859213"/>
            <a:ext cx="325437" cy="1587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4" name="Text Box 17">
            <a:extLst>
              <a:ext uri="{FF2B5EF4-FFF2-40B4-BE49-F238E27FC236}">
                <a16:creationId xmlns:a16="http://schemas.microsoft.com/office/drawing/2014/main" id="{092143C2-DB33-4E3D-A653-6C54A16E9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163" y="2667000"/>
            <a:ext cx="681037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Thoracic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lymph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node</a:t>
            </a:r>
          </a:p>
        </p:txBody>
      </p:sp>
      <p:sp>
        <p:nvSpPr>
          <p:cNvPr id="35855" name="Text Box 18">
            <a:extLst>
              <a:ext uri="{FF2B5EF4-FFF2-40B4-BE49-F238E27FC236}">
                <a16:creationId xmlns:a16="http://schemas.microsoft.com/office/drawing/2014/main" id="{376199B3-1071-4E52-B7DE-52E247528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725" y="3317875"/>
            <a:ext cx="60007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Axillary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lymph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node</a:t>
            </a:r>
          </a:p>
        </p:txBody>
      </p:sp>
      <p:sp>
        <p:nvSpPr>
          <p:cNvPr id="35856" name="Text Box 19">
            <a:extLst>
              <a:ext uri="{FF2B5EF4-FFF2-40B4-BE49-F238E27FC236}">
                <a16:creationId xmlns:a16="http://schemas.microsoft.com/office/drawing/2014/main" id="{F4CB1645-8EFB-4337-A130-DD91296E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0" y="2892425"/>
            <a:ext cx="6413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Cervical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lymph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node</a:t>
            </a:r>
          </a:p>
        </p:txBody>
      </p:sp>
      <p:sp>
        <p:nvSpPr>
          <p:cNvPr id="35857" name="Text Box 20">
            <a:extLst>
              <a:ext uri="{FF2B5EF4-FFF2-40B4-BE49-F238E27FC236}">
                <a16:creationId xmlns:a16="http://schemas.microsoft.com/office/drawing/2014/main" id="{7119EF10-7FF2-4952-9267-243C9F8E2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0" y="3657600"/>
            <a:ext cx="1095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Supratrochlear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lymph node</a:t>
            </a:r>
          </a:p>
        </p:txBody>
      </p:sp>
      <p:sp>
        <p:nvSpPr>
          <p:cNvPr id="35858" name="Text Box 21">
            <a:extLst>
              <a:ext uri="{FF2B5EF4-FFF2-40B4-BE49-F238E27FC236}">
                <a16:creationId xmlns:a16="http://schemas.microsoft.com/office/drawing/2014/main" id="{D8604510-85F9-4264-B115-39B728BE0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0" y="4162425"/>
            <a:ext cx="1466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Abdominal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lymph node</a:t>
            </a:r>
          </a:p>
        </p:txBody>
      </p:sp>
      <p:sp>
        <p:nvSpPr>
          <p:cNvPr id="35859" name="Text Box 22">
            <a:extLst>
              <a:ext uri="{FF2B5EF4-FFF2-40B4-BE49-F238E27FC236}">
                <a16:creationId xmlns:a16="http://schemas.microsoft.com/office/drawing/2014/main" id="{FFFF66EF-A129-4ECB-90AF-21A643005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0" y="4652963"/>
            <a:ext cx="13906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Pelvic lymph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node</a:t>
            </a:r>
          </a:p>
        </p:txBody>
      </p:sp>
      <p:sp>
        <p:nvSpPr>
          <p:cNvPr id="35860" name="Text Box 23">
            <a:extLst>
              <a:ext uri="{FF2B5EF4-FFF2-40B4-BE49-F238E27FC236}">
                <a16:creationId xmlns:a16="http://schemas.microsoft.com/office/drawing/2014/main" id="{D8233208-597D-4226-9758-0ECFF5299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668838"/>
            <a:ext cx="6318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Inguinal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lymph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node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564DF91-13E1-4497-BA09-6D1D88D9234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Figure 1-15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04D5FEC-7F4E-462B-A363-6A4D67842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37892" name="Picture 4">
            <a:extLst>
              <a:ext uri="{FF2B5EF4-FFF2-40B4-BE49-F238E27FC236}">
                <a16:creationId xmlns:a16="http://schemas.microsoft.com/office/drawing/2014/main" id="{14B1BEDD-75E6-4A91-9B65-0696418DD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981075"/>
            <a:ext cx="8535987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5" descr="shi25707_16_18">
            <a:extLst>
              <a:ext uri="{FF2B5EF4-FFF2-40B4-BE49-F238E27FC236}">
                <a16:creationId xmlns:a16="http://schemas.microsoft.com/office/drawing/2014/main" id="{49E534CA-84AB-4151-AAF1-93440C513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368300"/>
            <a:ext cx="7532687" cy="614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TextBox 24">
            <a:extLst>
              <a:ext uri="{FF2B5EF4-FFF2-40B4-BE49-F238E27FC236}">
                <a16:creationId xmlns:a16="http://schemas.microsoft.com/office/drawing/2014/main" id="{03886636-180F-4E70-827A-37356BC2C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138" y="138113"/>
            <a:ext cx="538956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700">
                <a:latin typeface="Arial" panose="020B0604020202020204" pitchFamily="34" charset="0"/>
                <a:cs typeface="Arial" panose="020B0604020202020204" pitchFamily="34" charset="0"/>
              </a:rPr>
              <a:t>Copyright © The McGraw-Hill Companies, Inc. Permission required for reproduction or display.</a:t>
            </a:r>
          </a:p>
        </p:txBody>
      </p:sp>
      <p:sp>
        <p:nvSpPr>
          <p:cNvPr id="38916" name="Rectangle 7">
            <a:extLst>
              <a:ext uri="{FF2B5EF4-FFF2-40B4-BE49-F238E27FC236}">
                <a16:creationId xmlns:a16="http://schemas.microsoft.com/office/drawing/2014/main" id="{76ED375D-164A-49A4-B637-2B15CF016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450" y="3471863"/>
            <a:ext cx="1047750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Activated B cell</a:t>
            </a: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38917" name="Rectangle 8">
            <a:extLst>
              <a:ext uri="{FF2B5EF4-FFF2-40B4-BE49-F238E27FC236}">
                <a16:creationId xmlns:a16="http://schemas.microsoft.com/office/drawing/2014/main" id="{DDD0B9A0-7691-4E10-AE09-8F94BCAA9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4340225"/>
            <a:ext cx="828675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Proliferation</a:t>
            </a: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38918" name="Rectangle 9">
            <a:extLst>
              <a:ext uri="{FF2B5EF4-FFF2-40B4-BE49-F238E27FC236}">
                <a16:creationId xmlns:a16="http://schemas.microsoft.com/office/drawing/2014/main" id="{EC83741B-AA30-4DEC-B344-8B86DB4DF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" y="1274763"/>
            <a:ext cx="454025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 cells</a:t>
            </a: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38919" name="Rectangle 10">
            <a:extLst>
              <a:ext uri="{FF2B5EF4-FFF2-40B4-BE49-F238E27FC236}">
                <a16:creationId xmlns:a16="http://schemas.microsoft.com/office/drawing/2014/main" id="{52C73272-EFA9-4D17-95A0-50DD747B0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633413"/>
            <a:ext cx="525463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Antigen</a:t>
            </a: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38920" name="Rectangle 11">
            <a:extLst>
              <a:ext uri="{FF2B5EF4-FFF2-40B4-BE49-F238E27FC236}">
                <a16:creationId xmlns:a16="http://schemas.microsoft.com/office/drawing/2014/main" id="{EDC49943-25E8-4960-BE8F-D74892100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900" y="3844925"/>
            <a:ext cx="674688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Cytokines</a:t>
            </a: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38921" name="Rectangle 12">
            <a:extLst>
              <a:ext uri="{FF2B5EF4-FFF2-40B4-BE49-F238E27FC236}">
                <a16:creationId xmlns:a16="http://schemas.microsoft.com/office/drawing/2014/main" id="{EA72BF61-44BD-4894-ABB1-CF4F1531C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150" y="2239963"/>
            <a:ext cx="681038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Activation</a:t>
            </a: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38922" name="Rectangle 13">
            <a:extLst>
              <a:ext uri="{FF2B5EF4-FFF2-40B4-BE49-F238E27FC236}">
                <a16:creationId xmlns:a16="http://schemas.microsoft.com/office/drawing/2014/main" id="{F64322ED-8477-4788-BBA3-50388438A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2236788"/>
            <a:ext cx="77787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38923" name="Rectangle 14">
            <a:extLst>
              <a:ext uri="{FF2B5EF4-FFF2-40B4-BE49-F238E27FC236}">
                <a16:creationId xmlns:a16="http://schemas.microsoft.com/office/drawing/2014/main" id="{E7CB2426-0A6D-4A10-A17D-65CF0B2B9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850" y="2554288"/>
            <a:ext cx="77788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38924" name="Rectangle 15">
            <a:extLst>
              <a:ext uri="{FF2B5EF4-FFF2-40B4-BE49-F238E27FC236}">
                <a16:creationId xmlns:a16="http://schemas.microsoft.com/office/drawing/2014/main" id="{F3FDD97F-431B-4155-97A5-C1F6B7A82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038" y="4340225"/>
            <a:ext cx="77787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38925" name="Freeform 16">
            <a:extLst>
              <a:ext uri="{FF2B5EF4-FFF2-40B4-BE49-F238E27FC236}">
                <a16:creationId xmlns:a16="http://schemas.microsoft.com/office/drawing/2014/main" id="{67E27826-252E-44F4-ADC8-0AD377AA1F4C}"/>
              </a:ext>
            </a:extLst>
          </p:cNvPr>
          <p:cNvSpPr>
            <a:spLocks/>
          </p:cNvSpPr>
          <p:nvPr/>
        </p:nvSpPr>
        <p:spPr bwMode="auto">
          <a:xfrm>
            <a:off x="1360488" y="4351338"/>
            <a:ext cx="87312" cy="2163762"/>
          </a:xfrm>
          <a:custGeom>
            <a:avLst/>
            <a:gdLst>
              <a:gd name="T0" fmla="*/ 2147483646 w 55"/>
              <a:gd name="T1" fmla="*/ 0 h 1363"/>
              <a:gd name="T2" fmla="*/ 0 w 55"/>
              <a:gd name="T3" fmla="*/ 0 h 1363"/>
              <a:gd name="T4" fmla="*/ 0 w 55"/>
              <a:gd name="T5" fmla="*/ 2147483646 h 1363"/>
              <a:gd name="T6" fmla="*/ 2147483646 w 55"/>
              <a:gd name="T7" fmla="*/ 2147483646 h 1363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1363"/>
              <a:gd name="T14" fmla="*/ 55 w 55"/>
              <a:gd name="T15" fmla="*/ 1363 h 13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1363">
                <a:moveTo>
                  <a:pt x="55" y="0"/>
                </a:moveTo>
                <a:lnTo>
                  <a:pt x="0" y="0"/>
                </a:lnTo>
                <a:lnTo>
                  <a:pt x="0" y="1363"/>
                </a:lnTo>
                <a:lnTo>
                  <a:pt x="55" y="1363"/>
                </a:lnTo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6" name="Line 17">
            <a:extLst>
              <a:ext uri="{FF2B5EF4-FFF2-40B4-BE49-F238E27FC236}">
                <a16:creationId xmlns:a16="http://schemas.microsoft.com/office/drawing/2014/main" id="{DE1D0191-B079-4D71-BD47-A322CAE3B1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7625" y="5434013"/>
            <a:ext cx="42863" cy="1587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7" name="Line 18">
            <a:extLst>
              <a:ext uri="{FF2B5EF4-FFF2-40B4-BE49-F238E27FC236}">
                <a16:creationId xmlns:a16="http://schemas.microsoft.com/office/drawing/2014/main" id="{91C135EA-A406-4435-ABD3-2A878B6A3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263" y="3529013"/>
            <a:ext cx="546100" cy="1587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8" name="Line 19">
            <a:extLst>
              <a:ext uri="{FF2B5EF4-FFF2-40B4-BE49-F238E27FC236}">
                <a16:creationId xmlns:a16="http://schemas.microsoft.com/office/drawing/2014/main" id="{7CFF5AF4-3A1D-412B-A620-647E93EFDA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7213" y="3908425"/>
            <a:ext cx="136525" cy="1588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9" name="Freeform 20">
            <a:extLst>
              <a:ext uri="{FF2B5EF4-FFF2-40B4-BE49-F238E27FC236}">
                <a16:creationId xmlns:a16="http://schemas.microsoft.com/office/drawing/2014/main" id="{06CD1F2A-6487-4C1D-8026-2EABA825CBF4}"/>
              </a:ext>
            </a:extLst>
          </p:cNvPr>
          <p:cNvSpPr>
            <a:spLocks/>
          </p:cNvSpPr>
          <p:nvPr/>
        </p:nvSpPr>
        <p:spPr bwMode="auto">
          <a:xfrm>
            <a:off x="6100763" y="3698875"/>
            <a:ext cx="215900" cy="139700"/>
          </a:xfrm>
          <a:custGeom>
            <a:avLst/>
            <a:gdLst>
              <a:gd name="T0" fmla="*/ 2147483646 w 136"/>
              <a:gd name="T1" fmla="*/ 0 h 88"/>
              <a:gd name="T2" fmla="*/ 2147483646 w 136"/>
              <a:gd name="T3" fmla="*/ 0 h 88"/>
              <a:gd name="T4" fmla="*/ 0 w 136"/>
              <a:gd name="T5" fmla="*/ 2147483646 h 88"/>
              <a:gd name="T6" fmla="*/ 0 60000 65536"/>
              <a:gd name="T7" fmla="*/ 0 60000 65536"/>
              <a:gd name="T8" fmla="*/ 0 60000 65536"/>
              <a:gd name="T9" fmla="*/ 0 w 136"/>
              <a:gd name="T10" fmla="*/ 0 h 88"/>
              <a:gd name="T11" fmla="*/ 136 w 136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" h="88">
                <a:moveTo>
                  <a:pt x="136" y="0"/>
                </a:moveTo>
                <a:lnTo>
                  <a:pt x="49" y="0"/>
                </a:lnTo>
                <a:lnTo>
                  <a:pt x="0" y="88"/>
                </a:lnTo>
              </a:path>
            </a:pathLst>
          </a:cu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0" name="Line 21">
            <a:extLst>
              <a:ext uri="{FF2B5EF4-FFF2-40B4-BE49-F238E27FC236}">
                <a16:creationId xmlns:a16="http://schemas.microsoft.com/office/drawing/2014/main" id="{66B9C06C-67DA-4DAA-B06F-AD324DC8D9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7038" y="1030288"/>
            <a:ext cx="231775" cy="1587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1" name="Text Box 22">
            <a:extLst>
              <a:ext uri="{FF2B5EF4-FFF2-40B4-BE49-F238E27FC236}">
                <a16:creationId xmlns:a16="http://schemas.microsoft.com/office/drawing/2014/main" id="{64A436FD-35F2-409C-AC80-2D0CE89CE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914400"/>
            <a:ext cx="657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Antigen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receptor</a:t>
            </a:r>
          </a:p>
        </p:txBody>
      </p:sp>
      <p:sp>
        <p:nvSpPr>
          <p:cNvPr id="38932" name="Text Box 23">
            <a:extLst>
              <a:ext uri="{FF2B5EF4-FFF2-40B4-BE49-F238E27FC236}">
                <a16:creationId xmlns:a16="http://schemas.microsoft.com/office/drawing/2014/main" id="{3C21E429-477A-416A-A728-DEFF768E3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2554288"/>
            <a:ext cx="15621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Stimulation by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activated helper T cell</a:t>
            </a:r>
          </a:p>
        </p:txBody>
      </p:sp>
      <p:sp>
        <p:nvSpPr>
          <p:cNvPr id="38933" name="Text Box 24">
            <a:extLst>
              <a:ext uri="{FF2B5EF4-FFF2-40B4-BE49-F238E27FC236}">
                <a16:creationId xmlns:a16="http://schemas.microsoft.com/office/drawing/2014/main" id="{1D6A2BED-E4A6-4F4B-A351-BA6B51D2E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334000"/>
            <a:ext cx="657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Clone of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latin typeface="Arial" panose="020B0604020202020204" pitchFamily="34" charset="0"/>
              </a:rPr>
              <a:t>B cells</a:t>
            </a:r>
          </a:p>
        </p:txBody>
      </p:sp>
      <p:sp>
        <p:nvSpPr>
          <p:cNvPr id="38934" name="Slide Number Placeholder 2">
            <a:extLst>
              <a:ext uri="{FF2B5EF4-FFF2-40B4-BE49-F238E27FC236}">
                <a16:creationId xmlns:a16="http://schemas.microsoft.com/office/drawing/2014/main" id="{94DFDB6D-FA22-4931-B565-A292D4F9077F}"/>
              </a:ext>
            </a:extLst>
          </p:cNvPr>
          <p:cNvSpPr txBox="1">
            <a:spLocks noGrp="1"/>
          </p:cNvSpPr>
          <p:nvPr/>
        </p:nvSpPr>
        <p:spPr bwMode="auto">
          <a:xfrm>
            <a:off x="70866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2020BB4F-E012-4070-8A80-DEBC675EFE47}" type="slidenum">
              <a:rPr lang="en-US" altLang="en-US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B7BAC18-E994-4489-9907-BCF1B573207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Figure 4-1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9DDB30E-F8C2-40BA-97A8-2C481837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40964" name="Picture 4">
            <a:extLst>
              <a:ext uri="{FF2B5EF4-FFF2-40B4-BE49-F238E27FC236}">
                <a16:creationId xmlns:a16="http://schemas.microsoft.com/office/drawing/2014/main" id="{D1D77DC8-3BD7-41F1-B4EE-82C18AF8C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88" y="306388"/>
            <a:ext cx="5608637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6740D34-C60D-4CD4-BA18-8BBD3D7DD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36AEE32-513F-443E-BECB-0D9BDE10B1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41988" name="Picture 4">
            <a:extLst>
              <a:ext uri="{FF2B5EF4-FFF2-40B4-BE49-F238E27FC236}">
                <a16:creationId xmlns:a16="http://schemas.microsoft.com/office/drawing/2014/main" id="{CA009826-F896-46C1-9322-8536CDE94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306388"/>
            <a:ext cx="7396163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5E19485A-DB2B-4454-9EAA-50ECBEE15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3011" name="Picture 5">
            <a:extLst>
              <a:ext uri="{FF2B5EF4-FFF2-40B4-BE49-F238E27FC236}">
                <a16:creationId xmlns:a16="http://schemas.microsoft.com/office/drawing/2014/main" id="{6878B600-3868-4201-B66C-9F25485CD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295275"/>
            <a:ext cx="8535987" cy="626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27B852F-7C1C-49B3-BD1C-0E7972679AE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Figure 4-4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17C73F1-09FE-4956-8FC8-259DC9B2C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44036" name="Picture 4">
            <a:extLst>
              <a:ext uri="{FF2B5EF4-FFF2-40B4-BE49-F238E27FC236}">
                <a16:creationId xmlns:a16="http://schemas.microsoft.com/office/drawing/2014/main" id="{D4CE7741-DE93-494E-9228-84FC55CBB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1955800"/>
            <a:ext cx="8535987" cy="294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3C60D1E-F68D-4F19-9394-7A1D4B25C4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Figure 4-3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335050B9-B16C-476B-985A-EB6AD2742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45060" name="Picture 4">
            <a:extLst>
              <a:ext uri="{FF2B5EF4-FFF2-40B4-BE49-F238E27FC236}">
                <a16:creationId xmlns:a16="http://schemas.microsoft.com/office/drawing/2014/main" id="{A29F0A87-58A8-4326-A383-D53686327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306388"/>
            <a:ext cx="6072187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B39E1FA-018A-424E-A5E6-C5BC83C8A28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Figure 4-13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B42E172-7B48-4A7D-A6D5-D32FC1A4E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46084" name="Picture 4">
            <a:extLst>
              <a:ext uri="{FF2B5EF4-FFF2-40B4-BE49-F238E27FC236}">
                <a16:creationId xmlns:a16="http://schemas.microsoft.com/office/drawing/2014/main" id="{02E3B32D-EA3C-498A-9623-82D019E1A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306388"/>
            <a:ext cx="7956550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443EC4B-57F7-4182-9563-C90E188923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Figure 4-18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8695DAA-BE32-4A3C-B693-75792827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47108" name="Picture 4">
            <a:extLst>
              <a:ext uri="{FF2B5EF4-FFF2-40B4-BE49-F238E27FC236}">
                <a16:creationId xmlns:a16="http://schemas.microsoft.com/office/drawing/2014/main" id="{9E8F06FB-A8DA-4EB0-A129-8BF4EA729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06388"/>
            <a:ext cx="7200900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8318D7E-01BC-4C74-B96C-4E109F5107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Figure 7-1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4B10527-2A16-4F5E-89D2-38B3FF9FE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48132" name="Picture 4">
            <a:extLst>
              <a:ext uri="{FF2B5EF4-FFF2-40B4-BE49-F238E27FC236}">
                <a16:creationId xmlns:a16="http://schemas.microsoft.com/office/drawing/2014/main" id="{43461484-792F-43BD-8A76-DF69C9DAE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947738"/>
            <a:ext cx="8535987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EC0EE71-0FEF-4801-94AC-09379C18CF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Figure 9-35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6C72D8E-3279-42DE-B3D5-A30EFA480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49156" name="Picture 4">
            <a:extLst>
              <a:ext uri="{FF2B5EF4-FFF2-40B4-BE49-F238E27FC236}">
                <a16:creationId xmlns:a16="http://schemas.microsoft.com/office/drawing/2014/main" id="{A12CC843-8CA8-4BC6-9F56-C3265318B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88" y="306388"/>
            <a:ext cx="5786437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B1EBFCE-C615-4E75-9C45-06A39277B0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Figure 10-24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359B6AC-7520-4E99-BF9B-5A3D7C235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50180" name="Picture 4">
            <a:extLst>
              <a:ext uri="{FF2B5EF4-FFF2-40B4-BE49-F238E27FC236}">
                <a16:creationId xmlns:a16="http://schemas.microsoft.com/office/drawing/2014/main" id="{C19DE2B3-B5CB-423D-A45B-66B9E1E5E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962025"/>
            <a:ext cx="8535987" cy="493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0374AF0-4297-4F65-997A-ECEBE7BF22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 B cell Memory Quality is enhanced by affinity maturation</a:t>
            </a:r>
          </a:p>
        </p:txBody>
      </p:sp>
      <p:sp>
        <p:nvSpPr>
          <p:cNvPr id="33795" name="Content Placeholder 6">
            <a:extLst>
              <a:ext uri="{FF2B5EF4-FFF2-40B4-BE49-F238E27FC236}">
                <a16:creationId xmlns:a16="http://schemas.microsoft.com/office/drawing/2014/main" id="{8DE79A08-F44A-46C7-B88E-867276D3FC7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/>
              <a:t>Antigen-specific B cells can mature in a cellular structure called the “germinal center”, where they are given stimulation by CD4 T cells and antigen, leading to new mutations in the CDR regions of the genomic DNA encoding the antibody</a:t>
            </a:r>
          </a:p>
          <a:p>
            <a:pPr>
              <a:defRPr/>
            </a:pPr>
            <a:r>
              <a:rPr lang="en-US"/>
              <a:t>Cells that increase affinity for antigen survive and continue rearrangements</a:t>
            </a:r>
          </a:p>
          <a:p>
            <a:pPr>
              <a:defRPr/>
            </a:pPr>
            <a:r>
              <a:rPr lang="en-US"/>
              <a:t>Cells that lose affinity either rearrange to higher affinity or die</a:t>
            </a:r>
          </a:p>
          <a:p>
            <a:pPr>
              <a:defRPr/>
            </a:pPr>
            <a:r>
              <a:rPr lang="en-US"/>
              <a:t>During this period, antibody is not secreted </a:t>
            </a:r>
          </a:p>
        </p:txBody>
      </p:sp>
      <p:pic>
        <p:nvPicPr>
          <p:cNvPr id="51204" name="Picture 4">
            <a:extLst>
              <a:ext uri="{FF2B5EF4-FFF2-40B4-BE49-F238E27FC236}">
                <a16:creationId xmlns:a16="http://schemas.microsoft.com/office/drawing/2014/main" id="{567A57F0-60D9-425A-A9AB-A9AB523BF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066800"/>
            <a:ext cx="2955925" cy="540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5" descr="shi25707_t16_08">
            <a:extLst>
              <a:ext uri="{FF2B5EF4-FFF2-40B4-BE49-F238E27FC236}">
                <a16:creationId xmlns:a16="http://schemas.microsoft.com/office/drawing/2014/main" id="{0AECE8DB-E09B-4C8D-9A97-6EECE52B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8" y="2690813"/>
            <a:ext cx="9051925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7" name="Picture 6" descr="shi25707_t16_07">
            <a:extLst>
              <a:ext uri="{FF2B5EF4-FFF2-40B4-BE49-F238E27FC236}">
                <a16:creationId xmlns:a16="http://schemas.microsoft.com/office/drawing/2014/main" id="{35044168-0C3F-4456-89F3-2E58BBF25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3" y="457200"/>
            <a:ext cx="9045575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Slide Number Placeholder 2">
            <a:extLst>
              <a:ext uri="{FF2B5EF4-FFF2-40B4-BE49-F238E27FC236}">
                <a16:creationId xmlns:a16="http://schemas.microsoft.com/office/drawing/2014/main" id="{E3BFF65D-CD8C-4112-B658-5F44B105E02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EFD199C9-0D9E-4BF2-88A0-1A913E1F3418}" type="slidenum">
              <a:rPr lang="en-US" altLang="en-US" sz="14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4">
            <a:extLst>
              <a:ext uri="{FF2B5EF4-FFF2-40B4-BE49-F238E27FC236}">
                <a16:creationId xmlns:a16="http://schemas.microsoft.com/office/drawing/2014/main" id="{04684947-ECFD-4B31-A19A-86E5F733E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T-cell mediated recognition</a:t>
            </a:r>
          </a:p>
        </p:txBody>
      </p:sp>
      <p:sp>
        <p:nvSpPr>
          <p:cNvPr id="54275" name="Content Placeholder 3">
            <a:extLst>
              <a:ext uri="{FF2B5EF4-FFF2-40B4-BE49-F238E27FC236}">
                <a16:creationId xmlns:a16="http://schemas.microsoft.com/office/drawing/2014/main" id="{C0DD0FFB-7213-408D-9CB2-9DCBD888C06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/>
              <a:t>The T-cell receptor is very similar in structure to an antibody, with a highly variable antigen-binding site formed by V(D)J recomination</a:t>
            </a:r>
          </a:p>
          <a:p>
            <a:r>
              <a:rPr lang="en-US" altLang="en-US"/>
              <a:t>However, it is solely membrane bound and is restricted in the types of antigens it recognizes</a:t>
            </a:r>
          </a:p>
        </p:txBody>
      </p:sp>
      <p:pic>
        <p:nvPicPr>
          <p:cNvPr id="54276" name="Picture 5">
            <a:extLst>
              <a:ext uri="{FF2B5EF4-FFF2-40B4-BE49-F238E27FC236}">
                <a16:creationId xmlns:a16="http://schemas.microsoft.com/office/drawing/2014/main" id="{1FB16633-26F5-4142-8DA1-F7AFAD780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676400"/>
            <a:ext cx="3127375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4">
            <a:extLst>
              <a:ext uri="{FF2B5EF4-FFF2-40B4-BE49-F238E27FC236}">
                <a16:creationId xmlns:a16="http://schemas.microsoft.com/office/drawing/2014/main" id="{FE6FB890-A0D3-4916-9924-CF413A561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676400"/>
            <a:ext cx="40005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EE530FD-6A10-45B7-9615-E0BE3311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T cells Are activated by Specific Antigen and Co-stimulation (Non-specific, Downstream of Innate activation)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D2CE-D1F8-4837-AE8D-20AA6810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MHC molecules are compartments for holding peptide antigen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B0A2E794-422E-49B0-B502-1365A06BFD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/>
              <a:t>MHC molecules are cell surface receptors that contain a peptide-binding cleft</a:t>
            </a:r>
          </a:p>
          <a:p>
            <a:r>
              <a:rPr lang="en-US" altLang="en-US"/>
              <a:t>Small protein pieces (8-20 aa long, depending on the MHC molecule)</a:t>
            </a:r>
          </a:p>
          <a:p>
            <a:r>
              <a:rPr lang="en-US" altLang="en-US"/>
              <a:t>First identified as transplant compatibility antigens (more on this later)</a:t>
            </a:r>
          </a:p>
        </p:txBody>
      </p:sp>
      <p:pic>
        <p:nvPicPr>
          <p:cNvPr id="56324" name="Picture 4">
            <a:extLst>
              <a:ext uri="{FF2B5EF4-FFF2-40B4-BE49-F238E27FC236}">
                <a16:creationId xmlns:a16="http://schemas.microsoft.com/office/drawing/2014/main" id="{BA60AFF2-24E1-402C-9FBF-F2F33AA09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447800"/>
            <a:ext cx="4079875" cy="510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8D2734A-A35D-4319-BD24-490E2D78941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Figure 3-22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C7371E4-A1E1-4DF4-9429-3485E0CFE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57348" name="Picture 4">
            <a:extLst>
              <a:ext uri="{FF2B5EF4-FFF2-40B4-BE49-F238E27FC236}">
                <a16:creationId xmlns:a16="http://schemas.microsoft.com/office/drawing/2014/main" id="{46C2C1D4-9230-444D-A807-33FD15D9B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306388"/>
            <a:ext cx="8293100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4">
            <a:extLst>
              <a:ext uri="{FF2B5EF4-FFF2-40B4-BE49-F238E27FC236}">
                <a16:creationId xmlns:a16="http://schemas.microsoft.com/office/drawing/2014/main" id="{B927CECE-A283-445E-850E-A404553E9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050" y="1506538"/>
            <a:ext cx="3122613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9854F2D-0ED7-4DF3-8639-E4016CEA4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 cell Lineages Determine MHC Restriction</a:t>
            </a:r>
          </a:p>
        </p:txBody>
      </p:sp>
      <p:sp>
        <p:nvSpPr>
          <p:cNvPr id="58372" name="Content Placeholder 5">
            <a:extLst>
              <a:ext uri="{FF2B5EF4-FFF2-40B4-BE49-F238E27FC236}">
                <a16:creationId xmlns:a16="http://schemas.microsoft.com/office/drawing/2014/main" id="{02FF9746-38CD-4EEF-9CE3-B377E2544D2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/>
              <a:t>CD4 and CD8 molecules both expressed during development—whether a T cell becomes CD4 or CD8 positive in maturity is dependent on the “restriction” of its TCR—whether it preferentially interacts with Major Histocompatibility Complex I (MHCI) or MHCII molecules</a:t>
            </a:r>
          </a:p>
        </p:txBody>
      </p:sp>
      <p:pic>
        <p:nvPicPr>
          <p:cNvPr id="58373" name="Picture 4">
            <a:extLst>
              <a:ext uri="{FF2B5EF4-FFF2-40B4-BE49-F238E27FC236}">
                <a16:creationId xmlns:a16="http://schemas.microsoft.com/office/drawing/2014/main" id="{370DF3A6-D1D4-463A-9A24-466CDAC40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300" y="4108450"/>
            <a:ext cx="397510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0000E64-6465-4F8E-8DC0-AAA050B794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 Thymus Selection Restricts MHC recognition and removes </a:t>
            </a:r>
            <a:r>
              <a:rPr lang="en-US" err="1"/>
              <a:t>autoreactive</a:t>
            </a:r>
            <a:r>
              <a:rPr lang="en-US"/>
              <a:t> cells</a:t>
            </a:r>
          </a:p>
        </p:txBody>
      </p:sp>
      <p:pic>
        <p:nvPicPr>
          <p:cNvPr id="59395" name="Picture 4">
            <a:extLst>
              <a:ext uri="{FF2B5EF4-FFF2-40B4-BE49-F238E27FC236}">
                <a16:creationId xmlns:a16="http://schemas.microsoft.com/office/drawing/2014/main" id="{C5EEE6F8-A398-4312-8F41-EF4C59C8D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88" y="1447800"/>
            <a:ext cx="4011612" cy="503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4">
            <a:extLst>
              <a:ext uri="{FF2B5EF4-FFF2-40B4-BE49-F238E27FC236}">
                <a16:creationId xmlns:a16="http://schemas.microsoft.com/office/drawing/2014/main" id="{395E51A1-5AC0-4541-8751-C522C6CAC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524000"/>
            <a:ext cx="3381375" cy="517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E6B23F6-94AC-486E-9373-1BFA5054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err="1"/>
              <a:t>Dendritic</a:t>
            </a:r>
            <a:r>
              <a:rPr lang="en-US"/>
              <a:t> Cells are the most efficient Antigen-Presenting Cells and are generally required for the initiation of Adaptive Immunity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4">
            <a:extLst>
              <a:ext uri="{FF2B5EF4-FFF2-40B4-BE49-F238E27FC236}">
                <a16:creationId xmlns:a16="http://schemas.microsoft.com/office/drawing/2014/main" id="{CA16EA36-4C5A-48E5-96D8-782EC4EE0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676400"/>
            <a:ext cx="40005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EE530FD-6A10-45B7-9615-E0BE3311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T cells Are activated by Specific Antigen and Co-stimulation (Non-specific, Downstream of Innate activation)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402A490D-FD8D-41A1-B191-5B85DF07A5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Figure 8-18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729C36B6-8088-44C2-A865-10A68FF2D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62468" name="Picture 4">
            <a:extLst>
              <a:ext uri="{FF2B5EF4-FFF2-40B4-BE49-F238E27FC236}">
                <a16:creationId xmlns:a16="http://schemas.microsoft.com/office/drawing/2014/main" id="{FCEEF6C8-9793-47C6-80A7-2309ADB49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738" y="306388"/>
            <a:ext cx="6230937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4">
            <a:extLst>
              <a:ext uri="{FF2B5EF4-FFF2-40B4-BE49-F238E27FC236}">
                <a16:creationId xmlns:a16="http://schemas.microsoft.com/office/drawing/2014/main" id="{837E20B6-073A-4C6E-A623-1A5A1D6DCF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 rot="5400000">
            <a:off x="6989763" y="3736975"/>
            <a:ext cx="3200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6B386445-D546-48EE-8B89-C60102A17D4C}" type="slidenum">
              <a:rPr lang="en-US" altLang="en-US" sz="1200" b="0">
                <a:solidFill>
                  <a:schemeClr val="tx2"/>
                </a:solidFill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200" b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6370" name="Rectangle 2">
            <a:extLst>
              <a:ext uri="{FF2B5EF4-FFF2-40B4-BE49-F238E27FC236}">
                <a16:creationId xmlns:a16="http://schemas.microsoft.com/office/drawing/2014/main" id="{B5FE462E-5D05-41B0-9377-501DA73838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219200"/>
          </a:xfrm>
          <a:gradFill rotWithShape="0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</p:spPr>
        <p:txBody>
          <a:bodyPr/>
          <a:lstStyle/>
          <a:p>
            <a:pPr eaLnBrk="1" hangingPunct="1">
              <a:defRPr/>
            </a:pPr>
            <a:r>
              <a:rPr lang="en-US" b="1"/>
              <a:t>Structure of a Lymph Node</a:t>
            </a:r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A0FBB300-7EBF-44AC-9A2D-24281D064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1552575"/>
            <a:ext cx="500062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800">
                <a:latin typeface="+mj-lt"/>
                <a:cs typeface="Arial" pitchFamily="34" charset="2"/>
              </a:rPr>
              <a:t>Copyright © The McGraw-Hill Companies, Inc. Permission required for reproduction or display.</a:t>
            </a:r>
          </a:p>
        </p:txBody>
      </p:sp>
      <p:pic>
        <p:nvPicPr>
          <p:cNvPr id="63493" name="Picture 8" descr="shi25707_16_10a">
            <a:extLst>
              <a:ext uri="{FF2B5EF4-FFF2-40B4-BE49-F238E27FC236}">
                <a16:creationId xmlns:a16="http://schemas.microsoft.com/office/drawing/2014/main" id="{15AA2F63-003E-4846-85E6-8F56B2189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538" y="2357438"/>
            <a:ext cx="3952875" cy="401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Rectangle 9">
            <a:extLst>
              <a:ext uri="{FF2B5EF4-FFF2-40B4-BE49-F238E27FC236}">
                <a16:creationId xmlns:a16="http://schemas.microsoft.com/office/drawing/2014/main" id="{CCA2B1F7-597A-471A-8211-607CB6872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6088" y="2852738"/>
            <a:ext cx="9207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Lymph flow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3495" name="Rectangle 10">
            <a:extLst>
              <a:ext uri="{FF2B5EF4-FFF2-40B4-BE49-F238E27FC236}">
                <a16:creationId xmlns:a16="http://schemas.microsoft.com/office/drawing/2014/main" id="{3FF6111E-E8A4-4F4D-AC07-FC1D05B2B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925" y="4603750"/>
            <a:ext cx="4508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Sinus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3496" name="Rectangle 11">
            <a:extLst>
              <a:ext uri="{FF2B5EF4-FFF2-40B4-BE49-F238E27FC236}">
                <a16:creationId xmlns:a16="http://schemas.microsoft.com/office/drawing/2014/main" id="{6DE2F873-34A4-4CA1-A6B0-82420B684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925" y="4816475"/>
            <a:ext cx="6445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Capsule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3497" name="Rectangle 12">
            <a:extLst>
              <a:ext uri="{FF2B5EF4-FFF2-40B4-BE49-F238E27FC236}">
                <a16:creationId xmlns:a16="http://schemas.microsoft.com/office/drawing/2014/main" id="{92035C6B-A16F-43E2-BD21-AAD018524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925" y="6510338"/>
            <a:ext cx="2032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(a)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3498" name="Rectangle 13">
            <a:extLst>
              <a:ext uri="{FF2B5EF4-FFF2-40B4-BE49-F238E27FC236}">
                <a16:creationId xmlns:a16="http://schemas.microsoft.com/office/drawing/2014/main" id="{7C91CFD8-002F-4531-AD30-CE8B43B28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675" y="5351463"/>
            <a:ext cx="5619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Nodule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3499" name="Rectangle 14">
            <a:extLst>
              <a:ext uri="{FF2B5EF4-FFF2-40B4-BE49-F238E27FC236}">
                <a16:creationId xmlns:a16="http://schemas.microsoft.com/office/drawing/2014/main" id="{F8A58B9C-FF2E-4FBB-9389-15BB1A290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763" y="5359400"/>
            <a:ext cx="458787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Hilum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3500" name="Rectangle 15">
            <a:extLst>
              <a:ext uri="{FF2B5EF4-FFF2-40B4-BE49-F238E27FC236}">
                <a16:creationId xmlns:a16="http://schemas.microsoft.com/office/drawing/2014/main" id="{B73A1178-C1D7-489C-BEA6-14501D4E7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763" y="5664200"/>
            <a:ext cx="9207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Lymph flow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3501" name="Rectangle 16">
            <a:extLst>
              <a:ext uri="{FF2B5EF4-FFF2-40B4-BE49-F238E27FC236}">
                <a16:creationId xmlns:a16="http://schemas.microsoft.com/office/drawing/2014/main" id="{B7AD691C-E48B-4689-A272-0BA6C48A3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675" y="5662613"/>
            <a:ext cx="4857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Artery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3502" name="Rectangle 17">
            <a:extLst>
              <a:ext uri="{FF2B5EF4-FFF2-40B4-BE49-F238E27FC236}">
                <a16:creationId xmlns:a16="http://schemas.microsoft.com/office/drawing/2014/main" id="{30C7CFCB-2C23-486C-95D2-8CF645A17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675" y="5981700"/>
            <a:ext cx="3492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Vein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3503" name="Freeform 18">
            <a:extLst>
              <a:ext uri="{FF2B5EF4-FFF2-40B4-BE49-F238E27FC236}">
                <a16:creationId xmlns:a16="http://schemas.microsoft.com/office/drawing/2014/main" id="{9E512BF9-B55C-468F-828E-6B8F566D9405}"/>
              </a:ext>
            </a:extLst>
          </p:cNvPr>
          <p:cNvSpPr>
            <a:spLocks/>
          </p:cNvSpPr>
          <p:nvPr/>
        </p:nvSpPr>
        <p:spPr bwMode="auto">
          <a:xfrm>
            <a:off x="2693988" y="2954338"/>
            <a:ext cx="722312" cy="401637"/>
          </a:xfrm>
          <a:custGeom>
            <a:avLst/>
            <a:gdLst>
              <a:gd name="T0" fmla="*/ 2147483646 w 483"/>
              <a:gd name="T1" fmla="*/ 2147483646 h 269"/>
              <a:gd name="T2" fmla="*/ 2147483646 w 483"/>
              <a:gd name="T3" fmla="*/ 0 h 269"/>
              <a:gd name="T4" fmla="*/ 0 w 483"/>
              <a:gd name="T5" fmla="*/ 0 h 269"/>
              <a:gd name="T6" fmla="*/ 0 60000 65536"/>
              <a:gd name="T7" fmla="*/ 0 60000 65536"/>
              <a:gd name="T8" fmla="*/ 0 60000 65536"/>
              <a:gd name="T9" fmla="*/ 0 w 483"/>
              <a:gd name="T10" fmla="*/ 0 h 269"/>
              <a:gd name="T11" fmla="*/ 483 w 483"/>
              <a:gd name="T12" fmla="*/ 269 h 2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3" h="269">
                <a:moveTo>
                  <a:pt x="483" y="269"/>
                </a:moveTo>
                <a:lnTo>
                  <a:pt x="108" y="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4" name="Line 19">
            <a:extLst>
              <a:ext uri="{FF2B5EF4-FFF2-40B4-BE49-F238E27FC236}">
                <a16:creationId xmlns:a16="http://schemas.microsoft.com/office/drawing/2014/main" id="{DFE8B4C6-9D77-40FD-A8B8-5FEA56CAC3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26163" y="2279650"/>
            <a:ext cx="1587" cy="1674813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5" name="Freeform 20">
            <a:extLst>
              <a:ext uri="{FF2B5EF4-FFF2-40B4-BE49-F238E27FC236}">
                <a16:creationId xmlns:a16="http://schemas.microsoft.com/office/drawing/2014/main" id="{F50F5F02-80C0-4464-8101-EE8E07BF6C97}"/>
              </a:ext>
            </a:extLst>
          </p:cNvPr>
          <p:cNvSpPr>
            <a:spLocks/>
          </p:cNvSpPr>
          <p:nvPr/>
        </p:nvSpPr>
        <p:spPr bwMode="auto">
          <a:xfrm>
            <a:off x="3411538" y="1974850"/>
            <a:ext cx="1785937" cy="919163"/>
          </a:xfrm>
          <a:custGeom>
            <a:avLst/>
            <a:gdLst>
              <a:gd name="T0" fmla="*/ 2147483646 w 1194"/>
              <a:gd name="T1" fmla="*/ 2147483646 h 615"/>
              <a:gd name="T2" fmla="*/ 2147483646 w 1194"/>
              <a:gd name="T3" fmla="*/ 0 h 615"/>
              <a:gd name="T4" fmla="*/ 0 w 1194"/>
              <a:gd name="T5" fmla="*/ 0 h 615"/>
              <a:gd name="T6" fmla="*/ 0 60000 65536"/>
              <a:gd name="T7" fmla="*/ 0 60000 65536"/>
              <a:gd name="T8" fmla="*/ 0 60000 65536"/>
              <a:gd name="T9" fmla="*/ 0 w 1194"/>
              <a:gd name="T10" fmla="*/ 0 h 615"/>
              <a:gd name="T11" fmla="*/ 1194 w 1194"/>
              <a:gd name="T12" fmla="*/ 615 h 6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94" h="615">
                <a:moveTo>
                  <a:pt x="1194" y="615"/>
                </a:moveTo>
                <a:lnTo>
                  <a:pt x="431" y="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6" name="Line 21">
            <a:extLst>
              <a:ext uri="{FF2B5EF4-FFF2-40B4-BE49-F238E27FC236}">
                <a16:creationId xmlns:a16="http://schemas.microsoft.com/office/drawing/2014/main" id="{E77086C1-BBAF-4B60-A26C-3077B3E79D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4933950"/>
            <a:ext cx="925513" cy="15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7" name="Line 22">
            <a:extLst>
              <a:ext uri="{FF2B5EF4-FFF2-40B4-BE49-F238E27FC236}">
                <a16:creationId xmlns:a16="http://schemas.microsoft.com/office/drawing/2014/main" id="{502E9B09-F628-439B-9DD6-16DD861998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1425" y="4540250"/>
            <a:ext cx="750888" cy="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8" name="Freeform 23">
            <a:extLst>
              <a:ext uri="{FF2B5EF4-FFF2-40B4-BE49-F238E27FC236}">
                <a16:creationId xmlns:a16="http://schemas.microsoft.com/office/drawing/2014/main" id="{D81E4795-ECEB-4106-8D6E-D61BA3EA66D3}"/>
              </a:ext>
            </a:extLst>
          </p:cNvPr>
          <p:cNvSpPr>
            <a:spLocks/>
          </p:cNvSpPr>
          <p:nvPr/>
        </p:nvSpPr>
        <p:spPr bwMode="auto">
          <a:xfrm>
            <a:off x="3941763" y="4964113"/>
            <a:ext cx="280987" cy="65087"/>
          </a:xfrm>
          <a:custGeom>
            <a:avLst/>
            <a:gdLst>
              <a:gd name="T0" fmla="*/ 0 w 188"/>
              <a:gd name="T1" fmla="*/ 0 h 43"/>
              <a:gd name="T2" fmla="*/ 0 w 188"/>
              <a:gd name="T3" fmla="*/ 2147483646 h 43"/>
              <a:gd name="T4" fmla="*/ 2147483646 w 188"/>
              <a:gd name="T5" fmla="*/ 2147483646 h 43"/>
              <a:gd name="T6" fmla="*/ 2147483646 w 188"/>
              <a:gd name="T7" fmla="*/ 0 h 43"/>
              <a:gd name="T8" fmla="*/ 0 60000 65536"/>
              <a:gd name="T9" fmla="*/ 0 60000 65536"/>
              <a:gd name="T10" fmla="*/ 0 60000 65536"/>
              <a:gd name="T11" fmla="*/ 0 60000 65536"/>
              <a:gd name="T12" fmla="*/ 0 w 188"/>
              <a:gd name="T13" fmla="*/ 0 h 43"/>
              <a:gd name="T14" fmla="*/ 188 w 188"/>
              <a:gd name="T15" fmla="*/ 43 h 4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8" h="43">
                <a:moveTo>
                  <a:pt x="0" y="0"/>
                </a:moveTo>
                <a:lnTo>
                  <a:pt x="0" y="43"/>
                </a:lnTo>
                <a:lnTo>
                  <a:pt x="188" y="43"/>
                </a:lnTo>
                <a:lnTo>
                  <a:pt x="188" y="0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9" name="Freeform 24">
            <a:extLst>
              <a:ext uri="{FF2B5EF4-FFF2-40B4-BE49-F238E27FC236}">
                <a16:creationId xmlns:a16="http://schemas.microsoft.com/office/drawing/2014/main" id="{7F738CCE-62A1-4D39-8D30-971D6F3AD534}"/>
              </a:ext>
            </a:extLst>
          </p:cNvPr>
          <p:cNvSpPr>
            <a:spLocks/>
          </p:cNvSpPr>
          <p:nvPr/>
        </p:nvSpPr>
        <p:spPr bwMode="auto">
          <a:xfrm>
            <a:off x="3330575" y="5030788"/>
            <a:ext cx="750888" cy="436562"/>
          </a:xfrm>
          <a:custGeom>
            <a:avLst/>
            <a:gdLst>
              <a:gd name="T0" fmla="*/ 2147483646 w 502"/>
              <a:gd name="T1" fmla="*/ 0 h 292"/>
              <a:gd name="T2" fmla="*/ 2147483646 w 502"/>
              <a:gd name="T3" fmla="*/ 2147483646 h 292"/>
              <a:gd name="T4" fmla="*/ 0 w 502"/>
              <a:gd name="T5" fmla="*/ 2147483646 h 292"/>
              <a:gd name="T6" fmla="*/ 0 60000 65536"/>
              <a:gd name="T7" fmla="*/ 0 60000 65536"/>
              <a:gd name="T8" fmla="*/ 0 60000 65536"/>
              <a:gd name="T9" fmla="*/ 0 w 502"/>
              <a:gd name="T10" fmla="*/ 0 h 292"/>
              <a:gd name="T11" fmla="*/ 502 w 502"/>
              <a:gd name="T12" fmla="*/ 292 h 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02" h="292">
                <a:moveTo>
                  <a:pt x="502" y="0"/>
                </a:moveTo>
                <a:lnTo>
                  <a:pt x="190" y="292"/>
                </a:lnTo>
                <a:lnTo>
                  <a:pt x="0" y="292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0" name="Line 25">
            <a:extLst>
              <a:ext uri="{FF2B5EF4-FFF2-40B4-BE49-F238E27FC236}">
                <a16:creationId xmlns:a16="http://schemas.microsoft.com/office/drawing/2014/main" id="{49C3659B-25D5-49EA-9BB4-E8B90D0B0C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8513" y="5781675"/>
            <a:ext cx="941387" cy="15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1" name="Freeform 26">
            <a:extLst>
              <a:ext uri="{FF2B5EF4-FFF2-40B4-BE49-F238E27FC236}">
                <a16:creationId xmlns:a16="http://schemas.microsoft.com/office/drawing/2014/main" id="{2B5B95FE-F4A2-4DBC-8228-3F649207D49B}"/>
              </a:ext>
            </a:extLst>
          </p:cNvPr>
          <p:cNvSpPr>
            <a:spLocks/>
          </p:cNvSpPr>
          <p:nvPr/>
        </p:nvSpPr>
        <p:spPr bwMode="auto">
          <a:xfrm>
            <a:off x="4489450" y="5049838"/>
            <a:ext cx="1060450" cy="417512"/>
          </a:xfrm>
          <a:custGeom>
            <a:avLst/>
            <a:gdLst>
              <a:gd name="T0" fmla="*/ 0 w 710"/>
              <a:gd name="T1" fmla="*/ 0 h 280"/>
              <a:gd name="T2" fmla="*/ 2147483646 w 710"/>
              <a:gd name="T3" fmla="*/ 2147483646 h 280"/>
              <a:gd name="T4" fmla="*/ 2147483646 w 710"/>
              <a:gd name="T5" fmla="*/ 2147483646 h 280"/>
              <a:gd name="T6" fmla="*/ 0 60000 65536"/>
              <a:gd name="T7" fmla="*/ 0 60000 65536"/>
              <a:gd name="T8" fmla="*/ 0 60000 65536"/>
              <a:gd name="T9" fmla="*/ 0 w 710"/>
              <a:gd name="T10" fmla="*/ 0 h 280"/>
              <a:gd name="T11" fmla="*/ 710 w 710"/>
              <a:gd name="T12" fmla="*/ 280 h 2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10" h="280">
                <a:moveTo>
                  <a:pt x="0" y="0"/>
                </a:moveTo>
                <a:lnTo>
                  <a:pt x="522" y="280"/>
                </a:lnTo>
                <a:lnTo>
                  <a:pt x="710" y="280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2" name="Line 27">
            <a:extLst>
              <a:ext uri="{FF2B5EF4-FFF2-40B4-BE49-F238E27FC236}">
                <a16:creationId xmlns:a16="http://schemas.microsoft.com/office/drawing/2014/main" id="{D9153C9C-116E-4F78-B8EA-C8D8C522C2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75" y="6096000"/>
            <a:ext cx="962025" cy="15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3" name="Line 28">
            <a:extLst>
              <a:ext uri="{FF2B5EF4-FFF2-40B4-BE49-F238E27FC236}">
                <a16:creationId xmlns:a16="http://schemas.microsoft.com/office/drawing/2014/main" id="{60722B3F-35C7-4882-A155-84EC5C663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781675"/>
            <a:ext cx="825500" cy="15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4" name="Freeform 29">
            <a:extLst>
              <a:ext uri="{FF2B5EF4-FFF2-40B4-BE49-F238E27FC236}">
                <a16:creationId xmlns:a16="http://schemas.microsoft.com/office/drawing/2014/main" id="{87D80199-025E-4430-BC29-36E4CDC435C0}"/>
              </a:ext>
            </a:extLst>
          </p:cNvPr>
          <p:cNvSpPr>
            <a:spLocks/>
          </p:cNvSpPr>
          <p:nvPr/>
        </p:nvSpPr>
        <p:spPr bwMode="auto">
          <a:xfrm>
            <a:off x="3140075" y="5922963"/>
            <a:ext cx="1006475" cy="173037"/>
          </a:xfrm>
          <a:custGeom>
            <a:avLst/>
            <a:gdLst>
              <a:gd name="T0" fmla="*/ 0 w 673"/>
              <a:gd name="T1" fmla="*/ 2147483646 h 116"/>
              <a:gd name="T2" fmla="*/ 2147483646 w 673"/>
              <a:gd name="T3" fmla="*/ 2147483646 h 116"/>
              <a:gd name="T4" fmla="*/ 2147483646 w 673"/>
              <a:gd name="T5" fmla="*/ 0 h 116"/>
              <a:gd name="T6" fmla="*/ 0 60000 65536"/>
              <a:gd name="T7" fmla="*/ 0 60000 65536"/>
              <a:gd name="T8" fmla="*/ 0 60000 65536"/>
              <a:gd name="T9" fmla="*/ 0 w 673"/>
              <a:gd name="T10" fmla="*/ 0 h 116"/>
              <a:gd name="T11" fmla="*/ 673 w 673"/>
              <a:gd name="T12" fmla="*/ 116 h 1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3" h="116">
                <a:moveTo>
                  <a:pt x="0" y="116"/>
                </a:moveTo>
                <a:lnTo>
                  <a:pt x="514" y="116"/>
                </a:lnTo>
                <a:lnTo>
                  <a:pt x="673" y="0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5" name="Freeform 30">
            <a:extLst>
              <a:ext uri="{FF2B5EF4-FFF2-40B4-BE49-F238E27FC236}">
                <a16:creationId xmlns:a16="http://schemas.microsoft.com/office/drawing/2014/main" id="{44574989-FDFA-40FB-BBF8-859C60D56136}"/>
              </a:ext>
            </a:extLst>
          </p:cNvPr>
          <p:cNvSpPr>
            <a:spLocks/>
          </p:cNvSpPr>
          <p:nvPr/>
        </p:nvSpPr>
        <p:spPr bwMode="auto">
          <a:xfrm>
            <a:off x="5881688" y="4721225"/>
            <a:ext cx="835025" cy="49213"/>
          </a:xfrm>
          <a:custGeom>
            <a:avLst/>
            <a:gdLst>
              <a:gd name="T0" fmla="*/ 2147483646 w 559"/>
              <a:gd name="T1" fmla="*/ 0 h 32"/>
              <a:gd name="T2" fmla="*/ 2147483646 w 559"/>
              <a:gd name="T3" fmla="*/ 0 h 32"/>
              <a:gd name="T4" fmla="*/ 0 w 559"/>
              <a:gd name="T5" fmla="*/ 2147483646 h 32"/>
              <a:gd name="T6" fmla="*/ 0 60000 65536"/>
              <a:gd name="T7" fmla="*/ 0 60000 65536"/>
              <a:gd name="T8" fmla="*/ 0 60000 65536"/>
              <a:gd name="T9" fmla="*/ 0 w 559"/>
              <a:gd name="T10" fmla="*/ 0 h 32"/>
              <a:gd name="T11" fmla="*/ 559 w 559"/>
              <a:gd name="T12" fmla="*/ 32 h 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9" h="32">
                <a:moveTo>
                  <a:pt x="559" y="0"/>
                </a:moveTo>
                <a:lnTo>
                  <a:pt x="193" y="0"/>
                </a:lnTo>
                <a:lnTo>
                  <a:pt x="0" y="32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6" name="Text Box 31">
            <a:extLst>
              <a:ext uri="{FF2B5EF4-FFF2-40B4-BE49-F238E27FC236}">
                <a16:creationId xmlns:a16="http://schemas.microsoft.com/office/drawing/2014/main" id="{DCD81046-21C9-4C4D-B487-AB68AF277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0" y="1865313"/>
            <a:ext cx="865188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Arial" panose="020B0604020202020204" pitchFamily="34" charset="0"/>
              </a:rPr>
              <a:t>Afferent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Arial" panose="020B0604020202020204" pitchFamily="34" charset="0"/>
              </a:rPr>
              <a:t>lymphatic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Arial" panose="020B0604020202020204" pitchFamily="34" charset="0"/>
              </a:rPr>
              <a:t>vessel</a:t>
            </a:r>
          </a:p>
        </p:txBody>
      </p:sp>
      <p:sp>
        <p:nvSpPr>
          <p:cNvPr id="63517" name="Text Box 32">
            <a:extLst>
              <a:ext uri="{FF2B5EF4-FFF2-40B4-BE49-F238E27FC236}">
                <a16:creationId xmlns:a16="http://schemas.microsoft.com/office/drawing/2014/main" id="{C33CD219-C95C-4933-8FB4-E05EC3915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788" y="4456113"/>
            <a:ext cx="808037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Arial" panose="020B0604020202020204" pitchFamily="34" charset="0"/>
              </a:rPr>
              <a:t>Germinal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Arial" panose="020B0604020202020204" pitchFamily="34" charset="0"/>
              </a:rPr>
              <a:t>center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Arial" panose="020B0604020202020204" pitchFamily="34" charset="0"/>
              </a:rPr>
              <a:t>(B cells)</a:t>
            </a:r>
          </a:p>
        </p:txBody>
      </p:sp>
      <p:sp>
        <p:nvSpPr>
          <p:cNvPr id="63518" name="Text Box 33">
            <a:extLst>
              <a:ext uri="{FF2B5EF4-FFF2-40B4-BE49-F238E27FC236}">
                <a16:creationId xmlns:a16="http://schemas.microsoft.com/office/drawing/2014/main" id="{3CAB1E34-6B1B-45BC-BF92-7BEDCDE84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200" y="1816100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Arial" panose="020B0604020202020204" pitchFamily="34" charset="0"/>
              </a:rPr>
              <a:t>Subcapsule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Arial" panose="020B0604020202020204" pitchFamily="34" charset="0"/>
              </a:rPr>
              <a:t>(macrophages, B cells)</a:t>
            </a:r>
          </a:p>
        </p:txBody>
      </p:sp>
      <p:sp>
        <p:nvSpPr>
          <p:cNvPr id="63519" name="Text Box 34">
            <a:extLst>
              <a:ext uri="{FF2B5EF4-FFF2-40B4-BE49-F238E27FC236}">
                <a16:creationId xmlns:a16="http://schemas.microsoft.com/office/drawing/2014/main" id="{7C2049DC-8971-4BEE-ABB4-C9A65D8F6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3824288"/>
            <a:ext cx="1887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Arial" panose="020B0604020202020204" pitchFamily="34" charset="0"/>
              </a:rPr>
              <a:t>Medulla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Arial" panose="020B0604020202020204" pitchFamily="34" charset="0"/>
              </a:rPr>
              <a:t>(macrophages, T cells)</a:t>
            </a:r>
          </a:p>
        </p:txBody>
      </p:sp>
      <p:sp>
        <p:nvSpPr>
          <p:cNvPr id="63520" name="Text Box 35">
            <a:extLst>
              <a:ext uri="{FF2B5EF4-FFF2-40B4-BE49-F238E27FC236}">
                <a16:creationId xmlns:a16="http://schemas.microsoft.com/office/drawing/2014/main" id="{4038AEEB-BB72-43A1-8562-63E2D57AF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2763" y="5978525"/>
            <a:ext cx="865187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bIns="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Arial" panose="020B0604020202020204" pitchFamily="34" charset="0"/>
              </a:rPr>
              <a:t>Efferent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Arial" panose="020B0604020202020204" pitchFamily="34" charset="0"/>
              </a:rPr>
              <a:t>lymphatic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Arial" panose="020B0604020202020204" pitchFamily="34" charset="0"/>
              </a:rPr>
              <a:t>vessel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B61AC004-9340-4C7E-B46F-CF53D7331B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Figure 8-27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783BD2A-11B2-4622-9AB9-82EA2FBAF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65540" name="Picture 4">
            <a:extLst>
              <a:ext uri="{FF2B5EF4-FFF2-40B4-BE49-F238E27FC236}">
                <a16:creationId xmlns:a16="http://schemas.microsoft.com/office/drawing/2014/main" id="{1B38FCFD-AC7A-4D71-B63E-60716F2E1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306388"/>
            <a:ext cx="5816600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24855F-D20A-4504-9340-D11DCE70A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60960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sz="2400"/>
              <a:t>CD4 Cells Can Differentiate into multiple Types of “Helpers”</a:t>
            </a:r>
          </a:p>
        </p:txBody>
      </p:sp>
      <p:pic>
        <p:nvPicPr>
          <p:cNvPr id="66563" name="Picture 45" descr="nri1807-f2">
            <a:extLst>
              <a:ext uri="{FF2B5EF4-FFF2-40B4-BE49-F238E27FC236}">
                <a16:creationId xmlns:a16="http://schemas.microsoft.com/office/drawing/2014/main" id="{CD11DF50-D594-41B9-B848-65CA09C8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23875"/>
            <a:ext cx="7620000" cy="633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4">
            <a:extLst>
              <a:ext uri="{FF2B5EF4-FFF2-40B4-BE49-F238E27FC236}">
                <a16:creationId xmlns:a16="http://schemas.microsoft.com/office/drawing/2014/main" id="{8B13E100-A779-4E79-A9B8-B55EB96FB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3" y="1905000"/>
            <a:ext cx="8535987" cy="455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0942B9D-933D-4099-9BA4-15C24D3E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Activated Cells are now Licensed to Seek out Targets and Kill them</a:t>
            </a:r>
            <a:br>
              <a:rPr lang="en-US"/>
            </a:br>
            <a:r>
              <a:rPr lang="en-US"/>
              <a:t>For CD8 T cells, Numbers are Critical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ECF1EEBE-87E9-4A46-BF4A-71F20DA1A55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Figure 8-31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EC31A107-6B06-4DF2-BA17-F458B1E92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68612" name="Picture 4">
            <a:extLst>
              <a:ext uri="{FF2B5EF4-FFF2-40B4-BE49-F238E27FC236}">
                <a16:creationId xmlns:a16="http://schemas.microsoft.com/office/drawing/2014/main" id="{03788D70-0CCB-4F70-94C2-0966231AC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63" y="306388"/>
            <a:ext cx="6492875" cy="624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63D73-B1A4-44C2-A71E-A29DDEE25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50838"/>
            <a:ext cx="2514600" cy="2773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Specific Clearance Mechanisms For Pathogen Classes</a:t>
            </a:r>
            <a:br>
              <a:rPr lang="en-US"/>
            </a:br>
            <a:r>
              <a:rPr lang="en-US"/>
              <a:t>(keep in mind redundancy)</a:t>
            </a:r>
          </a:p>
        </p:txBody>
      </p:sp>
      <p:pic>
        <p:nvPicPr>
          <p:cNvPr id="69635" name="Picture 4">
            <a:extLst>
              <a:ext uri="{FF2B5EF4-FFF2-40B4-BE49-F238E27FC236}">
                <a16:creationId xmlns:a16="http://schemas.microsoft.com/office/drawing/2014/main" id="{83EBBAD6-D4A5-4B58-9E80-0991ADBC2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-66675"/>
            <a:ext cx="5867400" cy="706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38E2B014-0637-47CB-B731-66BBEF815D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Last question?	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721C6415-8188-490B-981C-1871A15D35D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When do I shut off?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Regulation by specialized cells via direct contact and secreted cytokines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Inhibition loops within cells along cytokine cascades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Multiple mechanisms with diverse consequences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Autoimmunity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Asthma and allergy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54D97E6C-294B-40DA-978E-F8EB72CD7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altLang="en-US"/>
          </a:p>
        </p:txBody>
      </p:sp>
      <p:pic>
        <p:nvPicPr>
          <p:cNvPr id="71683" name="Picture 3">
            <a:extLst>
              <a:ext uri="{FF2B5EF4-FFF2-40B4-BE49-F238E27FC236}">
                <a16:creationId xmlns:a16="http://schemas.microsoft.com/office/drawing/2014/main" id="{2E20F8DD-AE57-4BB5-872F-B88A6655F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95450"/>
            <a:ext cx="8877300" cy="374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961E2-C8C5-4294-89EA-BF262BDB6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DF875510-1B50-4933-B64A-8FA439CC3EF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altLang="en-US"/>
          </a:p>
        </p:txBody>
      </p:sp>
      <p:pic>
        <p:nvPicPr>
          <p:cNvPr id="72708" name="Picture 2">
            <a:extLst>
              <a:ext uri="{FF2B5EF4-FFF2-40B4-BE49-F238E27FC236}">
                <a16:creationId xmlns:a16="http://schemas.microsoft.com/office/drawing/2014/main" id="{0682A0DB-A53E-42B1-8231-76AF7DF48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228600"/>
            <a:ext cx="9148763" cy="639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4">
            <a:extLst>
              <a:ext uri="{FF2B5EF4-FFF2-40B4-BE49-F238E27FC236}">
                <a16:creationId xmlns:a16="http://schemas.microsoft.com/office/drawing/2014/main" id="{F7D590F3-22F5-487A-85F1-29BC104CB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95463"/>
            <a:ext cx="8535988" cy="422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A805BDE-E60F-41C0-8751-611AE416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Thanks for the Memories…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14BD7-26C8-419A-B1C1-E7277A311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Memory</a:t>
            </a:r>
          </a:p>
        </p:txBody>
      </p:sp>
      <p:sp>
        <p:nvSpPr>
          <p:cNvPr id="74755" name="Content Placeholder 4">
            <a:extLst>
              <a:ext uri="{FF2B5EF4-FFF2-40B4-BE49-F238E27FC236}">
                <a16:creationId xmlns:a16="http://schemas.microsoft.com/office/drawing/2014/main" id="{EE5F606E-88EC-4ADC-9EA8-217504517C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/>
              <a:t>After contraction, memory CD8 numbers are maintained (active process) while CD4 cells slowly decline</a:t>
            </a:r>
          </a:p>
          <a:p>
            <a:r>
              <a:rPr lang="en-US" altLang="en-US"/>
              <a:t>Higher precursor numbers are a key feature of memory</a:t>
            </a:r>
          </a:p>
          <a:p>
            <a:r>
              <a:rPr lang="en-US" altLang="en-US"/>
              <a:t>Memory cells more rapidly acquire effector function and have lower thresholds of activation </a:t>
            </a:r>
          </a:p>
        </p:txBody>
      </p:sp>
      <p:pic>
        <p:nvPicPr>
          <p:cNvPr id="74756" name="Picture 2">
            <a:extLst>
              <a:ext uri="{FF2B5EF4-FFF2-40B4-BE49-F238E27FC236}">
                <a16:creationId xmlns:a16="http://schemas.microsoft.com/office/drawing/2014/main" id="{C2007669-54AE-4A55-B8D5-33B3E4DD4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676400"/>
            <a:ext cx="4876800" cy="379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53EB-4792-4550-9B7A-1E1D07EDC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A9CBE97D-3070-408F-85EE-E3957C1C6BD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5780" name="Content Placeholder 3">
            <a:extLst>
              <a:ext uri="{FF2B5EF4-FFF2-40B4-BE49-F238E27FC236}">
                <a16:creationId xmlns:a16="http://schemas.microsoft.com/office/drawing/2014/main" id="{2034ABBC-C55C-4BE2-957D-234935E84340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270375" y="1600200"/>
            <a:ext cx="3657600" cy="4572000"/>
          </a:xfrm>
        </p:spPr>
        <p:txBody>
          <a:bodyPr/>
          <a:lstStyle/>
          <a:p>
            <a:endParaRPr lang="en-US" altLang="en-US"/>
          </a:p>
        </p:txBody>
      </p:sp>
      <p:pic>
        <p:nvPicPr>
          <p:cNvPr id="75781" name="Picture 2">
            <a:extLst>
              <a:ext uri="{FF2B5EF4-FFF2-40B4-BE49-F238E27FC236}">
                <a16:creationId xmlns:a16="http://schemas.microsoft.com/office/drawing/2014/main" id="{73E4B23E-B4C0-43E1-9A78-994B93B38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533400"/>
            <a:ext cx="8947150" cy="591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F0803E6-DED7-47DF-87B2-97FAF638B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Evolutionary Development of Immunity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F6EE6098-8DBD-4AE1-871C-DF5B43F60D1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76804" name="Picture 4" descr="Listeria%20bacteria">
            <a:extLst>
              <a:ext uri="{FF2B5EF4-FFF2-40B4-BE49-F238E27FC236}">
                <a16:creationId xmlns:a16="http://schemas.microsoft.com/office/drawing/2014/main" id="{B6484343-A898-4E29-9502-DF11776D4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133600"/>
            <a:ext cx="18859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5" name="Picture 5" descr="influenza virus">
            <a:extLst>
              <a:ext uri="{FF2B5EF4-FFF2-40B4-BE49-F238E27FC236}">
                <a16:creationId xmlns:a16="http://schemas.microsoft.com/office/drawing/2014/main" id="{A196A82E-E54D-41D1-853D-15A78522C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9800"/>
            <a:ext cx="152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6" name="Picture 6" descr="schisto">
            <a:extLst>
              <a:ext uri="{FF2B5EF4-FFF2-40B4-BE49-F238E27FC236}">
                <a16:creationId xmlns:a16="http://schemas.microsoft.com/office/drawing/2014/main" id="{8B02AC0B-A40C-4C3A-9630-9DEF3B686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752600"/>
            <a:ext cx="204787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7" name="Text Box 7">
            <a:extLst>
              <a:ext uri="{FF2B5EF4-FFF2-40B4-BE49-F238E27FC236}">
                <a16:creationId xmlns:a16="http://schemas.microsoft.com/office/drawing/2014/main" id="{F30E3329-F0D5-43C6-877C-495B7F772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67200"/>
            <a:ext cx="2476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Viruses (~0.2 microns)</a:t>
            </a:r>
          </a:p>
        </p:txBody>
      </p:sp>
      <p:sp>
        <p:nvSpPr>
          <p:cNvPr id="76808" name="Text Box 8">
            <a:extLst>
              <a:ext uri="{FF2B5EF4-FFF2-40B4-BE49-F238E27FC236}">
                <a16:creationId xmlns:a16="http://schemas.microsoft.com/office/drawing/2014/main" id="{DB45FA2F-DB4A-4CF0-B8CE-A7B73D18F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4350" y="4343400"/>
            <a:ext cx="2432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Bacteria (1-2 microns)</a:t>
            </a:r>
          </a:p>
        </p:txBody>
      </p:sp>
      <p:sp>
        <p:nvSpPr>
          <p:cNvPr id="76809" name="Text Box 9">
            <a:extLst>
              <a:ext uri="{FF2B5EF4-FFF2-40B4-BE49-F238E27FC236}">
                <a16:creationId xmlns:a16="http://schemas.microsoft.com/office/drawing/2014/main" id="{49C54D3E-4CE1-432C-B5C1-48486E7F9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495800"/>
            <a:ext cx="2444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Parasites (Millimeters)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4AED8C8DCE25479ABCF47ACD92F798" ma:contentTypeVersion="16" ma:contentTypeDescription="Create a new document." ma:contentTypeScope="" ma:versionID="f5ca5834de772d43008f7a2e0f6969aa">
  <xsd:schema xmlns:xsd="http://www.w3.org/2001/XMLSchema" xmlns:xs="http://www.w3.org/2001/XMLSchema" xmlns:p="http://schemas.microsoft.com/office/2006/metadata/properties" xmlns:ns1="http://schemas.microsoft.com/sharepoint/v3" xmlns:ns3="c66b6271-63f1-471e-91c4-69390cd65ca8" xmlns:ns4="42499b2b-be92-4978-b743-0761a6cd6754" targetNamespace="http://schemas.microsoft.com/office/2006/metadata/properties" ma:root="true" ma:fieldsID="a7057c5cfb8b201933fb6321abb4497a" ns1:_="" ns3:_="" ns4:_="">
    <xsd:import namespace="http://schemas.microsoft.com/sharepoint/v3"/>
    <xsd:import namespace="c66b6271-63f1-471e-91c4-69390cd65ca8"/>
    <xsd:import namespace="42499b2b-be92-4978-b743-0761a6cd675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b6271-63f1-471e-91c4-69390cd65c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99b2b-be92-4978-b743-0761a6cd675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981F270-28BD-4A0C-9F32-B0B1906E2449}">
  <ds:schemaRefs>
    <ds:schemaRef ds:uri="42499b2b-be92-4978-b743-0761a6cd6754"/>
    <ds:schemaRef ds:uri="c66b6271-63f1-471e-91c4-69390cd65c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6863085-D12E-43D9-88F4-F346ABEEE3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8FB70A-1E07-474A-8C0B-0B862C2FCDBF}">
  <ds:schemaRefs>
    <ds:schemaRef ds:uri="42499b2b-be92-4978-b743-0761a6cd6754"/>
    <ds:schemaRef ds:uri="c66b6271-63f1-471e-91c4-69390cd65ca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0</TotalTime>
  <Words>1195</Words>
  <Application>Microsoft Office PowerPoint</Application>
  <PresentationFormat>On-screen Show (4:3)</PresentationFormat>
  <Paragraphs>192</Paragraphs>
  <Slides>64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Arial</vt:lpstr>
      <vt:lpstr>Calibri</vt:lpstr>
      <vt:lpstr>Corbel</vt:lpstr>
      <vt:lpstr>Times New Roman</vt:lpstr>
      <vt:lpstr>Wingdings</vt:lpstr>
      <vt:lpstr>Wingdings 2</vt:lpstr>
      <vt:lpstr>Oriel</vt:lpstr>
      <vt:lpstr>An Introduction to Immunology</vt:lpstr>
      <vt:lpstr>Categories of Pathogens</vt:lpstr>
      <vt:lpstr>Pathogen Lifestyles</vt:lpstr>
      <vt:lpstr>“Questions” answered by the Immune System</vt:lpstr>
      <vt:lpstr>Immunological Themes</vt:lpstr>
      <vt:lpstr>Pathogen-specific approaches</vt:lpstr>
      <vt:lpstr>PowerPoint Presentation</vt:lpstr>
      <vt:lpstr>Stages of an Immune response</vt:lpstr>
      <vt:lpstr>PowerPoint Presentation</vt:lpstr>
      <vt:lpstr>PowerPoint Presentation</vt:lpstr>
      <vt:lpstr>PowerPoint Presentation</vt:lpstr>
      <vt:lpstr>Innate Immune Pattern Recognition</vt:lpstr>
      <vt:lpstr>Expanding Complexity</vt:lpstr>
      <vt:lpstr>Unconventional Nucleic acid recognition </vt:lpstr>
      <vt:lpstr>Figure 2-48</vt:lpstr>
      <vt:lpstr>Effector mechanisms of the innate response: digestion and chemical destruction</vt:lpstr>
      <vt:lpstr>Figure 2-39</vt:lpstr>
      <vt:lpstr>PowerPoint Presentation</vt:lpstr>
      <vt:lpstr>Effector mechanisms of the innate reponse: complement</vt:lpstr>
      <vt:lpstr>PowerPoint Presentation</vt:lpstr>
      <vt:lpstr>Effector mechanisms of the innate response: “natural” killing</vt:lpstr>
      <vt:lpstr>PowerPoint Presentation</vt:lpstr>
      <vt:lpstr>PowerPoint Presentation</vt:lpstr>
      <vt:lpstr>ADAPTIVE IMMUNITY</vt:lpstr>
      <vt:lpstr>PowerPoint Presentation</vt:lpstr>
      <vt:lpstr>B cell and T cells are the effectors of Adaptive Immune Responses</vt:lpstr>
      <vt:lpstr>PowerPoint Presentation</vt:lpstr>
      <vt:lpstr>Locations of Lymph Nodes</vt:lpstr>
      <vt:lpstr>Figure 1-15</vt:lpstr>
      <vt:lpstr>PowerPoint Presentation</vt:lpstr>
      <vt:lpstr>Figure 4-1</vt:lpstr>
      <vt:lpstr>PowerPoint Presentation</vt:lpstr>
      <vt:lpstr>PowerPoint Presentation</vt:lpstr>
      <vt:lpstr>Figure 4-4</vt:lpstr>
      <vt:lpstr>Figure 4-3</vt:lpstr>
      <vt:lpstr>Figure 4-13</vt:lpstr>
      <vt:lpstr>Figure 4-18</vt:lpstr>
      <vt:lpstr>Figure 7-1</vt:lpstr>
      <vt:lpstr>Figure 9-35</vt:lpstr>
      <vt:lpstr>Figure 10-24</vt:lpstr>
      <vt:lpstr> B cell Memory Quality is enhanced by affinity maturation</vt:lpstr>
      <vt:lpstr>PowerPoint Presentation</vt:lpstr>
      <vt:lpstr>T-cell mediated recognition</vt:lpstr>
      <vt:lpstr>T cells Are activated by Specific Antigen and Co-stimulation (Non-specific, Downstream of Innate activation)</vt:lpstr>
      <vt:lpstr>MHC molecules are compartments for holding peptide antigen</vt:lpstr>
      <vt:lpstr>Figure 3-22</vt:lpstr>
      <vt:lpstr>T cell Lineages Determine MHC Restriction</vt:lpstr>
      <vt:lpstr> Thymus Selection Restricts MHC recognition and removes autoreactive cells</vt:lpstr>
      <vt:lpstr>Dendritic Cells are the most efficient Antigen-Presenting Cells and are generally required for the initiation of Adaptive Immunity</vt:lpstr>
      <vt:lpstr>T cells Are activated by Specific Antigen and Co-stimulation (Non-specific, Downstream of Innate activation)</vt:lpstr>
      <vt:lpstr>Figure 8-18</vt:lpstr>
      <vt:lpstr>Structure of a Lymph Node</vt:lpstr>
      <vt:lpstr>Figure 8-27</vt:lpstr>
      <vt:lpstr>CD4 Cells Can Differentiate into multiple Types of “Helpers”</vt:lpstr>
      <vt:lpstr>Activated Cells are now Licensed to Seek out Targets and Kill them For CD8 T cells, Numbers are Critical</vt:lpstr>
      <vt:lpstr>Figure 8-31</vt:lpstr>
      <vt:lpstr>Specific Clearance Mechanisms For Pathogen Classes (keep in mind redundancy)</vt:lpstr>
      <vt:lpstr>Last question? </vt:lpstr>
      <vt:lpstr>PowerPoint Presentation</vt:lpstr>
      <vt:lpstr>PowerPoint Presentation</vt:lpstr>
      <vt:lpstr>Thanks for the Memories…</vt:lpstr>
      <vt:lpstr>Memory</vt:lpstr>
      <vt:lpstr>PowerPoint Presentation</vt:lpstr>
      <vt:lpstr>Evolutionary Development of Immunity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Immunology</dc:title>
  <dc:creator>Paul G. Thomas</dc:creator>
  <cp:lastModifiedBy>Thomas, Paul</cp:lastModifiedBy>
  <cp:revision>1</cp:revision>
  <cp:lastPrinted>2022-07-20T18:26:03Z</cp:lastPrinted>
  <dcterms:created xsi:type="dcterms:W3CDTF">2005-09-07T19:21:02Z</dcterms:created>
  <dcterms:modified xsi:type="dcterms:W3CDTF">2023-07-10T15:35:51Z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0x010100BF4AED8C8DCE25479ABCF47ACD92F798</vt:lpwstr>
  </property>
</Properties>
</file>